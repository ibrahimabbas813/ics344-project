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Text 1"/>
          <p:cNvSpPr/>
          <p:nvPr/>
        </p:nvSpPr>
        <p:spPr>
          <a:xfrm>
            <a:off x="0" y="548640"/>
            <a:ext cx="9144000" cy="4114800"/>
          </a:xfrm>
          <a:prstGeom prst="rect">
            <a:avLst/>
          </a:prstGeom>
          <a:noFill/>
          <a:ln/>
        </p:spPr>
        <p:txBody>
          <a:bodyPr wrap="square" rtlCol="0" anchor="ctr"/>
          <a:lstStyle/>
          <a:p>
            <a:pPr algn="ctr" indent="0" marL="0">
              <a:buNone/>
            </a:pPr>
            <a:r>
              <a:rPr lang="en-US" sz="18000" b="1" dirty="0">
                <a:solidFill>
                  <a:srgbClr val="0F2233"/>
                </a:solidFill>
                <a:latin typeface="Arial Black" pitchFamily="34" charset="0"/>
                <a:ea typeface="Arial Black" pitchFamily="34" charset="-122"/>
                <a:cs typeface="Arial Black" pitchFamily="34" charset="-120"/>
              </a:rPr>
              <a:t>DVSA</a:t>
            </a:r>
            <a:endParaRPr lang="en-US" sz="18000" dirty="0"/>
          </a:p>
        </p:txBody>
      </p:sp>
      <p:sp>
        <p:nvSpPr>
          <p:cNvPr id="4" name="Shape 2"/>
          <p:cNvSpPr/>
          <p:nvPr/>
        </p:nvSpPr>
        <p:spPr>
          <a:xfrm>
            <a:off x="2743200" y="274320"/>
            <a:ext cx="3657600" cy="502920"/>
          </a:xfrm>
          <a:prstGeom prst="rect">
            <a:avLst/>
          </a:prstGeom>
          <a:solidFill>
            <a:srgbClr val="1B2A3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5" name="Text 3"/>
          <p:cNvSpPr/>
          <p:nvPr/>
        </p:nvSpPr>
        <p:spPr>
          <a:xfrm>
            <a:off x="2743200" y="274320"/>
            <a:ext cx="3657600" cy="502920"/>
          </a:xfrm>
          <a:prstGeom prst="rect">
            <a:avLst/>
          </a:prstGeom>
          <a:noFill/>
          <a:ln/>
        </p:spPr>
        <p:txBody>
          <a:bodyPr wrap="square" rtlCol="0" anchor="ctr"/>
          <a:lstStyle/>
          <a:p>
            <a:pPr algn="ctr" indent="0" marL="0">
              <a:buNone/>
            </a:pPr>
            <a:r>
              <a:rPr lang="en-US" sz="900" dirty="0">
                <a:solidFill>
                  <a:srgbClr val="8FA8BF"/>
                </a:solidFill>
                <a:latin typeface="Calibri" pitchFamily="34" charset="0"/>
                <a:ea typeface="Calibri" pitchFamily="34" charset="-122"/>
                <a:cs typeface="Calibri" pitchFamily="34" charset="-120"/>
              </a:rPr>
              <a:t>KFUPM · ICS-344 Information Security · Term 252</a:t>
            </a:r>
            <a:endParaRPr lang="en-US" sz="900" dirty="0"/>
          </a:p>
        </p:txBody>
      </p:sp>
      <p:sp>
        <p:nvSpPr>
          <p:cNvPr id="6" name="Text 4"/>
          <p:cNvSpPr/>
          <p:nvPr/>
        </p:nvSpPr>
        <p:spPr>
          <a:xfrm>
            <a:off x="548640" y="1188720"/>
            <a:ext cx="8046720" cy="777240"/>
          </a:xfrm>
          <a:prstGeom prst="rect">
            <a:avLst/>
          </a:prstGeom>
          <a:noFill/>
          <a:ln/>
        </p:spPr>
        <p:txBody>
          <a:bodyPr wrap="square" rtlCol="0" anchor="ctr"/>
          <a:lstStyle/>
          <a:p>
            <a:pPr algn="ctr" indent="0" marL="0">
              <a:buNone/>
            </a:pPr>
            <a:r>
              <a:rPr lang="en-US" sz="4400" b="1" dirty="0">
                <a:solidFill>
                  <a:srgbClr val="F0F4F8"/>
                </a:solidFill>
                <a:latin typeface="Arial Black" pitchFamily="34" charset="0"/>
                <a:ea typeface="Arial Black" pitchFamily="34" charset="-122"/>
                <a:cs typeface="Arial Black" pitchFamily="34" charset="-120"/>
              </a:rPr>
              <a:t>DVSA Vulnerability</a:t>
            </a:r>
            <a:endParaRPr lang="en-US" sz="4400" dirty="0"/>
          </a:p>
        </p:txBody>
      </p:sp>
      <p:sp>
        <p:nvSpPr>
          <p:cNvPr id="7" name="Text 5"/>
          <p:cNvSpPr/>
          <p:nvPr/>
        </p:nvSpPr>
        <p:spPr>
          <a:xfrm>
            <a:off x="548640" y="1874520"/>
            <a:ext cx="8046720" cy="777240"/>
          </a:xfrm>
          <a:prstGeom prst="rect">
            <a:avLst/>
          </a:prstGeom>
          <a:noFill/>
          <a:ln/>
        </p:spPr>
        <p:txBody>
          <a:bodyPr wrap="square" rtlCol="0" anchor="ctr"/>
          <a:lstStyle/>
          <a:p>
            <a:pPr algn="ctr" indent="0" marL="0">
              <a:buNone/>
            </a:pPr>
            <a:r>
              <a:rPr lang="en-US" sz="4400" b="1" dirty="0">
                <a:solidFill>
                  <a:srgbClr val="00C2CB"/>
                </a:solidFill>
                <a:latin typeface="Arial Black" pitchFamily="34" charset="0"/>
                <a:ea typeface="Arial Black" pitchFamily="34" charset="-122"/>
                <a:cs typeface="Arial Black" pitchFamily="34" charset="-120"/>
              </a:rPr>
              <a:t>Discovery &amp; Remediation</a:t>
            </a:r>
            <a:endParaRPr lang="en-US" sz="4400" dirty="0"/>
          </a:p>
        </p:txBody>
      </p:sp>
      <p:sp>
        <p:nvSpPr>
          <p:cNvPr id="8" name="Text 6"/>
          <p:cNvSpPr/>
          <p:nvPr/>
        </p:nvSpPr>
        <p:spPr>
          <a:xfrm>
            <a:off x="914400" y="2697480"/>
            <a:ext cx="7315200" cy="411480"/>
          </a:xfrm>
          <a:prstGeom prst="rect">
            <a:avLst/>
          </a:prstGeom>
          <a:noFill/>
          <a:ln/>
        </p:spPr>
        <p:txBody>
          <a:bodyPr wrap="square" rtlCol="0" anchor="ctr"/>
          <a:lstStyle/>
          <a:p>
            <a:pPr algn="ctr" indent="0" marL="0">
              <a:buNone/>
            </a:pPr>
            <a:r>
              <a:rPr lang="en-US" sz="1400" i="1" dirty="0">
                <a:solidFill>
                  <a:srgbClr val="8FA8BF"/>
                </a:solidFill>
                <a:latin typeface="Calibri Light" pitchFamily="34" charset="0"/>
                <a:ea typeface="Calibri Light" pitchFamily="34" charset="-122"/>
                <a:cs typeface="Calibri Light" pitchFamily="34" charset="-120"/>
              </a:rPr>
              <a:t>10 Official Vulnerability Lessons — AWS Serverless Security</a:t>
            </a:r>
            <a:endParaRPr lang="en-US" sz="1400" dirty="0"/>
          </a:p>
        </p:txBody>
      </p:sp>
      <p:sp>
        <p:nvSpPr>
          <p:cNvPr id="9" name="Shape 7"/>
          <p:cNvSpPr/>
          <p:nvPr/>
        </p:nvSpPr>
        <p:spPr>
          <a:xfrm>
            <a:off x="3200400" y="3200400"/>
            <a:ext cx="2743200" cy="36576"/>
          </a:xfrm>
          <a:prstGeom prst="rect">
            <a:avLst/>
          </a:prstGeom>
          <a:solidFill>
            <a:srgbClr val="00C2CB"/>
          </a:solidFill>
          <a:ln w="12700">
            <a:solidFill>
              <a:srgbClr val="00C2CB"/>
            </a:solidFill>
            <a:prstDash val="solid"/>
          </a:ln>
        </p:spPr>
      </p:sp>
      <p:sp>
        <p:nvSpPr>
          <p:cNvPr id="10" name="Shape 8"/>
          <p:cNvSpPr/>
          <p:nvPr/>
        </p:nvSpPr>
        <p:spPr>
          <a:xfrm>
            <a:off x="1371600" y="3383280"/>
            <a:ext cx="6400800" cy="822960"/>
          </a:xfrm>
          <a:prstGeom prst="rect">
            <a:avLst/>
          </a:prstGeom>
          <a:solidFill>
            <a:srgbClr val="1B2A3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1" name="Text 9"/>
          <p:cNvSpPr/>
          <p:nvPr/>
        </p:nvSpPr>
        <p:spPr>
          <a:xfrm>
            <a:off x="1371600" y="3401568"/>
            <a:ext cx="6400800" cy="384048"/>
          </a:xfrm>
          <a:prstGeom prst="rect">
            <a:avLst/>
          </a:prstGeom>
          <a:noFill/>
          <a:ln/>
        </p:spPr>
        <p:txBody>
          <a:bodyPr wrap="square" rtlCol="0" anchor="ctr"/>
          <a:lstStyle/>
          <a:p>
            <a:pPr algn="ctr" indent="0" marL="0">
              <a:buNone/>
            </a:pPr>
            <a:r>
              <a:rPr lang="en-US" sz="1500" b="1" dirty="0">
                <a:solidFill>
                  <a:srgbClr val="F0F4F8"/>
                </a:solidFill>
                <a:latin typeface="Calibri" pitchFamily="34" charset="0"/>
                <a:ea typeface="Calibri" pitchFamily="34" charset="-122"/>
                <a:cs typeface="Calibri" pitchFamily="34" charset="-120"/>
              </a:rPr>
              <a:t>Ali Almatrook</a:t>
            </a:r>
            <a:pPr algn="ctr" indent="0" marL="0">
              <a:buNone/>
            </a:pPr>
            <a:r>
              <a:rPr lang="en-US" sz="1500" dirty="0">
                <a:solidFill>
                  <a:srgbClr val="00C2CB"/>
                </a:solidFill>
                <a:latin typeface="Calibri" pitchFamily="34" charset="0"/>
                <a:ea typeface="Calibri" pitchFamily="34" charset="-122"/>
                <a:cs typeface="Calibri" pitchFamily="34" charset="-120"/>
              </a:rPr>
              <a:t>   |   </a:t>
            </a:r>
            <a:pPr algn="ctr" indent="0" marL="0">
              <a:buNone/>
            </a:pPr>
            <a:r>
              <a:rPr lang="en-US" sz="1400" dirty="0">
                <a:solidFill>
                  <a:srgbClr val="8FA8BF"/>
                </a:solidFill>
                <a:latin typeface="Calibri" pitchFamily="34" charset="0"/>
                <a:ea typeface="Calibri" pitchFamily="34" charset="-122"/>
                <a:cs typeface="Calibri" pitchFamily="34" charset="-120"/>
              </a:rPr>
              <a:t>202267500</a:t>
            </a:r>
            <a:endParaRPr lang="en-US" sz="1500" dirty="0"/>
          </a:p>
        </p:txBody>
      </p:sp>
      <p:sp>
        <p:nvSpPr>
          <p:cNvPr id="12" name="Text 10"/>
          <p:cNvSpPr/>
          <p:nvPr/>
        </p:nvSpPr>
        <p:spPr>
          <a:xfrm>
            <a:off x="1371600" y="3767328"/>
            <a:ext cx="6400800" cy="384048"/>
          </a:xfrm>
          <a:prstGeom prst="rect">
            <a:avLst/>
          </a:prstGeom>
          <a:noFill/>
          <a:ln/>
        </p:spPr>
        <p:txBody>
          <a:bodyPr wrap="square" rtlCol="0" anchor="ctr"/>
          <a:lstStyle/>
          <a:p>
            <a:pPr algn="ctr" indent="0" marL="0">
              <a:buNone/>
            </a:pPr>
            <a:r>
              <a:rPr lang="en-US" sz="1500" b="1" dirty="0">
                <a:solidFill>
                  <a:srgbClr val="F0F4F8"/>
                </a:solidFill>
                <a:latin typeface="Calibri" pitchFamily="34" charset="0"/>
                <a:ea typeface="Calibri" pitchFamily="34" charset="-122"/>
                <a:cs typeface="Calibri" pitchFamily="34" charset="-120"/>
              </a:rPr>
              <a:t>Ibrahim Almuhanna</a:t>
            </a:r>
            <a:pPr algn="ctr" indent="0" marL="0">
              <a:buNone/>
            </a:pPr>
            <a:r>
              <a:rPr lang="en-US" sz="1500" dirty="0">
                <a:solidFill>
                  <a:srgbClr val="00C2CB"/>
                </a:solidFill>
                <a:latin typeface="Calibri" pitchFamily="34" charset="0"/>
                <a:ea typeface="Calibri" pitchFamily="34" charset="-122"/>
                <a:cs typeface="Calibri" pitchFamily="34" charset="-120"/>
              </a:rPr>
              <a:t>   |   </a:t>
            </a:r>
            <a:pPr algn="ctr" indent="0" marL="0">
              <a:buNone/>
            </a:pPr>
            <a:r>
              <a:rPr lang="en-US" sz="1400" dirty="0">
                <a:solidFill>
                  <a:srgbClr val="8FA8BF"/>
                </a:solidFill>
                <a:latin typeface="Calibri" pitchFamily="34" charset="0"/>
                <a:ea typeface="Calibri" pitchFamily="34" charset="-122"/>
                <a:cs typeface="Calibri" pitchFamily="34" charset="-120"/>
              </a:rPr>
              <a:t>202178330</a:t>
            </a:r>
            <a:endParaRPr lang="en-US" sz="1500" dirty="0"/>
          </a:p>
        </p:txBody>
      </p:sp>
      <p:sp>
        <p:nvSpPr>
          <p:cNvPr id="13" name="Shape 11"/>
          <p:cNvSpPr/>
          <p:nvPr/>
        </p:nvSpPr>
        <p:spPr>
          <a:xfrm>
            <a:off x="0" y="5056632"/>
            <a:ext cx="9144000" cy="91440"/>
          </a:xfrm>
          <a:prstGeom prst="rect">
            <a:avLst/>
          </a:prstGeom>
          <a:solidFill>
            <a:srgbClr val="00C2CB"/>
          </a:solidFill>
          <a:ln w="12700">
            <a:solidFill>
              <a:srgbClr val="00C2CB"/>
            </a:solidFill>
            <a:prstDash val="solid"/>
          </a:ln>
        </p:spPr>
      </p:sp>
      <p:sp>
        <p:nvSpPr>
          <p:cNvPr id="14" name="Text 12"/>
          <p:cNvSpPr/>
          <p:nvPr/>
        </p:nvSpPr>
        <p:spPr>
          <a:xfrm>
            <a:off x="0" y="4846320"/>
            <a:ext cx="9144000" cy="274320"/>
          </a:xfrm>
          <a:prstGeom prst="rect">
            <a:avLst/>
          </a:prstGeom>
          <a:noFill/>
          <a:ln/>
        </p:spPr>
        <p:txBody>
          <a:bodyPr wrap="square" rtlCol="0" anchor="ctr"/>
          <a:lstStyle/>
          <a:p>
            <a:pPr algn="ctr" indent="0" marL="0">
              <a:buNone/>
            </a:pPr>
            <a:r>
              <a:rPr lang="en-US" sz="900" dirty="0">
                <a:solidFill>
                  <a:srgbClr val="8FA8BF"/>
                </a:solidFill>
                <a:latin typeface="Calibri" pitchFamily="34" charset="0"/>
                <a:ea typeface="Calibri" pitchFamily="34" charset="-122"/>
                <a:cs typeface="Calibri" pitchFamily="34" charset="-120"/>
              </a:rPr>
              <a:t>May 2026  ·  us-east-1 (N. Virginia)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Text 1"/>
          <p:cNvSpPr/>
          <p:nvPr/>
        </p:nvSpPr>
        <p:spPr>
          <a:xfrm>
            <a:off x="365760" y="137160"/>
            <a:ext cx="8412480" cy="502920"/>
          </a:xfrm>
          <a:prstGeom prst="rect">
            <a:avLst/>
          </a:prstGeom>
          <a:noFill/>
          <a:ln/>
        </p:spPr>
        <p:txBody>
          <a:bodyPr wrap="square" rtlCol="0" anchor="ctr"/>
          <a:lstStyle/>
          <a:p>
            <a:pPr indent="0" marL="0">
              <a:buNone/>
            </a:pPr>
            <a:r>
              <a:rPr lang="en-US" sz="2600" b="1" dirty="0">
                <a:solidFill>
                  <a:srgbClr val="F0F4F8"/>
                </a:solidFill>
                <a:latin typeface="Arial Black" pitchFamily="34" charset="0"/>
                <a:ea typeface="Arial Black" pitchFamily="34" charset="-122"/>
                <a:cs typeface="Arial Black" pitchFamily="34" charset="-120"/>
              </a:rPr>
              <a:t>DVSA Architecture Overview</a:t>
            </a:r>
            <a:endParaRPr lang="en-US" sz="2600" dirty="0"/>
          </a:p>
        </p:txBody>
      </p:sp>
      <p:sp>
        <p:nvSpPr>
          <p:cNvPr id="4" name="Shape 2"/>
          <p:cNvSpPr/>
          <p:nvPr/>
        </p:nvSpPr>
        <p:spPr>
          <a:xfrm>
            <a:off x="182880" y="777240"/>
            <a:ext cx="1463040" cy="914400"/>
          </a:xfrm>
          <a:prstGeom prst="rect">
            <a:avLst/>
          </a:prstGeom>
          <a:solidFill>
            <a:srgbClr val="1B2A3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5" name="Text 3"/>
          <p:cNvSpPr/>
          <p:nvPr/>
        </p:nvSpPr>
        <p:spPr>
          <a:xfrm>
            <a:off x="182880" y="777240"/>
            <a:ext cx="1463040" cy="914400"/>
          </a:xfrm>
          <a:prstGeom prst="rect">
            <a:avLst/>
          </a:prstGeom>
          <a:noFill/>
          <a:ln/>
        </p:spPr>
        <p:txBody>
          <a:bodyPr wrap="square" rtlCol="0" anchor="ctr"/>
          <a:lstStyle/>
          <a:p>
            <a:pPr algn="ctr" indent="0" marL="0">
              <a:buNone/>
            </a:pPr>
            <a:r>
              <a:rPr lang="en-US" sz="1100" b="1" dirty="0">
                <a:solidFill>
                  <a:srgbClr val="00C2CB"/>
                </a:solidFill>
                <a:latin typeface="Calibri" pitchFamily="34" charset="0"/>
                <a:ea typeface="Calibri" pitchFamily="34" charset="-122"/>
                <a:cs typeface="Calibri" pitchFamily="34" charset="-120"/>
              </a:rPr>
              <a:t>Client</a:t>
            </a:r>
            <a:endParaRPr lang="en-US" sz="1100" dirty="0"/>
          </a:p>
          <a:p>
            <a:pPr algn="ctr" indent="0" marL="0">
              <a:buNone/>
            </a:pPr>
            <a:r>
              <a:rPr lang="en-US" sz="1100" b="1" dirty="0">
                <a:solidFill>
                  <a:srgbClr val="00C2CB"/>
                </a:solidFill>
                <a:latin typeface="Calibri" pitchFamily="34" charset="0"/>
                <a:ea typeface="Calibri" pitchFamily="34" charset="-122"/>
                <a:cs typeface="Calibri" pitchFamily="34" charset="-120"/>
              </a:rPr>
              <a:t>Browser</a:t>
            </a:r>
            <a:endParaRPr lang="en-US" sz="1100" dirty="0"/>
          </a:p>
        </p:txBody>
      </p:sp>
      <p:sp>
        <p:nvSpPr>
          <p:cNvPr id="6" name="Shape 4"/>
          <p:cNvSpPr/>
          <p:nvPr/>
        </p:nvSpPr>
        <p:spPr>
          <a:xfrm>
            <a:off x="1645920" y="1188720"/>
            <a:ext cx="365760" cy="73152"/>
          </a:xfrm>
          <a:prstGeom prst="rect">
            <a:avLst/>
          </a:prstGeom>
          <a:solidFill>
            <a:srgbClr val="F4B942"/>
          </a:solidFill>
          <a:ln w="12700">
            <a:solidFill>
              <a:srgbClr val="F4B942"/>
            </a:solidFill>
            <a:prstDash val="solid"/>
          </a:ln>
        </p:spPr>
      </p:sp>
      <p:sp>
        <p:nvSpPr>
          <p:cNvPr id="7" name="Shape 5"/>
          <p:cNvSpPr/>
          <p:nvPr/>
        </p:nvSpPr>
        <p:spPr>
          <a:xfrm>
            <a:off x="1828800" y="777240"/>
            <a:ext cx="1463040" cy="914400"/>
          </a:xfrm>
          <a:prstGeom prst="rect">
            <a:avLst/>
          </a:prstGeom>
          <a:solidFill>
            <a:srgbClr val="1B2A3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8" name="Text 6"/>
          <p:cNvSpPr/>
          <p:nvPr/>
        </p:nvSpPr>
        <p:spPr>
          <a:xfrm>
            <a:off x="1828800" y="777240"/>
            <a:ext cx="1463040" cy="914400"/>
          </a:xfrm>
          <a:prstGeom prst="rect">
            <a:avLst/>
          </a:prstGeom>
          <a:noFill/>
          <a:ln/>
        </p:spPr>
        <p:txBody>
          <a:bodyPr wrap="square" rtlCol="0" anchor="ctr"/>
          <a:lstStyle/>
          <a:p>
            <a:pPr algn="ctr" indent="0" marL="0">
              <a:buNone/>
            </a:pPr>
            <a:r>
              <a:rPr lang="en-US" sz="1100" b="1" dirty="0">
                <a:solidFill>
                  <a:srgbClr val="00C2CB"/>
                </a:solidFill>
                <a:latin typeface="Calibri" pitchFamily="34" charset="0"/>
                <a:ea typeface="Calibri" pitchFamily="34" charset="-122"/>
                <a:cs typeface="Calibri" pitchFamily="34" charset="-120"/>
              </a:rPr>
              <a:t>Amazon</a:t>
            </a:r>
            <a:endParaRPr lang="en-US" sz="1100" dirty="0"/>
          </a:p>
          <a:p>
            <a:pPr algn="ctr" indent="0" marL="0">
              <a:buNone/>
            </a:pPr>
            <a:r>
              <a:rPr lang="en-US" sz="1100" b="1" dirty="0">
                <a:solidFill>
                  <a:srgbClr val="00C2CB"/>
                </a:solidFill>
                <a:latin typeface="Calibri" pitchFamily="34" charset="0"/>
                <a:ea typeface="Calibri" pitchFamily="34" charset="-122"/>
                <a:cs typeface="Calibri" pitchFamily="34" charset="-120"/>
              </a:rPr>
              <a:t>Cognito</a:t>
            </a:r>
            <a:endParaRPr lang="en-US" sz="1100" dirty="0"/>
          </a:p>
        </p:txBody>
      </p:sp>
      <p:sp>
        <p:nvSpPr>
          <p:cNvPr id="9" name="Shape 7"/>
          <p:cNvSpPr/>
          <p:nvPr/>
        </p:nvSpPr>
        <p:spPr>
          <a:xfrm>
            <a:off x="3291840" y="1188720"/>
            <a:ext cx="365760" cy="73152"/>
          </a:xfrm>
          <a:prstGeom prst="rect">
            <a:avLst/>
          </a:prstGeom>
          <a:solidFill>
            <a:srgbClr val="F4B942"/>
          </a:solidFill>
          <a:ln w="12700">
            <a:solidFill>
              <a:srgbClr val="F4B942"/>
            </a:solidFill>
            <a:prstDash val="solid"/>
          </a:ln>
        </p:spPr>
      </p:sp>
      <p:sp>
        <p:nvSpPr>
          <p:cNvPr id="10" name="Shape 8"/>
          <p:cNvSpPr/>
          <p:nvPr/>
        </p:nvSpPr>
        <p:spPr>
          <a:xfrm>
            <a:off x="3474720" y="777240"/>
            <a:ext cx="1463040" cy="914400"/>
          </a:xfrm>
          <a:prstGeom prst="rect">
            <a:avLst/>
          </a:prstGeom>
          <a:solidFill>
            <a:srgbClr val="1B2A3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1" name="Text 9"/>
          <p:cNvSpPr/>
          <p:nvPr/>
        </p:nvSpPr>
        <p:spPr>
          <a:xfrm>
            <a:off x="3474720" y="777240"/>
            <a:ext cx="1463040" cy="914400"/>
          </a:xfrm>
          <a:prstGeom prst="rect">
            <a:avLst/>
          </a:prstGeom>
          <a:noFill/>
          <a:ln/>
        </p:spPr>
        <p:txBody>
          <a:bodyPr wrap="square" rtlCol="0" anchor="ctr"/>
          <a:lstStyle/>
          <a:p>
            <a:pPr algn="ctr" indent="0" marL="0">
              <a:buNone/>
            </a:pPr>
            <a:r>
              <a:rPr lang="en-US" sz="1100" b="1" dirty="0">
                <a:solidFill>
                  <a:srgbClr val="00C2CB"/>
                </a:solidFill>
                <a:latin typeface="Calibri" pitchFamily="34" charset="0"/>
                <a:ea typeface="Calibri" pitchFamily="34" charset="-122"/>
                <a:cs typeface="Calibri" pitchFamily="34" charset="-120"/>
              </a:rPr>
              <a:t>API</a:t>
            </a:r>
            <a:endParaRPr lang="en-US" sz="1100" dirty="0"/>
          </a:p>
          <a:p>
            <a:pPr algn="ctr" indent="0" marL="0">
              <a:buNone/>
            </a:pPr>
            <a:r>
              <a:rPr lang="en-US" sz="1100" b="1" dirty="0">
                <a:solidFill>
                  <a:srgbClr val="00C2CB"/>
                </a:solidFill>
                <a:latin typeface="Calibri" pitchFamily="34" charset="0"/>
                <a:ea typeface="Calibri" pitchFamily="34" charset="-122"/>
                <a:cs typeface="Calibri" pitchFamily="34" charset="-120"/>
              </a:rPr>
              <a:t>Gateway</a:t>
            </a:r>
            <a:endParaRPr lang="en-US" sz="1100" dirty="0"/>
          </a:p>
        </p:txBody>
      </p:sp>
      <p:sp>
        <p:nvSpPr>
          <p:cNvPr id="12" name="Shape 10"/>
          <p:cNvSpPr/>
          <p:nvPr/>
        </p:nvSpPr>
        <p:spPr>
          <a:xfrm>
            <a:off x="4937760" y="1188720"/>
            <a:ext cx="365760" cy="73152"/>
          </a:xfrm>
          <a:prstGeom prst="rect">
            <a:avLst/>
          </a:prstGeom>
          <a:solidFill>
            <a:srgbClr val="F4B942"/>
          </a:solidFill>
          <a:ln w="12700">
            <a:solidFill>
              <a:srgbClr val="F4B942"/>
            </a:solidFill>
            <a:prstDash val="solid"/>
          </a:ln>
        </p:spPr>
      </p:sp>
      <p:sp>
        <p:nvSpPr>
          <p:cNvPr id="13" name="Shape 11"/>
          <p:cNvSpPr/>
          <p:nvPr/>
        </p:nvSpPr>
        <p:spPr>
          <a:xfrm>
            <a:off x="5120640" y="777240"/>
            <a:ext cx="1463040" cy="914400"/>
          </a:xfrm>
          <a:prstGeom prst="rect">
            <a:avLst/>
          </a:prstGeom>
          <a:solidFill>
            <a:srgbClr val="1B2A3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4" name="Text 12"/>
          <p:cNvSpPr/>
          <p:nvPr/>
        </p:nvSpPr>
        <p:spPr>
          <a:xfrm>
            <a:off x="5120640" y="777240"/>
            <a:ext cx="1463040" cy="914400"/>
          </a:xfrm>
          <a:prstGeom prst="rect">
            <a:avLst/>
          </a:prstGeom>
          <a:noFill/>
          <a:ln/>
        </p:spPr>
        <p:txBody>
          <a:bodyPr wrap="square" rtlCol="0" anchor="ctr"/>
          <a:lstStyle/>
          <a:p>
            <a:pPr algn="ctr" indent="0" marL="0">
              <a:buNone/>
            </a:pPr>
            <a:r>
              <a:rPr lang="en-US" sz="1100" b="1" dirty="0">
                <a:solidFill>
                  <a:srgbClr val="00C2CB"/>
                </a:solidFill>
                <a:latin typeface="Calibri" pitchFamily="34" charset="0"/>
                <a:ea typeface="Calibri" pitchFamily="34" charset="-122"/>
                <a:cs typeface="Calibri" pitchFamily="34" charset="-120"/>
              </a:rPr>
              <a:t>AWS</a:t>
            </a:r>
            <a:endParaRPr lang="en-US" sz="1100" dirty="0"/>
          </a:p>
          <a:p>
            <a:pPr algn="ctr" indent="0" marL="0">
              <a:buNone/>
            </a:pPr>
            <a:r>
              <a:rPr lang="en-US" sz="1100" b="1" dirty="0">
                <a:solidFill>
                  <a:srgbClr val="00C2CB"/>
                </a:solidFill>
                <a:latin typeface="Calibri" pitchFamily="34" charset="0"/>
                <a:ea typeface="Calibri" pitchFamily="34" charset="-122"/>
                <a:cs typeface="Calibri" pitchFamily="34" charset="-120"/>
              </a:rPr>
              <a:t>Lambda</a:t>
            </a:r>
            <a:endParaRPr lang="en-US" sz="1100" dirty="0"/>
          </a:p>
        </p:txBody>
      </p:sp>
      <p:sp>
        <p:nvSpPr>
          <p:cNvPr id="15" name="Shape 13"/>
          <p:cNvSpPr/>
          <p:nvPr/>
        </p:nvSpPr>
        <p:spPr>
          <a:xfrm>
            <a:off x="6583680" y="1188720"/>
            <a:ext cx="365760" cy="73152"/>
          </a:xfrm>
          <a:prstGeom prst="rect">
            <a:avLst/>
          </a:prstGeom>
          <a:solidFill>
            <a:srgbClr val="F4B942"/>
          </a:solidFill>
          <a:ln w="12700">
            <a:solidFill>
              <a:srgbClr val="F4B942"/>
            </a:solidFill>
            <a:prstDash val="solid"/>
          </a:ln>
        </p:spPr>
      </p:sp>
      <p:sp>
        <p:nvSpPr>
          <p:cNvPr id="16" name="Shape 14"/>
          <p:cNvSpPr/>
          <p:nvPr/>
        </p:nvSpPr>
        <p:spPr>
          <a:xfrm>
            <a:off x="6766560" y="777240"/>
            <a:ext cx="1463040" cy="914400"/>
          </a:xfrm>
          <a:prstGeom prst="rect">
            <a:avLst/>
          </a:prstGeom>
          <a:solidFill>
            <a:srgbClr val="1B2A3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7" name="Text 15"/>
          <p:cNvSpPr/>
          <p:nvPr/>
        </p:nvSpPr>
        <p:spPr>
          <a:xfrm>
            <a:off x="6766560" y="777240"/>
            <a:ext cx="1463040" cy="914400"/>
          </a:xfrm>
          <a:prstGeom prst="rect">
            <a:avLst/>
          </a:prstGeom>
          <a:noFill/>
          <a:ln/>
        </p:spPr>
        <p:txBody>
          <a:bodyPr wrap="square" rtlCol="0" anchor="ctr"/>
          <a:lstStyle/>
          <a:p>
            <a:pPr algn="ctr" indent="0" marL="0">
              <a:buNone/>
            </a:pPr>
            <a:r>
              <a:rPr lang="en-US" sz="1100" b="1" dirty="0">
                <a:solidFill>
                  <a:srgbClr val="00C2CB"/>
                </a:solidFill>
                <a:latin typeface="Calibri" pitchFamily="34" charset="0"/>
                <a:ea typeface="Calibri" pitchFamily="34" charset="-122"/>
                <a:cs typeface="Calibri" pitchFamily="34" charset="-120"/>
              </a:rPr>
              <a:t>DynamoDB</a:t>
            </a:r>
            <a:endParaRPr lang="en-US" sz="1100" dirty="0"/>
          </a:p>
          <a:p>
            <a:pPr algn="ctr" indent="0" marL="0">
              <a:buNone/>
            </a:pPr>
            <a:r>
              <a:rPr lang="en-US" sz="1100" b="1" dirty="0">
                <a:solidFill>
                  <a:srgbClr val="00C2CB"/>
                </a:solidFill>
                <a:latin typeface="Calibri" pitchFamily="34" charset="0"/>
                <a:ea typeface="Calibri" pitchFamily="34" charset="-122"/>
                <a:cs typeface="Calibri" pitchFamily="34" charset="-120"/>
              </a:rPr>
              <a:t>/ S3 / SQS</a:t>
            </a:r>
            <a:endParaRPr lang="en-US" sz="1100" dirty="0"/>
          </a:p>
        </p:txBody>
      </p:sp>
      <p:sp>
        <p:nvSpPr>
          <p:cNvPr id="18" name="Shape 16"/>
          <p:cNvSpPr/>
          <p:nvPr/>
        </p:nvSpPr>
        <p:spPr>
          <a:xfrm>
            <a:off x="274320" y="1920240"/>
            <a:ext cx="8595360" cy="548640"/>
          </a:xfrm>
          <a:prstGeom prst="rect">
            <a:avLst/>
          </a:prstGeom>
          <a:solidFill>
            <a:srgbClr val="1A2D3E"/>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9" name="Text 17"/>
          <p:cNvSpPr/>
          <p:nvPr/>
        </p:nvSpPr>
        <p:spPr>
          <a:xfrm>
            <a:off x="274320" y="1920240"/>
            <a:ext cx="8595360" cy="548640"/>
          </a:xfrm>
          <a:prstGeom prst="rect">
            <a:avLst/>
          </a:prstGeom>
          <a:noFill/>
          <a:ln/>
        </p:spPr>
        <p:txBody>
          <a:bodyPr wrap="square" rtlCol="0" anchor="ctr"/>
          <a:lstStyle/>
          <a:p>
            <a:pPr algn="ctr" indent="0" marL="0">
              <a:buNone/>
            </a:pPr>
            <a:r>
              <a:rPr lang="en-US" sz="1100" i="1" dirty="0">
                <a:solidFill>
                  <a:srgbClr val="F4B942"/>
                </a:solidFill>
                <a:latin typeface="Calibri" pitchFamily="34" charset="0"/>
                <a:ea typeface="Calibri" pitchFamily="34" charset="-122"/>
                <a:cs typeface="Calibri" pitchFamily="34" charset="-120"/>
              </a:rPr>
              <a:t>⚡  Attack surfaces exist at every layer: input injection at API Gateway, auth bypass at Lambda, misconfigured IAM roles, insecure S3 buckets</a:t>
            </a:r>
            <a:endParaRPr lang="en-US" sz="1100" dirty="0"/>
          </a:p>
        </p:txBody>
      </p:sp>
      <p:sp>
        <p:nvSpPr>
          <p:cNvPr id="20" name="Text 18"/>
          <p:cNvSpPr/>
          <p:nvPr/>
        </p:nvSpPr>
        <p:spPr>
          <a:xfrm>
            <a:off x="365760" y="2633472"/>
            <a:ext cx="8412480" cy="320040"/>
          </a:xfrm>
          <a:prstGeom prst="rect">
            <a:avLst/>
          </a:prstGeom>
          <a:noFill/>
          <a:ln/>
        </p:spPr>
        <p:txBody>
          <a:bodyPr wrap="square" rtlCol="0" anchor="ctr"/>
          <a:lstStyle/>
          <a:p>
            <a:pPr indent="0" marL="0">
              <a:buNone/>
            </a:pPr>
            <a:r>
              <a:rPr lang="en-US" sz="1400" b="1" dirty="0">
                <a:solidFill>
                  <a:srgbClr val="F0F4F8"/>
                </a:solidFill>
                <a:latin typeface="Calibri" pitchFamily="34" charset="0"/>
                <a:ea typeface="Calibri" pitchFamily="34" charset="-122"/>
                <a:cs typeface="Calibri" pitchFamily="34" charset="-120"/>
              </a:rPr>
              <a:t>10 Official Vulnerability Lessons</a:t>
            </a:r>
            <a:endParaRPr lang="en-US" sz="1400" dirty="0"/>
          </a:p>
        </p:txBody>
      </p:sp>
      <p:sp>
        <p:nvSpPr>
          <p:cNvPr id="21" name="Shape 19"/>
          <p:cNvSpPr/>
          <p:nvPr/>
        </p:nvSpPr>
        <p:spPr>
          <a:xfrm>
            <a:off x="274320" y="2999232"/>
            <a:ext cx="1627632" cy="56692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2" name="Shape 20"/>
          <p:cNvSpPr/>
          <p:nvPr/>
        </p:nvSpPr>
        <p:spPr>
          <a:xfrm>
            <a:off x="274320" y="2999232"/>
            <a:ext cx="54864" cy="566928"/>
          </a:xfrm>
          <a:prstGeom prst="rect">
            <a:avLst/>
          </a:prstGeom>
          <a:solidFill>
            <a:srgbClr val="00C2CB"/>
          </a:solidFill>
          <a:ln w="12700">
            <a:solidFill>
              <a:srgbClr val="00C2CB"/>
            </a:solidFill>
            <a:prstDash val="solid"/>
          </a:ln>
        </p:spPr>
      </p:sp>
      <p:sp>
        <p:nvSpPr>
          <p:cNvPr id="23" name="Text 21"/>
          <p:cNvSpPr/>
          <p:nvPr/>
        </p:nvSpPr>
        <p:spPr>
          <a:xfrm>
            <a:off x="365760" y="2999232"/>
            <a:ext cx="1536192" cy="566928"/>
          </a:xfrm>
          <a:prstGeom prst="rect">
            <a:avLst/>
          </a:prstGeom>
          <a:noFill/>
          <a:ln/>
        </p:spPr>
        <p:txBody>
          <a:bodyPr wrap="square" rtlCol="0" anchor="ctr"/>
          <a:lstStyle/>
          <a:p>
            <a:pPr indent="0" marL="0">
              <a:buNone/>
            </a:pPr>
            <a:r>
              <a:rPr lang="en-US" sz="950" b="1" dirty="0">
                <a:solidFill>
                  <a:srgbClr val="F0F4F8"/>
                </a:solidFill>
                <a:latin typeface="Calibri" pitchFamily="34" charset="0"/>
                <a:ea typeface="Calibri" pitchFamily="34" charset="-122"/>
                <a:cs typeface="Calibri" pitchFamily="34" charset="-120"/>
              </a:rPr>
              <a:t>#1 Event Injection</a:t>
            </a:r>
            <a:endParaRPr lang="en-US" sz="950" dirty="0"/>
          </a:p>
        </p:txBody>
      </p:sp>
      <p:sp>
        <p:nvSpPr>
          <p:cNvPr id="24" name="Shape 22"/>
          <p:cNvSpPr/>
          <p:nvPr/>
        </p:nvSpPr>
        <p:spPr>
          <a:xfrm>
            <a:off x="1993392" y="2999232"/>
            <a:ext cx="1627632" cy="56692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5" name="Shape 23"/>
          <p:cNvSpPr/>
          <p:nvPr/>
        </p:nvSpPr>
        <p:spPr>
          <a:xfrm>
            <a:off x="1993392" y="2999232"/>
            <a:ext cx="54864" cy="566928"/>
          </a:xfrm>
          <a:prstGeom prst="rect">
            <a:avLst/>
          </a:prstGeom>
          <a:solidFill>
            <a:srgbClr val="00C2CB"/>
          </a:solidFill>
          <a:ln w="12700">
            <a:solidFill>
              <a:srgbClr val="00C2CB"/>
            </a:solidFill>
            <a:prstDash val="solid"/>
          </a:ln>
        </p:spPr>
      </p:sp>
      <p:sp>
        <p:nvSpPr>
          <p:cNvPr id="26" name="Text 24"/>
          <p:cNvSpPr/>
          <p:nvPr/>
        </p:nvSpPr>
        <p:spPr>
          <a:xfrm>
            <a:off x="2084832" y="2999232"/>
            <a:ext cx="1536192" cy="566928"/>
          </a:xfrm>
          <a:prstGeom prst="rect">
            <a:avLst/>
          </a:prstGeom>
          <a:noFill/>
          <a:ln/>
        </p:spPr>
        <p:txBody>
          <a:bodyPr wrap="square" rtlCol="0" anchor="ctr"/>
          <a:lstStyle/>
          <a:p>
            <a:pPr indent="0" marL="0">
              <a:buNone/>
            </a:pPr>
            <a:r>
              <a:rPr lang="en-US" sz="950" b="1" dirty="0">
                <a:solidFill>
                  <a:srgbClr val="F0F4F8"/>
                </a:solidFill>
                <a:latin typeface="Calibri" pitchFamily="34" charset="0"/>
                <a:ea typeface="Calibri" pitchFamily="34" charset="-122"/>
                <a:cs typeface="Calibri" pitchFamily="34" charset="-120"/>
              </a:rPr>
              <a:t>#2 Broken Auth</a:t>
            </a:r>
            <a:endParaRPr lang="en-US" sz="950" dirty="0"/>
          </a:p>
        </p:txBody>
      </p:sp>
      <p:sp>
        <p:nvSpPr>
          <p:cNvPr id="27" name="Shape 25"/>
          <p:cNvSpPr/>
          <p:nvPr/>
        </p:nvSpPr>
        <p:spPr>
          <a:xfrm>
            <a:off x="3712464" y="2999232"/>
            <a:ext cx="1627632" cy="56692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8" name="Shape 26"/>
          <p:cNvSpPr/>
          <p:nvPr/>
        </p:nvSpPr>
        <p:spPr>
          <a:xfrm>
            <a:off x="3712464" y="2999232"/>
            <a:ext cx="54864" cy="566928"/>
          </a:xfrm>
          <a:prstGeom prst="rect">
            <a:avLst/>
          </a:prstGeom>
          <a:solidFill>
            <a:srgbClr val="00C2CB"/>
          </a:solidFill>
          <a:ln w="12700">
            <a:solidFill>
              <a:srgbClr val="00C2CB"/>
            </a:solidFill>
            <a:prstDash val="solid"/>
          </a:ln>
        </p:spPr>
      </p:sp>
      <p:sp>
        <p:nvSpPr>
          <p:cNvPr id="29" name="Text 27"/>
          <p:cNvSpPr/>
          <p:nvPr/>
        </p:nvSpPr>
        <p:spPr>
          <a:xfrm>
            <a:off x="3803904" y="2999232"/>
            <a:ext cx="1536192" cy="566928"/>
          </a:xfrm>
          <a:prstGeom prst="rect">
            <a:avLst/>
          </a:prstGeom>
          <a:noFill/>
          <a:ln/>
        </p:spPr>
        <p:txBody>
          <a:bodyPr wrap="square" rtlCol="0" anchor="ctr"/>
          <a:lstStyle/>
          <a:p>
            <a:pPr indent="0" marL="0">
              <a:buNone/>
            </a:pPr>
            <a:r>
              <a:rPr lang="en-US" sz="950" b="1" dirty="0">
                <a:solidFill>
                  <a:srgbClr val="F0F4F8"/>
                </a:solidFill>
                <a:latin typeface="Calibri" pitchFamily="34" charset="0"/>
                <a:ea typeface="Calibri" pitchFamily="34" charset="-122"/>
                <a:cs typeface="Calibri" pitchFamily="34" charset="-120"/>
              </a:rPr>
              <a:t>#3 Sensitive Exposure</a:t>
            </a:r>
            <a:endParaRPr lang="en-US" sz="950" dirty="0"/>
          </a:p>
        </p:txBody>
      </p:sp>
      <p:sp>
        <p:nvSpPr>
          <p:cNvPr id="30" name="Shape 28"/>
          <p:cNvSpPr/>
          <p:nvPr/>
        </p:nvSpPr>
        <p:spPr>
          <a:xfrm>
            <a:off x="5431536" y="2999232"/>
            <a:ext cx="1627632" cy="56692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31" name="Shape 29"/>
          <p:cNvSpPr/>
          <p:nvPr/>
        </p:nvSpPr>
        <p:spPr>
          <a:xfrm>
            <a:off x="5431536" y="2999232"/>
            <a:ext cx="54864" cy="566928"/>
          </a:xfrm>
          <a:prstGeom prst="rect">
            <a:avLst/>
          </a:prstGeom>
          <a:solidFill>
            <a:srgbClr val="00C2CB"/>
          </a:solidFill>
          <a:ln w="12700">
            <a:solidFill>
              <a:srgbClr val="00C2CB"/>
            </a:solidFill>
            <a:prstDash val="solid"/>
          </a:ln>
        </p:spPr>
      </p:sp>
      <p:sp>
        <p:nvSpPr>
          <p:cNvPr id="32" name="Text 30"/>
          <p:cNvSpPr/>
          <p:nvPr/>
        </p:nvSpPr>
        <p:spPr>
          <a:xfrm>
            <a:off x="5522976" y="2999232"/>
            <a:ext cx="1536192" cy="566928"/>
          </a:xfrm>
          <a:prstGeom prst="rect">
            <a:avLst/>
          </a:prstGeom>
          <a:noFill/>
          <a:ln/>
        </p:spPr>
        <p:txBody>
          <a:bodyPr wrap="square" rtlCol="0" anchor="ctr"/>
          <a:lstStyle/>
          <a:p>
            <a:pPr indent="0" marL="0">
              <a:buNone/>
            </a:pPr>
            <a:r>
              <a:rPr lang="en-US" sz="950" b="1" dirty="0">
                <a:solidFill>
                  <a:srgbClr val="F0F4F8"/>
                </a:solidFill>
                <a:latin typeface="Calibri" pitchFamily="34" charset="0"/>
                <a:ea typeface="Calibri" pitchFamily="34" charset="-122"/>
                <a:cs typeface="Calibri" pitchFamily="34" charset="-120"/>
              </a:rPr>
              <a:t>#4 Insecure Config</a:t>
            </a:r>
            <a:endParaRPr lang="en-US" sz="950" dirty="0"/>
          </a:p>
        </p:txBody>
      </p:sp>
      <p:sp>
        <p:nvSpPr>
          <p:cNvPr id="33" name="Shape 31"/>
          <p:cNvSpPr/>
          <p:nvPr/>
        </p:nvSpPr>
        <p:spPr>
          <a:xfrm>
            <a:off x="7150608" y="2999232"/>
            <a:ext cx="1627632" cy="56692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34" name="Shape 32"/>
          <p:cNvSpPr/>
          <p:nvPr/>
        </p:nvSpPr>
        <p:spPr>
          <a:xfrm>
            <a:off x="7150608" y="2999232"/>
            <a:ext cx="54864" cy="566928"/>
          </a:xfrm>
          <a:prstGeom prst="rect">
            <a:avLst/>
          </a:prstGeom>
          <a:solidFill>
            <a:srgbClr val="00C2CB"/>
          </a:solidFill>
          <a:ln w="12700">
            <a:solidFill>
              <a:srgbClr val="00C2CB"/>
            </a:solidFill>
            <a:prstDash val="solid"/>
          </a:ln>
        </p:spPr>
      </p:sp>
      <p:sp>
        <p:nvSpPr>
          <p:cNvPr id="35" name="Text 33"/>
          <p:cNvSpPr/>
          <p:nvPr/>
        </p:nvSpPr>
        <p:spPr>
          <a:xfrm>
            <a:off x="7242048" y="2999232"/>
            <a:ext cx="1536192" cy="566928"/>
          </a:xfrm>
          <a:prstGeom prst="rect">
            <a:avLst/>
          </a:prstGeom>
          <a:noFill/>
          <a:ln/>
        </p:spPr>
        <p:txBody>
          <a:bodyPr wrap="square" rtlCol="0" anchor="ctr"/>
          <a:lstStyle/>
          <a:p>
            <a:pPr indent="0" marL="0">
              <a:buNone/>
            </a:pPr>
            <a:r>
              <a:rPr lang="en-US" sz="950" b="1" dirty="0">
                <a:solidFill>
                  <a:srgbClr val="F0F4F8"/>
                </a:solidFill>
                <a:latin typeface="Calibri" pitchFamily="34" charset="0"/>
                <a:ea typeface="Calibri" pitchFamily="34" charset="-122"/>
                <a:cs typeface="Calibri" pitchFamily="34" charset="-120"/>
              </a:rPr>
              <a:t>#5 Broken Access</a:t>
            </a:r>
            <a:endParaRPr lang="en-US" sz="950" dirty="0"/>
          </a:p>
        </p:txBody>
      </p:sp>
      <p:sp>
        <p:nvSpPr>
          <p:cNvPr id="36" name="Shape 34"/>
          <p:cNvSpPr/>
          <p:nvPr/>
        </p:nvSpPr>
        <p:spPr>
          <a:xfrm>
            <a:off x="274320" y="3657600"/>
            <a:ext cx="1627632" cy="56692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37" name="Shape 35"/>
          <p:cNvSpPr/>
          <p:nvPr/>
        </p:nvSpPr>
        <p:spPr>
          <a:xfrm>
            <a:off x="274320" y="3657600"/>
            <a:ext cx="54864" cy="566928"/>
          </a:xfrm>
          <a:prstGeom prst="rect">
            <a:avLst/>
          </a:prstGeom>
          <a:solidFill>
            <a:srgbClr val="00C2CB"/>
          </a:solidFill>
          <a:ln w="12700">
            <a:solidFill>
              <a:srgbClr val="00C2CB"/>
            </a:solidFill>
            <a:prstDash val="solid"/>
          </a:ln>
        </p:spPr>
      </p:sp>
      <p:sp>
        <p:nvSpPr>
          <p:cNvPr id="38" name="Text 36"/>
          <p:cNvSpPr/>
          <p:nvPr/>
        </p:nvSpPr>
        <p:spPr>
          <a:xfrm>
            <a:off x="365760" y="3657600"/>
            <a:ext cx="1536192" cy="566928"/>
          </a:xfrm>
          <a:prstGeom prst="rect">
            <a:avLst/>
          </a:prstGeom>
          <a:noFill/>
          <a:ln/>
        </p:spPr>
        <p:txBody>
          <a:bodyPr wrap="square" rtlCol="0" anchor="ctr"/>
          <a:lstStyle/>
          <a:p>
            <a:pPr indent="0" marL="0">
              <a:buNone/>
            </a:pPr>
            <a:r>
              <a:rPr lang="en-US" sz="950" b="1" dirty="0">
                <a:solidFill>
                  <a:srgbClr val="F0F4F8"/>
                </a:solidFill>
                <a:latin typeface="Calibri" pitchFamily="34" charset="0"/>
                <a:ea typeface="Calibri" pitchFamily="34" charset="-122"/>
                <a:cs typeface="Calibri" pitchFamily="34" charset="-120"/>
              </a:rPr>
              <a:t>#6 Denial of Service</a:t>
            </a:r>
            <a:endParaRPr lang="en-US" sz="950" dirty="0"/>
          </a:p>
        </p:txBody>
      </p:sp>
      <p:sp>
        <p:nvSpPr>
          <p:cNvPr id="39" name="Shape 37"/>
          <p:cNvSpPr/>
          <p:nvPr/>
        </p:nvSpPr>
        <p:spPr>
          <a:xfrm>
            <a:off x="1993392" y="3657600"/>
            <a:ext cx="1627632" cy="56692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0" name="Shape 38"/>
          <p:cNvSpPr/>
          <p:nvPr/>
        </p:nvSpPr>
        <p:spPr>
          <a:xfrm>
            <a:off x="1993392" y="3657600"/>
            <a:ext cx="54864" cy="566928"/>
          </a:xfrm>
          <a:prstGeom prst="rect">
            <a:avLst/>
          </a:prstGeom>
          <a:solidFill>
            <a:srgbClr val="00C2CB"/>
          </a:solidFill>
          <a:ln w="12700">
            <a:solidFill>
              <a:srgbClr val="00C2CB"/>
            </a:solidFill>
            <a:prstDash val="solid"/>
          </a:ln>
        </p:spPr>
      </p:sp>
      <p:sp>
        <p:nvSpPr>
          <p:cNvPr id="41" name="Text 39"/>
          <p:cNvSpPr/>
          <p:nvPr/>
        </p:nvSpPr>
        <p:spPr>
          <a:xfrm>
            <a:off x="2084832" y="3657600"/>
            <a:ext cx="1536192" cy="566928"/>
          </a:xfrm>
          <a:prstGeom prst="rect">
            <a:avLst/>
          </a:prstGeom>
          <a:noFill/>
          <a:ln/>
        </p:spPr>
        <p:txBody>
          <a:bodyPr wrap="square" rtlCol="0" anchor="ctr"/>
          <a:lstStyle/>
          <a:p>
            <a:pPr indent="0" marL="0">
              <a:buNone/>
            </a:pPr>
            <a:r>
              <a:rPr lang="en-US" sz="950" b="1" dirty="0">
                <a:solidFill>
                  <a:srgbClr val="F0F4F8"/>
                </a:solidFill>
                <a:latin typeface="Calibri" pitchFamily="34" charset="0"/>
                <a:ea typeface="Calibri" pitchFamily="34" charset="-122"/>
                <a:cs typeface="Calibri" pitchFamily="34" charset="-120"/>
              </a:rPr>
              <a:t>#7 Over-Privileged</a:t>
            </a:r>
            <a:endParaRPr lang="en-US" sz="950" dirty="0"/>
          </a:p>
        </p:txBody>
      </p:sp>
      <p:sp>
        <p:nvSpPr>
          <p:cNvPr id="42" name="Shape 40"/>
          <p:cNvSpPr/>
          <p:nvPr/>
        </p:nvSpPr>
        <p:spPr>
          <a:xfrm>
            <a:off x="3712464" y="3657600"/>
            <a:ext cx="1627632" cy="56692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3" name="Shape 41"/>
          <p:cNvSpPr/>
          <p:nvPr/>
        </p:nvSpPr>
        <p:spPr>
          <a:xfrm>
            <a:off x="3712464" y="3657600"/>
            <a:ext cx="54864" cy="566928"/>
          </a:xfrm>
          <a:prstGeom prst="rect">
            <a:avLst/>
          </a:prstGeom>
          <a:solidFill>
            <a:srgbClr val="00C2CB"/>
          </a:solidFill>
          <a:ln w="12700">
            <a:solidFill>
              <a:srgbClr val="00C2CB"/>
            </a:solidFill>
            <a:prstDash val="solid"/>
          </a:ln>
        </p:spPr>
      </p:sp>
      <p:sp>
        <p:nvSpPr>
          <p:cNvPr id="44" name="Text 42"/>
          <p:cNvSpPr/>
          <p:nvPr/>
        </p:nvSpPr>
        <p:spPr>
          <a:xfrm>
            <a:off x="3803904" y="3657600"/>
            <a:ext cx="1536192" cy="566928"/>
          </a:xfrm>
          <a:prstGeom prst="rect">
            <a:avLst/>
          </a:prstGeom>
          <a:noFill/>
          <a:ln/>
        </p:spPr>
        <p:txBody>
          <a:bodyPr wrap="square" rtlCol="0" anchor="ctr"/>
          <a:lstStyle/>
          <a:p>
            <a:pPr indent="0" marL="0">
              <a:buNone/>
            </a:pPr>
            <a:r>
              <a:rPr lang="en-US" sz="950" b="1" dirty="0">
                <a:solidFill>
                  <a:srgbClr val="F0F4F8"/>
                </a:solidFill>
                <a:latin typeface="Calibri" pitchFamily="34" charset="0"/>
                <a:ea typeface="Calibri" pitchFamily="34" charset="-122"/>
                <a:cs typeface="Calibri" pitchFamily="34" charset="-120"/>
              </a:rPr>
              <a:t>#8 Logic Vuln</a:t>
            </a:r>
            <a:endParaRPr lang="en-US" sz="950" dirty="0"/>
          </a:p>
        </p:txBody>
      </p:sp>
      <p:sp>
        <p:nvSpPr>
          <p:cNvPr id="45" name="Shape 43"/>
          <p:cNvSpPr/>
          <p:nvPr/>
        </p:nvSpPr>
        <p:spPr>
          <a:xfrm>
            <a:off x="5431536" y="3657600"/>
            <a:ext cx="1627632" cy="56692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6" name="Shape 44"/>
          <p:cNvSpPr/>
          <p:nvPr/>
        </p:nvSpPr>
        <p:spPr>
          <a:xfrm>
            <a:off x="5431536" y="3657600"/>
            <a:ext cx="54864" cy="566928"/>
          </a:xfrm>
          <a:prstGeom prst="rect">
            <a:avLst/>
          </a:prstGeom>
          <a:solidFill>
            <a:srgbClr val="00C2CB"/>
          </a:solidFill>
          <a:ln w="12700">
            <a:solidFill>
              <a:srgbClr val="00C2CB"/>
            </a:solidFill>
            <a:prstDash val="solid"/>
          </a:ln>
        </p:spPr>
      </p:sp>
      <p:sp>
        <p:nvSpPr>
          <p:cNvPr id="47" name="Text 45"/>
          <p:cNvSpPr/>
          <p:nvPr/>
        </p:nvSpPr>
        <p:spPr>
          <a:xfrm>
            <a:off x="5522976" y="3657600"/>
            <a:ext cx="1536192" cy="566928"/>
          </a:xfrm>
          <a:prstGeom prst="rect">
            <a:avLst/>
          </a:prstGeom>
          <a:noFill/>
          <a:ln/>
        </p:spPr>
        <p:txBody>
          <a:bodyPr wrap="square" rtlCol="0" anchor="ctr"/>
          <a:lstStyle/>
          <a:p>
            <a:pPr indent="0" marL="0">
              <a:buNone/>
            </a:pPr>
            <a:r>
              <a:rPr lang="en-US" sz="950" b="1" dirty="0">
                <a:solidFill>
                  <a:srgbClr val="F0F4F8"/>
                </a:solidFill>
                <a:latin typeface="Calibri" pitchFamily="34" charset="0"/>
                <a:ea typeface="Calibri" pitchFamily="34" charset="-122"/>
                <a:cs typeface="Calibri" pitchFamily="34" charset="-120"/>
              </a:rPr>
              <a:t>#9 Vuln Dependencies</a:t>
            </a:r>
            <a:endParaRPr lang="en-US" sz="950" dirty="0"/>
          </a:p>
        </p:txBody>
      </p:sp>
      <p:sp>
        <p:nvSpPr>
          <p:cNvPr id="48" name="Shape 46"/>
          <p:cNvSpPr/>
          <p:nvPr/>
        </p:nvSpPr>
        <p:spPr>
          <a:xfrm>
            <a:off x="7150608" y="3657600"/>
            <a:ext cx="1627632" cy="56692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9" name="Shape 47"/>
          <p:cNvSpPr/>
          <p:nvPr/>
        </p:nvSpPr>
        <p:spPr>
          <a:xfrm>
            <a:off x="7150608" y="3657600"/>
            <a:ext cx="54864" cy="566928"/>
          </a:xfrm>
          <a:prstGeom prst="rect">
            <a:avLst/>
          </a:prstGeom>
          <a:solidFill>
            <a:srgbClr val="00C2CB"/>
          </a:solidFill>
          <a:ln w="12700">
            <a:solidFill>
              <a:srgbClr val="00C2CB"/>
            </a:solidFill>
            <a:prstDash val="solid"/>
          </a:ln>
        </p:spPr>
      </p:sp>
      <p:sp>
        <p:nvSpPr>
          <p:cNvPr id="50" name="Text 48"/>
          <p:cNvSpPr/>
          <p:nvPr/>
        </p:nvSpPr>
        <p:spPr>
          <a:xfrm>
            <a:off x="7242048" y="3657600"/>
            <a:ext cx="1536192" cy="566928"/>
          </a:xfrm>
          <a:prstGeom prst="rect">
            <a:avLst/>
          </a:prstGeom>
          <a:noFill/>
          <a:ln/>
        </p:spPr>
        <p:txBody>
          <a:bodyPr wrap="square" rtlCol="0" anchor="ctr"/>
          <a:lstStyle/>
          <a:p>
            <a:pPr indent="0" marL="0">
              <a:buNone/>
            </a:pPr>
            <a:r>
              <a:rPr lang="en-US" sz="950" b="1" dirty="0">
                <a:solidFill>
                  <a:srgbClr val="F0F4F8"/>
                </a:solidFill>
                <a:latin typeface="Calibri" pitchFamily="34" charset="0"/>
                <a:ea typeface="Calibri" pitchFamily="34" charset="-122"/>
                <a:cs typeface="Calibri" pitchFamily="34" charset="-120"/>
              </a:rPr>
              <a:t>#10 Unhandled Exceptions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Shape 1"/>
          <p:cNvSpPr/>
          <p:nvPr/>
        </p:nvSpPr>
        <p:spPr>
          <a:xfrm>
            <a:off x="274320" y="128016"/>
            <a:ext cx="1005840" cy="411480"/>
          </a:xfrm>
          <a:prstGeom prst="rect">
            <a:avLst/>
          </a:prstGeom>
          <a:solidFill>
            <a:srgbClr val="00C2C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 name="Text 2"/>
          <p:cNvSpPr/>
          <p:nvPr/>
        </p:nvSpPr>
        <p:spPr>
          <a:xfrm>
            <a:off x="274320" y="128016"/>
            <a:ext cx="1005840" cy="41148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L1 &amp; L9</a:t>
            </a:r>
            <a:endParaRPr lang="en-US" sz="1300" dirty="0"/>
          </a:p>
        </p:txBody>
      </p:sp>
      <p:sp>
        <p:nvSpPr>
          <p:cNvPr id="5" name="Text 3"/>
          <p:cNvSpPr/>
          <p:nvPr/>
        </p:nvSpPr>
        <p:spPr>
          <a:xfrm>
            <a:off x="1417320" y="128016"/>
            <a:ext cx="7406640" cy="411480"/>
          </a:xfrm>
          <a:prstGeom prst="rect">
            <a:avLst/>
          </a:prstGeom>
          <a:noFill/>
          <a:ln/>
        </p:spPr>
        <p:txBody>
          <a:bodyPr wrap="square" rtlCol="0" anchor="ctr"/>
          <a:lstStyle/>
          <a:p>
            <a:pPr indent="0" marL="0">
              <a:buNone/>
            </a:pPr>
            <a:r>
              <a:rPr lang="en-US" sz="2000" b="1" dirty="0">
                <a:solidFill>
                  <a:srgbClr val="F0F4F8"/>
                </a:solidFill>
                <a:latin typeface="Arial Black" pitchFamily="34" charset="0"/>
                <a:ea typeface="Arial Black" pitchFamily="34" charset="-122"/>
                <a:cs typeface="Arial Black" pitchFamily="34" charset="-120"/>
              </a:rPr>
              <a:t>Event Injection &amp; Vulnerable Dependencies</a:t>
            </a:r>
            <a:endParaRPr lang="en-US" sz="2000" dirty="0"/>
          </a:p>
        </p:txBody>
      </p:sp>
      <p:sp>
        <p:nvSpPr>
          <p:cNvPr id="6" name="Shape 4"/>
          <p:cNvSpPr/>
          <p:nvPr/>
        </p:nvSpPr>
        <p:spPr>
          <a:xfrm>
            <a:off x="27432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7" name="Shape 5"/>
          <p:cNvSpPr/>
          <p:nvPr/>
        </p:nvSpPr>
        <p:spPr>
          <a:xfrm>
            <a:off x="274320" y="658368"/>
            <a:ext cx="64008" cy="640080"/>
          </a:xfrm>
          <a:prstGeom prst="rect">
            <a:avLst/>
          </a:prstGeom>
          <a:solidFill>
            <a:srgbClr val="00C2CB"/>
          </a:solidFill>
          <a:ln w="12700">
            <a:solidFill>
              <a:srgbClr val="00C2CB"/>
            </a:solidFill>
            <a:prstDash val="solid"/>
          </a:ln>
        </p:spPr>
      </p:sp>
      <p:sp>
        <p:nvSpPr>
          <p:cNvPr id="8" name="Text 6"/>
          <p:cNvSpPr/>
          <p:nvPr/>
        </p:nvSpPr>
        <p:spPr>
          <a:xfrm>
            <a:off x="38404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Affected Component</a:t>
            </a:r>
            <a:endParaRPr lang="en-US" sz="800" dirty="0"/>
          </a:p>
        </p:txBody>
      </p:sp>
      <p:sp>
        <p:nvSpPr>
          <p:cNvPr id="9" name="Text 7"/>
          <p:cNvSpPr/>
          <p:nvPr/>
        </p:nvSpPr>
        <p:spPr>
          <a:xfrm>
            <a:off x="384048" y="859536"/>
            <a:ext cx="4023360" cy="420624"/>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API Gateway → Lambda (DVSA-ORDER-MANAGER) · node-serialize package</a:t>
            </a:r>
            <a:endParaRPr lang="en-US" sz="1050" dirty="0"/>
          </a:p>
        </p:txBody>
      </p:sp>
      <p:sp>
        <p:nvSpPr>
          <p:cNvPr id="10" name="Shape 8"/>
          <p:cNvSpPr/>
          <p:nvPr/>
        </p:nvSpPr>
        <p:spPr>
          <a:xfrm>
            <a:off x="470916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709160" y="658368"/>
            <a:ext cx="64008" cy="640080"/>
          </a:xfrm>
          <a:prstGeom prst="rect">
            <a:avLst/>
          </a:prstGeom>
          <a:solidFill>
            <a:srgbClr val="E84855"/>
          </a:solidFill>
          <a:ln w="12700">
            <a:solidFill>
              <a:srgbClr val="E84855"/>
            </a:solidFill>
            <a:prstDash val="solid"/>
          </a:ln>
        </p:spPr>
      </p:sp>
      <p:sp>
        <p:nvSpPr>
          <p:cNvPr id="12" name="Text 10"/>
          <p:cNvSpPr/>
          <p:nvPr/>
        </p:nvSpPr>
        <p:spPr>
          <a:xfrm>
            <a:off x="481888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Security Impact</a:t>
            </a:r>
            <a:endParaRPr lang="en-US" sz="800" dirty="0"/>
          </a:p>
        </p:txBody>
      </p:sp>
      <p:sp>
        <p:nvSpPr>
          <p:cNvPr id="13" name="Text 11"/>
          <p:cNvSpPr/>
          <p:nvPr/>
        </p:nvSpPr>
        <p:spPr>
          <a:xfrm>
            <a:off x="4818888" y="859536"/>
            <a:ext cx="4023360" cy="420624"/>
          </a:xfrm>
          <a:prstGeom prst="rect">
            <a:avLst/>
          </a:prstGeom>
          <a:noFill/>
          <a:ln/>
        </p:spPr>
        <p:txBody>
          <a:bodyPr wrap="square" rtlCol="0" anchor="ctr"/>
          <a:lstStyle/>
          <a:p>
            <a:pPr indent="0" marL="0">
              <a:buNone/>
            </a:pPr>
            <a:r>
              <a:rPr lang="en-US" sz="1050" dirty="0">
                <a:solidFill>
                  <a:srgbClr val="E84855"/>
                </a:solidFill>
                <a:latin typeface="Calibri" pitchFamily="34" charset="0"/>
                <a:ea typeface="Calibri" pitchFamily="34" charset="-122"/>
                <a:cs typeface="Calibri" pitchFamily="34" charset="-120"/>
              </a:rPr>
              <a:t>Arbitrary remote code execution (RCE) inside Lambda with no authentication required</a:t>
            </a:r>
            <a:endParaRPr lang="en-US" sz="1050" dirty="0"/>
          </a:p>
        </p:txBody>
      </p:sp>
      <p:sp>
        <p:nvSpPr>
          <p:cNvPr id="14" name="Shape 12"/>
          <p:cNvSpPr/>
          <p:nvPr/>
        </p:nvSpPr>
        <p:spPr>
          <a:xfrm>
            <a:off x="274320" y="1389888"/>
            <a:ext cx="8595360" cy="65836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274320" y="1389888"/>
            <a:ext cx="64008" cy="658368"/>
          </a:xfrm>
          <a:prstGeom prst="rect">
            <a:avLst/>
          </a:prstGeom>
          <a:solidFill>
            <a:srgbClr val="F4B942"/>
          </a:solidFill>
          <a:ln w="12700">
            <a:solidFill>
              <a:srgbClr val="F4B942"/>
            </a:solidFill>
            <a:prstDash val="solid"/>
          </a:ln>
        </p:spPr>
      </p:sp>
      <p:sp>
        <p:nvSpPr>
          <p:cNvPr id="16" name="Text 14"/>
          <p:cNvSpPr/>
          <p:nvPr/>
        </p:nvSpPr>
        <p:spPr>
          <a:xfrm>
            <a:off x="384048" y="1389888"/>
            <a:ext cx="8458200" cy="219456"/>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Root Cause</a:t>
            </a:r>
            <a:endParaRPr lang="en-US" sz="800" dirty="0"/>
          </a:p>
        </p:txBody>
      </p:sp>
      <p:sp>
        <p:nvSpPr>
          <p:cNvPr id="17" name="Text 15"/>
          <p:cNvSpPr/>
          <p:nvPr/>
        </p:nvSpPr>
        <p:spPr>
          <a:xfrm>
            <a:off x="384048" y="1591056"/>
            <a:ext cx="8458200" cy="438912"/>
          </a:xfrm>
          <a:prstGeom prst="rect">
            <a:avLst/>
          </a:prstGeom>
          <a:noFill/>
          <a:ln/>
        </p:spPr>
        <p:txBody>
          <a:bodyPr wrap="square" rtlCol="0" anchor="ctr"/>
          <a:lstStyle/>
          <a:p>
            <a:pPr indent="0" marL="0">
              <a:buNone/>
            </a:pPr>
            <a:r>
              <a:rPr lang="en-US" sz="1050" dirty="0">
                <a:solidFill>
                  <a:srgbClr val="F4B942"/>
                </a:solidFill>
                <a:latin typeface="Calibri" pitchFamily="34" charset="0"/>
                <a:ea typeface="Calibri" pitchFamily="34" charset="-122"/>
                <a:cs typeface="Calibri" pitchFamily="34" charset="-120"/>
              </a:rPr>
              <a:t>node-serialize evaluates _$$ND_FUNC$$_ prefixed values using eval() during deserialization. The handler passes event.body directly into serialize.unserialize() with zero input validation — injected functions run before any auth check.</a:t>
            </a:r>
            <a:endParaRPr lang="en-US" sz="1050" dirty="0"/>
          </a:p>
        </p:txBody>
      </p:sp>
      <p:sp>
        <p:nvSpPr>
          <p:cNvPr id="18" name="Shape 16"/>
          <p:cNvSpPr/>
          <p:nvPr/>
        </p:nvSpPr>
        <p:spPr>
          <a:xfrm>
            <a:off x="27432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9" name="Shape 17"/>
          <p:cNvSpPr/>
          <p:nvPr/>
        </p:nvSpPr>
        <p:spPr>
          <a:xfrm>
            <a:off x="274320" y="2148840"/>
            <a:ext cx="64008" cy="1325880"/>
          </a:xfrm>
          <a:prstGeom prst="rect">
            <a:avLst/>
          </a:prstGeom>
          <a:solidFill>
            <a:srgbClr val="00C2CB"/>
          </a:solidFill>
          <a:ln w="12700">
            <a:solidFill>
              <a:srgbClr val="00C2CB"/>
            </a:solidFill>
            <a:prstDash val="solid"/>
          </a:ln>
        </p:spPr>
      </p:sp>
      <p:sp>
        <p:nvSpPr>
          <p:cNvPr id="20" name="Text 18"/>
          <p:cNvSpPr/>
          <p:nvPr/>
        </p:nvSpPr>
        <p:spPr>
          <a:xfrm>
            <a:off x="38404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Reproduction Steps</a:t>
            </a:r>
            <a:endParaRPr lang="en-US" sz="800" dirty="0"/>
          </a:p>
        </p:txBody>
      </p:sp>
      <p:sp>
        <p:nvSpPr>
          <p:cNvPr id="21" name="Text 19"/>
          <p:cNvSpPr/>
          <p:nvPr/>
        </p:nvSpPr>
        <p:spPr>
          <a:xfrm>
            <a:off x="384048" y="2368296"/>
            <a:ext cx="4023360" cy="1088136"/>
          </a:xfrm>
          <a:prstGeom prst="rect">
            <a:avLst/>
          </a:prstGeom>
          <a:noFill/>
          <a:ln/>
        </p:spPr>
        <p:txBody>
          <a:bodyPr wrap="square" rtlCol="0" anchor="ctr"/>
          <a:lstStyle/>
          <a:p>
            <a:pPr indent="0" marL="0">
              <a:buNone/>
            </a:pPr>
            <a:r>
              <a:rPr lang="en-US" sz="1000" dirty="0">
                <a:solidFill>
                  <a:srgbClr val="F0F4F8"/>
                </a:solidFill>
                <a:latin typeface="Calibri" pitchFamily="34" charset="0"/>
                <a:ea typeface="Calibri" pitchFamily="34" charset="-122"/>
                <a:cs typeface="Calibri" pitchFamily="34" charset="-120"/>
              </a:rPr>
              <a:t>1. Export API endpoint  2. Send malicious IIFE payload via curl POST  3. Check CloudWatch /aws/lambda/DVSA-ORDER-MANAGER  4. Confirm 'FILE READ SUCCESS' log entry proving code executed</a:t>
            </a:r>
            <a:endParaRPr lang="en-US" sz="1000" dirty="0"/>
          </a:p>
        </p:txBody>
      </p:sp>
      <p:sp>
        <p:nvSpPr>
          <p:cNvPr id="22" name="Shape 20"/>
          <p:cNvSpPr/>
          <p:nvPr/>
        </p:nvSpPr>
        <p:spPr>
          <a:xfrm>
            <a:off x="470916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3" name="Shape 21"/>
          <p:cNvSpPr/>
          <p:nvPr/>
        </p:nvSpPr>
        <p:spPr>
          <a:xfrm>
            <a:off x="4709160" y="2148840"/>
            <a:ext cx="64008" cy="1325880"/>
          </a:xfrm>
          <a:prstGeom prst="rect">
            <a:avLst/>
          </a:prstGeom>
          <a:solidFill>
            <a:srgbClr val="3BB273"/>
          </a:solidFill>
          <a:ln w="12700">
            <a:solidFill>
              <a:srgbClr val="3BB273"/>
            </a:solidFill>
            <a:prstDash val="solid"/>
          </a:ln>
        </p:spPr>
      </p:sp>
      <p:sp>
        <p:nvSpPr>
          <p:cNvPr id="24" name="Text 22"/>
          <p:cNvSpPr/>
          <p:nvPr/>
        </p:nvSpPr>
        <p:spPr>
          <a:xfrm>
            <a:off x="481888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Fix Strategy</a:t>
            </a:r>
            <a:endParaRPr lang="en-US" sz="800" dirty="0"/>
          </a:p>
        </p:txBody>
      </p:sp>
      <p:sp>
        <p:nvSpPr>
          <p:cNvPr id="25" name="Text 23"/>
          <p:cNvSpPr/>
          <p:nvPr/>
        </p:nvSpPr>
        <p:spPr>
          <a:xfrm>
            <a:off x="4818888" y="2368296"/>
            <a:ext cx="4023360" cy="1088136"/>
          </a:xfrm>
          <a:prstGeom prst="rect">
            <a:avLst/>
          </a:prstGeom>
          <a:noFill/>
          <a:ln/>
        </p:spPr>
        <p:txBody>
          <a:bodyPr wrap="square" rtlCol="0" anchor="ctr"/>
          <a:lstStyle/>
          <a:p>
            <a:pPr indent="0" marL="0">
              <a:buNone/>
            </a:pPr>
            <a:r>
              <a:rPr lang="en-US" sz="1000" dirty="0">
                <a:solidFill>
                  <a:srgbClr val="3BB273"/>
                </a:solidFill>
                <a:latin typeface="Calibri" pitchFamily="34" charset="0"/>
                <a:ea typeface="Calibri" pitchFamily="34" charset="-122"/>
                <a:cs typeface="Calibri" pitchFamily="34" charset="-120"/>
              </a:rPr>
              <a:t>Remove node-serialize entirely. Replace with JSON.parse(). Add strict allowlist validation on the action field. Reject any non-conforming request with HTTP 400 before processing.</a:t>
            </a:r>
            <a:endParaRPr lang="en-US" sz="1000" dirty="0"/>
          </a:p>
        </p:txBody>
      </p:sp>
      <p:sp>
        <p:nvSpPr>
          <p:cNvPr id="26" name="Shape 24"/>
          <p:cNvSpPr/>
          <p:nvPr/>
        </p:nvSpPr>
        <p:spPr>
          <a:xfrm>
            <a:off x="274320" y="3566160"/>
            <a:ext cx="8595360" cy="457200"/>
          </a:xfrm>
          <a:prstGeom prst="rect">
            <a:avLst/>
          </a:prstGeom>
          <a:solidFill>
            <a:srgbClr val="12263A"/>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7" name="Shape 25"/>
          <p:cNvSpPr/>
          <p:nvPr/>
        </p:nvSpPr>
        <p:spPr>
          <a:xfrm>
            <a:off x="274320" y="3566160"/>
            <a:ext cx="64008" cy="457200"/>
          </a:xfrm>
          <a:prstGeom prst="rect">
            <a:avLst/>
          </a:prstGeom>
          <a:solidFill>
            <a:srgbClr val="F4B942"/>
          </a:solidFill>
          <a:ln w="12700">
            <a:solidFill>
              <a:srgbClr val="F4B942"/>
            </a:solidFill>
            <a:prstDash val="solid"/>
          </a:ln>
        </p:spPr>
      </p:sp>
      <p:sp>
        <p:nvSpPr>
          <p:cNvPr id="28" name="Text 26"/>
          <p:cNvSpPr/>
          <p:nvPr/>
        </p:nvSpPr>
        <p:spPr>
          <a:xfrm>
            <a:off x="384048" y="3566160"/>
            <a:ext cx="8458200" cy="457200"/>
          </a:xfrm>
          <a:prstGeom prst="rect">
            <a:avLst/>
          </a:prstGeom>
          <a:noFill/>
          <a:ln/>
        </p:spPr>
        <p:txBody>
          <a:bodyPr wrap="square" rtlCol="0" anchor="ctr"/>
          <a:lstStyle/>
          <a:p>
            <a:pPr indent="0" marL="0">
              <a:buNone/>
            </a:pPr>
            <a:r>
              <a:rPr lang="en-US" sz="1000" dirty="0">
                <a:solidFill>
                  <a:srgbClr val="8FA8BF"/>
                </a:solidFill>
                <a:latin typeface="Calibri" pitchFamily="34" charset="0"/>
                <a:ea typeface="Calibri" pitchFamily="34" charset="-122"/>
                <a:cs typeface="Calibri" pitchFamily="34" charset="-120"/>
              </a:rPr>
              <a:t>Deviation Class  ·  </a:t>
            </a:r>
            <a:endParaRPr lang="en-US" sz="1000" dirty="0"/>
          </a:p>
        </p:txBody>
      </p:sp>
      <p:sp>
        <p:nvSpPr>
          <p:cNvPr id="29" name="Text 27"/>
          <p:cNvSpPr/>
          <p:nvPr/>
        </p:nvSpPr>
        <p:spPr>
          <a:xfrm>
            <a:off x="2240280" y="3566160"/>
            <a:ext cx="6583680" cy="457200"/>
          </a:xfrm>
          <a:prstGeom prst="rect">
            <a:avLst/>
          </a:prstGeom>
          <a:noFill/>
          <a:ln/>
        </p:spPr>
        <p:txBody>
          <a:bodyPr wrap="square" rtlCol="0" anchor="ctr"/>
          <a:lstStyle/>
          <a:p>
            <a:pPr indent="0" marL="0">
              <a:buNone/>
            </a:pPr>
            <a:r>
              <a:rPr lang="en-US" sz="1000" b="1" dirty="0">
                <a:solidFill>
                  <a:srgbClr val="F4B942"/>
                </a:solidFill>
                <a:latin typeface="Calibri" pitchFamily="34" charset="0"/>
                <a:ea typeface="Calibri" pitchFamily="34" charset="-122"/>
                <a:cs typeface="Calibri" pitchFamily="34" charset="-120"/>
              </a:rPr>
              <a:t>Intentional Misuse / Security-Relevant Abuse</a:t>
            </a:r>
            <a:endParaRPr lang="en-US" sz="1000" dirty="0"/>
          </a:p>
        </p:txBody>
      </p:sp>
      <p:sp>
        <p:nvSpPr>
          <p:cNvPr id="30" name="Shape 28"/>
          <p:cNvSpPr/>
          <p:nvPr/>
        </p:nvSpPr>
        <p:spPr>
          <a:xfrm>
            <a:off x="0" y="5056632"/>
            <a:ext cx="9144000" cy="91440"/>
          </a:xfrm>
          <a:prstGeom prst="rect">
            <a:avLst/>
          </a:prstGeom>
          <a:solidFill>
            <a:srgbClr val="00C2CB"/>
          </a:solidFill>
          <a:ln w="12700">
            <a:solidFill>
              <a:srgbClr val="00C2CB"/>
            </a:solidFill>
            <a:prstDash val="solid"/>
          </a:ln>
        </p:spPr>
      </p:sp>
      <p:sp>
        <p:nvSpPr>
          <p:cNvPr id="31" name="Text 29"/>
          <p:cNvSpPr/>
          <p:nvPr/>
        </p:nvSpPr>
        <p:spPr>
          <a:xfrm>
            <a:off x="0" y="4855464"/>
            <a:ext cx="9144000" cy="219456"/>
          </a:xfrm>
          <a:prstGeom prst="rect">
            <a:avLst/>
          </a:prstGeom>
          <a:noFill/>
          <a:ln/>
        </p:spPr>
        <p:txBody>
          <a:bodyPr wrap="square" rtlCol="0" anchor="ctr"/>
          <a:lstStyle/>
          <a:p>
            <a:pPr algn="ctr" indent="0" marL="0">
              <a:buNone/>
            </a:pPr>
            <a:r>
              <a:rPr lang="en-US" sz="800" dirty="0">
                <a:solidFill>
                  <a:srgbClr val="8FA8BF"/>
                </a:solidFill>
                <a:latin typeface="Calibri" pitchFamily="34" charset="0"/>
                <a:ea typeface="Calibri" pitchFamily="34" charset="-122"/>
                <a:cs typeface="Calibri" pitchFamily="34" charset="-120"/>
              </a:rPr>
              <a:t>ICS-344 · KFUPM · Almatrook &amp; Almuhanna</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Shape 1"/>
          <p:cNvSpPr/>
          <p:nvPr/>
        </p:nvSpPr>
        <p:spPr>
          <a:xfrm>
            <a:off x="274320" y="128016"/>
            <a:ext cx="1005840" cy="411480"/>
          </a:xfrm>
          <a:prstGeom prst="rect">
            <a:avLst/>
          </a:prstGeom>
          <a:solidFill>
            <a:srgbClr val="00C2C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 name="Text 2"/>
          <p:cNvSpPr/>
          <p:nvPr/>
        </p:nvSpPr>
        <p:spPr>
          <a:xfrm>
            <a:off x="274320" y="128016"/>
            <a:ext cx="1005840" cy="41148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L2</a:t>
            </a:r>
            <a:endParaRPr lang="en-US" sz="1300" dirty="0"/>
          </a:p>
        </p:txBody>
      </p:sp>
      <p:sp>
        <p:nvSpPr>
          <p:cNvPr id="5" name="Text 3"/>
          <p:cNvSpPr/>
          <p:nvPr/>
        </p:nvSpPr>
        <p:spPr>
          <a:xfrm>
            <a:off x="1417320" y="128016"/>
            <a:ext cx="7406640" cy="411480"/>
          </a:xfrm>
          <a:prstGeom prst="rect">
            <a:avLst/>
          </a:prstGeom>
          <a:noFill/>
          <a:ln/>
        </p:spPr>
        <p:txBody>
          <a:bodyPr wrap="square" rtlCol="0" anchor="ctr"/>
          <a:lstStyle/>
          <a:p>
            <a:pPr indent="0" marL="0">
              <a:buNone/>
            </a:pPr>
            <a:r>
              <a:rPr lang="en-US" sz="2000" b="1" dirty="0">
                <a:solidFill>
                  <a:srgbClr val="F0F4F8"/>
                </a:solidFill>
                <a:latin typeface="Arial Black" pitchFamily="34" charset="0"/>
                <a:ea typeface="Arial Black" pitchFamily="34" charset="-122"/>
                <a:cs typeface="Arial Black" pitchFamily="34" charset="-120"/>
              </a:rPr>
              <a:t>Broken Authentication — JWT Forgery</a:t>
            </a:r>
            <a:endParaRPr lang="en-US" sz="2000" dirty="0"/>
          </a:p>
        </p:txBody>
      </p:sp>
      <p:sp>
        <p:nvSpPr>
          <p:cNvPr id="6" name="Shape 4"/>
          <p:cNvSpPr/>
          <p:nvPr/>
        </p:nvSpPr>
        <p:spPr>
          <a:xfrm>
            <a:off x="27432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7" name="Shape 5"/>
          <p:cNvSpPr/>
          <p:nvPr/>
        </p:nvSpPr>
        <p:spPr>
          <a:xfrm>
            <a:off x="274320" y="658368"/>
            <a:ext cx="64008" cy="640080"/>
          </a:xfrm>
          <a:prstGeom prst="rect">
            <a:avLst/>
          </a:prstGeom>
          <a:solidFill>
            <a:srgbClr val="00C2CB"/>
          </a:solidFill>
          <a:ln w="12700">
            <a:solidFill>
              <a:srgbClr val="00C2CB"/>
            </a:solidFill>
            <a:prstDash val="solid"/>
          </a:ln>
        </p:spPr>
      </p:sp>
      <p:sp>
        <p:nvSpPr>
          <p:cNvPr id="8" name="Text 6"/>
          <p:cNvSpPr/>
          <p:nvPr/>
        </p:nvSpPr>
        <p:spPr>
          <a:xfrm>
            <a:off x="38404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Affected Component</a:t>
            </a:r>
            <a:endParaRPr lang="en-US" sz="800" dirty="0"/>
          </a:p>
        </p:txBody>
      </p:sp>
      <p:sp>
        <p:nvSpPr>
          <p:cNvPr id="9" name="Text 7"/>
          <p:cNvSpPr/>
          <p:nvPr/>
        </p:nvSpPr>
        <p:spPr>
          <a:xfrm>
            <a:off x="384048" y="859536"/>
            <a:ext cx="4023360" cy="420624"/>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API Gateway → Lambda (DVSA-ORDER-MANAGER) → DynamoDB</a:t>
            </a:r>
            <a:endParaRPr lang="en-US" sz="1050" dirty="0"/>
          </a:p>
        </p:txBody>
      </p:sp>
      <p:sp>
        <p:nvSpPr>
          <p:cNvPr id="10" name="Shape 8"/>
          <p:cNvSpPr/>
          <p:nvPr/>
        </p:nvSpPr>
        <p:spPr>
          <a:xfrm>
            <a:off x="470916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709160" y="658368"/>
            <a:ext cx="64008" cy="640080"/>
          </a:xfrm>
          <a:prstGeom prst="rect">
            <a:avLst/>
          </a:prstGeom>
          <a:solidFill>
            <a:srgbClr val="E84855"/>
          </a:solidFill>
          <a:ln w="12700">
            <a:solidFill>
              <a:srgbClr val="E84855"/>
            </a:solidFill>
            <a:prstDash val="solid"/>
          </a:ln>
        </p:spPr>
      </p:sp>
      <p:sp>
        <p:nvSpPr>
          <p:cNvPr id="12" name="Text 10"/>
          <p:cNvSpPr/>
          <p:nvPr/>
        </p:nvSpPr>
        <p:spPr>
          <a:xfrm>
            <a:off x="481888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Security Impact</a:t>
            </a:r>
            <a:endParaRPr lang="en-US" sz="800" dirty="0"/>
          </a:p>
        </p:txBody>
      </p:sp>
      <p:sp>
        <p:nvSpPr>
          <p:cNvPr id="13" name="Text 11"/>
          <p:cNvSpPr/>
          <p:nvPr/>
        </p:nvSpPr>
        <p:spPr>
          <a:xfrm>
            <a:off x="4818888" y="859536"/>
            <a:ext cx="4023360" cy="420624"/>
          </a:xfrm>
          <a:prstGeom prst="rect">
            <a:avLst/>
          </a:prstGeom>
          <a:noFill/>
          <a:ln/>
        </p:spPr>
        <p:txBody>
          <a:bodyPr wrap="square" rtlCol="0" anchor="ctr"/>
          <a:lstStyle/>
          <a:p>
            <a:pPr indent="0" marL="0">
              <a:buNone/>
            </a:pPr>
            <a:r>
              <a:rPr lang="en-US" sz="1050" dirty="0">
                <a:solidFill>
                  <a:srgbClr val="E84855"/>
                </a:solidFill>
                <a:latin typeface="Calibri" pitchFamily="34" charset="0"/>
                <a:ea typeface="Calibri" pitchFamily="34" charset="-122"/>
                <a:cs typeface="Calibri" pitchFamily="34" charset="-120"/>
              </a:rPr>
              <a:t>Account impersonation: attacker accesses any victim's order data by forging a JWT</a:t>
            </a:r>
            <a:endParaRPr lang="en-US" sz="1050" dirty="0"/>
          </a:p>
        </p:txBody>
      </p:sp>
      <p:sp>
        <p:nvSpPr>
          <p:cNvPr id="14" name="Shape 12"/>
          <p:cNvSpPr/>
          <p:nvPr/>
        </p:nvSpPr>
        <p:spPr>
          <a:xfrm>
            <a:off x="274320" y="1389888"/>
            <a:ext cx="8595360" cy="65836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274320" y="1389888"/>
            <a:ext cx="64008" cy="658368"/>
          </a:xfrm>
          <a:prstGeom prst="rect">
            <a:avLst/>
          </a:prstGeom>
          <a:solidFill>
            <a:srgbClr val="F4B942"/>
          </a:solidFill>
          <a:ln w="12700">
            <a:solidFill>
              <a:srgbClr val="F4B942"/>
            </a:solidFill>
            <a:prstDash val="solid"/>
          </a:ln>
        </p:spPr>
      </p:sp>
      <p:sp>
        <p:nvSpPr>
          <p:cNvPr id="16" name="Text 14"/>
          <p:cNvSpPr/>
          <p:nvPr/>
        </p:nvSpPr>
        <p:spPr>
          <a:xfrm>
            <a:off x="384048" y="1389888"/>
            <a:ext cx="8458200" cy="219456"/>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Root Cause</a:t>
            </a:r>
            <a:endParaRPr lang="en-US" sz="800" dirty="0"/>
          </a:p>
        </p:txBody>
      </p:sp>
      <p:sp>
        <p:nvSpPr>
          <p:cNvPr id="17" name="Text 15"/>
          <p:cNvSpPr/>
          <p:nvPr/>
        </p:nvSpPr>
        <p:spPr>
          <a:xfrm>
            <a:off x="384048" y="1591056"/>
            <a:ext cx="8458200" cy="438912"/>
          </a:xfrm>
          <a:prstGeom prst="rect">
            <a:avLst/>
          </a:prstGeom>
          <a:noFill/>
          <a:ln/>
        </p:spPr>
        <p:txBody>
          <a:bodyPr wrap="square" rtlCol="0" anchor="ctr"/>
          <a:lstStyle/>
          <a:p>
            <a:pPr indent="0" marL="0">
              <a:buNone/>
            </a:pPr>
            <a:r>
              <a:rPr lang="en-US" sz="1050" dirty="0">
                <a:solidFill>
                  <a:srgbClr val="F4B942"/>
                </a:solidFill>
                <a:latin typeface="Calibri" pitchFamily="34" charset="0"/>
                <a:ea typeface="Calibri" pitchFamily="34" charset="-122"/>
                <a:cs typeface="Calibri" pitchFamily="34" charset="-120"/>
              </a:rPr>
              <a:t>The backend decodes the JWT payload and trusts username/sub claims directly without verifying the cryptographic signature. An attacker can swap identity fields, keep the original signature, and the backend accepts the forged token.</a:t>
            </a:r>
            <a:endParaRPr lang="en-US" sz="1050" dirty="0"/>
          </a:p>
        </p:txBody>
      </p:sp>
      <p:sp>
        <p:nvSpPr>
          <p:cNvPr id="18" name="Shape 16"/>
          <p:cNvSpPr/>
          <p:nvPr/>
        </p:nvSpPr>
        <p:spPr>
          <a:xfrm>
            <a:off x="27432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9" name="Shape 17"/>
          <p:cNvSpPr/>
          <p:nvPr/>
        </p:nvSpPr>
        <p:spPr>
          <a:xfrm>
            <a:off x="274320" y="2148840"/>
            <a:ext cx="64008" cy="1325880"/>
          </a:xfrm>
          <a:prstGeom prst="rect">
            <a:avLst/>
          </a:prstGeom>
          <a:solidFill>
            <a:srgbClr val="00C2CB"/>
          </a:solidFill>
          <a:ln w="12700">
            <a:solidFill>
              <a:srgbClr val="00C2CB"/>
            </a:solidFill>
            <a:prstDash val="solid"/>
          </a:ln>
        </p:spPr>
      </p:sp>
      <p:sp>
        <p:nvSpPr>
          <p:cNvPr id="20" name="Text 18"/>
          <p:cNvSpPr/>
          <p:nvPr/>
        </p:nvSpPr>
        <p:spPr>
          <a:xfrm>
            <a:off x="38404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Reproduction Steps</a:t>
            </a:r>
            <a:endParaRPr lang="en-US" sz="800" dirty="0"/>
          </a:p>
        </p:txBody>
      </p:sp>
      <p:sp>
        <p:nvSpPr>
          <p:cNvPr id="21" name="Text 19"/>
          <p:cNvSpPr/>
          <p:nvPr/>
        </p:nvSpPr>
        <p:spPr>
          <a:xfrm>
            <a:off x="384048" y="2368296"/>
            <a:ext cx="4023360" cy="1088136"/>
          </a:xfrm>
          <a:prstGeom prst="rect">
            <a:avLst/>
          </a:prstGeom>
          <a:noFill/>
          <a:ln/>
        </p:spPr>
        <p:txBody>
          <a:bodyPr wrap="square" rtlCol="0" anchor="ctr"/>
          <a:lstStyle/>
          <a:p>
            <a:pPr indent="0" marL="0">
              <a:buNone/>
            </a:pPr>
            <a:r>
              <a:rPr lang="en-US" sz="1000" dirty="0">
                <a:solidFill>
                  <a:srgbClr val="F0F4F8"/>
                </a:solidFill>
                <a:latin typeface="Calibri" pitchFamily="34" charset="0"/>
                <a:ea typeface="Calibri" pitchFamily="34" charset="-122"/>
                <a:cs typeface="Calibri" pitchFamily="34" charset="-120"/>
              </a:rPr>
              <a:t>1. Capture TOKEN_B and TOKEN_C from DevTools  2. Decode payloads with Python script  3. Replace username/sub with victim's values  4. Re-encode payload, keep original signature  5. Send forged token → receive victim's orders</a:t>
            </a:r>
            <a:endParaRPr lang="en-US" sz="1000" dirty="0"/>
          </a:p>
        </p:txBody>
      </p:sp>
      <p:sp>
        <p:nvSpPr>
          <p:cNvPr id="22" name="Shape 20"/>
          <p:cNvSpPr/>
          <p:nvPr/>
        </p:nvSpPr>
        <p:spPr>
          <a:xfrm>
            <a:off x="470916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3" name="Shape 21"/>
          <p:cNvSpPr/>
          <p:nvPr/>
        </p:nvSpPr>
        <p:spPr>
          <a:xfrm>
            <a:off x="4709160" y="2148840"/>
            <a:ext cx="64008" cy="1325880"/>
          </a:xfrm>
          <a:prstGeom prst="rect">
            <a:avLst/>
          </a:prstGeom>
          <a:solidFill>
            <a:srgbClr val="3BB273"/>
          </a:solidFill>
          <a:ln w="12700">
            <a:solidFill>
              <a:srgbClr val="3BB273"/>
            </a:solidFill>
            <a:prstDash val="solid"/>
          </a:ln>
        </p:spPr>
      </p:sp>
      <p:sp>
        <p:nvSpPr>
          <p:cNvPr id="24" name="Text 22"/>
          <p:cNvSpPr/>
          <p:nvPr/>
        </p:nvSpPr>
        <p:spPr>
          <a:xfrm>
            <a:off x="481888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Fix Strategy</a:t>
            </a:r>
            <a:endParaRPr lang="en-US" sz="800" dirty="0"/>
          </a:p>
        </p:txBody>
      </p:sp>
      <p:sp>
        <p:nvSpPr>
          <p:cNvPr id="25" name="Text 23"/>
          <p:cNvSpPr/>
          <p:nvPr/>
        </p:nvSpPr>
        <p:spPr>
          <a:xfrm>
            <a:off x="4818888" y="2368296"/>
            <a:ext cx="4023360" cy="1088136"/>
          </a:xfrm>
          <a:prstGeom prst="rect">
            <a:avLst/>
          </a:prstGeom>
          <a:noFill/>
          <a:ln/>
        </p:spPr>
        <p:txBody>
          <a:bodyPr wrap="square" rtlCol="0" anchor="ctr"/>
          <a:lstStyle/>
          <a:p>
            <a:pPr indent="0" marL="0">
              <a:buNone/>
            </a:pPr>
            <a:r>
              <a:rPr lang="en-US" sz="1000" dirty="0">
                <a:solidFill>
                  <a:srgbClr val="3BB273"/>
                </a:solidFill>
                <a:latin typeface="Calibri" pitchFamily="34" charset="0"/>
                <a:ea typeface="Calibri" pitchFamily="34" charset="-122"/>
                <a:cs typeface="Calibri" pitchFamily="34" charset="-120"/>
              </a:rPr>
              <a:t>Fetch Cognito JWKS public keys, verify JWT signature with node-jose, validate issuer + expiry claims. Only after successful cryptographic verification extract the user identity. Forged tokens now return HTTP 401.</a:t>
            </a:r>
            <a:endParaRPr lang="en-US" sz="1000" dirty="0"/>
          </a:p>
        </p:txBody>
      </p:sp>
      <p:sp>
        <p:nvSpPr>
          <p:cNvPr id="26" name="Shape 24"/>
          <p:cNvSpPr/>
          <p:nvPr/>
        </p:nvSpPr>
        <p:spPr>
          <a:xfrm>
            <a:off x="274320" y="3566160"/>
            <a:ext cx="8595360" cy="457200"/>
          </a:xfrm>
          <a:prstGeom prst="rect">
            <a:avLst/>
          </a:prstGeom>
          <a:solidFill>
            <a:srgbClr val="12263A"/>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7" name="Shape 25"/>
          <p:cNvSpPr/>
          <p:nvPr/>
        </p:nvSpPr>
        <p:spPr>
          <a:xfrm>
            <a:off x="274320" y="3566160"/>
            <a:ext cx="64008" cy="457200"/>
          </a:xfrm>
          <a:prstGeom prst="rect">
            <a:avLst/>
          </a:prstGeom>
          <a:solidFill>
            <a:srgbClr val="F4B942"/>
          </a:solidFill>
          <a:ln w="12700">
            <a:solidFill>
              <a:srgbClr val="F4B942"/>
            </a:solidFill>
            <a:prstDash val="solid"/>
          </a:ln>
        </p:spPr>
      </p:sp>
      <p:sp>
        <p:nvSpPr>
          <p:cNvPr id="28" name="Text 26"/>
          <p:cNvSpPr/>
          <p:nvPr/>
        </p:nvSpPr>
        <p:spPr>
          <a:xfrm>
            <a:off x="384048" y="3566160"/>
            <a:ext cx="8458200" cy="457200"/>
          </a:xfrm>
          <a:prstGeom prst="rect">
            <a:avLst/>
          </a:prstGeom>
          <a:noFill/>
          <a:ln/>
        </p:spPr>
        <p:txBody>
          <a:bodyPr wrap="square" rtlCol="0" anchor="ctr"/>
          <a:lstStyle/>
          <a:p>
            <a:pPr indent="0" marL="0">
              <a:buNone/>
            </a:pPr>
            <a:r>
              <a:rPr lang="en-US" sz="1000" dirty="0">
                <a:solidFill>
                  <a:srgbClr val="8FA8BF"/>
                </a:solidFill>
                <a:latin typeface="Calibri" pitchFamily="34" charset="0"/>
                <a:ea typeface="Calibri" pitchFamily="34" charset="-122"/>
                <a:cs typeface="Calibri" pitchFamily="34" charset="-120"/>
              </a:rPr>
              <a:t>Deviation Class  ·  </a:t>
            </a:r>
            <a:endParaRPr lang="en-US" sz="1000" dirty="0"/>
          </a:p>
        </p:txBody>
      </p:sp>
      <p:sp>
        <p:nvSpPr>
          <p:cNvPr id="29" name="Text 27"/>
          <p:cNvSpPr/>
          <p:nvPr/>
        </p:nvSpPr>
        <p:spPr>
          <a:xfrm>
            <a:off x="2240280" y="3566160"/>
            <a:ext cx="6583680" cy="457200"/>
          </a:xfrm>
          <a:prstGeom prst="rect">
            <a:avLst/>
          </a:prstGeom>
          <a:noFill/>
          <a:ln/>
        </p:spPr>
        <p:txBody>
          <a:bodyPr wrap="square" rtlCol="0" anchor="ctr"/>
          <a:lstStyle/>
          <a:p>
            <a:pPr indent="0" marL="0">
              <a:buNone/>
            </a:pPr>
            <a:r>
              <a:rPr lang="en-US" sz="1000" b="1" dirty="0">
                <a:solidFill>
                  <a:srgbClr val="F4B942"/>
                </a:solidFill>
                <a:latin typeface="Calibri" pitchFamily="34" charset="0"/>
                <a:ea typeface="Calibri" pitchFamily="34" charset="-122"/>
                <a:cs typeface="Calibri" pitchFamily="34" charset="-120"/>
              </a:rPr>
              <a:t>Intentional Misuse / Security-Relevant Abuse</a:t>
            </a:r>
            <a:endParaRPr lang="en-US" sz="1000" dirty="0"/>
          </a:p>
        </p:txBody>
      </p:sp>
      <p:sp>
        <p:nvSpPr>
          <p:cNvPr id="30" name="Shape 28"/>
          <p:cNvSpPr/>
          <p:nvPr/>
        </p:nvSpPr>
        <p:spPr>
          <a:xfrm>
            <a:off x="0" y="5056632"/>
            <a:ext cx="9144000" cy="91440"/>
          </a:xfrm>
          <a:prstGeom prst="rect">
            <a:avLst/>
          </a:prstGeom>
          <a:solidFill>
            <a:srgbClr val="00C2CB"/>
          </a:solidFill>
          <a:ln w="12700">
            <a:solidFill>
              <a:srgbClr val="00C2CB"/>
            </a:solidFill>
            <a:prstDash val="solid"/>
          </a:ln>
        </p:spPr>
      </p:sp>
      <p:sp>
        <p:nvSpPr>
          <p:cNvPr id="31" name="Text 29"/>
          <p:cNvSpPr/>
          <p:nvPr/>
        </p:nvSpPr>
        <p:spPr>
          <a:xfrm>
            <a:off x="0" y="4855464"/>
            <a:ext cx="9144000" cy="219456"/>
          </a:xfrm>
          <a:prstGeom prst="rect">
            <a:avLst/>
          </a:prstGeom>
          <a:noFill/>
          <a:ln/>
        </p:spPr>
        <p:txBody>
          <a:bodyPr wrap="square" rtlCol="0" anchor="ctr"/>
          <a:lstStyle/>
          <a:p>
            <a:pPr algn="ctr" indent="0" marL="0">
              <a:buNone/>
            </a:pPr>
            <a:r>
              <a:rPr lang="en-US" sz="800" dirty="0">
                <a:solidFill>
                  <a:srgbClr val="8FA8BF"/>
                </a:solidFill>
                <a:latin typeface="Calibri" pitchFamily="34" charset="0"/>
                <a:ea typeface="Calibri" pitchFamily="34" charset="-122"/>
                <a:cs typeface="Calibri" pitchFamily="34" charset="-120"/>
              </a:rPr>
              <a:t>ICS-344 · KFUPM · Almatrook &amp; Almuhanna</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Shape 1"/>
          <p:cNvSpPr/>
          <p:nvPr/>
        </p:nvSpPr>
        <p:spPr>
          <a:xfrm>
            <a:off x="274320" y="128016"/>
            <a:ext cx="1005840" cy="411480"/>
          </a:xfrm>
          <a:prstGeom prst="rect">
            <a:avLst/>
          </a:prstGeom>
          <a:solidFill>
            <a:srgbClr val="00C2C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 name="Text 2"/>
          <p:cNvSpPr/>
          <p:nvPr/>
        </p:nvSpPr>
        <p:spPr>
          <a:xfrm>
            <a:off x="274320" y="128016"/>
            <a:ext cx="1005840" cy="41148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L3</a:t>
            </a:r>
            <a:endParaRPr lang="en-US" sz="1300" dirty="0"/>
          </a:p>
        </p:txBody>
      </p:sp>
      <p:sp>
        <p:nvSpPr>
          <p:cNvPr id="5" name="Text 3"/>
          <p:cNvSpPr/>
          <p:nvPr/>
        </p:nvSpPr>
        <p:spPr>
          <a:xfrm>
            <a:off x="1417320" y="128016"/>
            <a:ext cx="7406640" cy="411480"/>
          </a:xfrm>
          <a:prstGeom prst="rect">
            <a:avLst/>
          </a:prstGeom>
          <a:noFill/>
          <a:ln/>
        </p:spPr>
        <p:txBody>
          <a:bodyPr wrap="square" rtlCol="0" anchor="ctr"/>
          <a:lstStyle/>
          <a:p>
            <a:pPr indent="0" marL="0">
              <a:buNone/>
            </a:pPr>
            <a:r>
              <a:rPr lang="en-US" sz="2000" b="1" dirty="0">
                <a:solidFill>
                  <a:srgbClr val="F0F4F8"/>
                </a:solidFill>
                <a:latin typeface="Arial Black" pitchFamily="34" charset="0"/>
                <a:ea typeface="Arial Black" pitchFamily="34" charset="-122"/>
                <a:cs typeface="Arial Black" pitchFamily="34" charset="-120"/>
              </a:rPr>
              <a:t>Sensitive Data Exposure</a:t>
            </a:r>
            <a:endParaRPr lang="en-US" sz="2000" dirty="0"/>
          </a:p>
        </p:txBody>
      </p:sp>
      <p:sp>
        <p:nvSpPr>
          <p:cNvPr id="6" name="Shape 4"/>
          <p:cNvSpPr/>
          <p:nvPr/>
        </p:nvSpPr>
        <p:spPr>
          <a:xfrm>
            <a:off x="27432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7" name="Shape 5"/>
          <p:cNvSpPr/>
          <p:nvPr/>
        </p:nvSpPr>
        <p:spPr>
          <a:xfrm>
            <a:off x="274320" y="658368"/>
            <a:ext cx="64008" cy="640080"/>
          </a:xfrm>
          <a:prstGeom prst="rect">
            <a:avLst/>
          </a:prstGeom>
          <a:solidFill>
            <a:srgbClr val="00C2CB"/>
          </a:solidFill>
          <a:ln w="12700">
            <a:solidFill>
              <a:srgbClr val="00C2CB"/>
            </a:solidFill>
            <a:prstDash val="solid"/>
          </a:ln>
        </p:spPr>
      </p:sp>
      <p:sp>
        <p:nvSpPr>
          <p:cNvPr id="8" name="Text 6"/>
          <p:cNvSpPr/>
          <p:nvPr/>
        </p:nvSpPr>
        <p:spPr>
          <a:xfrm>
            <a:off x="38404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Affected Component</a:t>
            </a:r>
            <a:endParaRPr lang="en-US" sz="800" dirty="0"/>
          </a:p>
        </p:txBody>
      </p:sp>
      <p:sp>
        <p:nvSpPr>
          <p:cNvPr id="9" name="Text 7"/>
          <p:cNvSpPr/>
          <p:nvPr/>
        </p:nvSpPr>
        <p:spPr>
          <a:xfrm>
            <a:off x="384048" y="859536"/>
            <a:ext cx="4023360" cy="420624"/>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API Gateway → Lambda (DVSA-USER-ORDERS)</a:t>
            </a:r>
            <a:endParaRPr lang="en-US" sz="1050" dirty="0"/>
          </a:p>
        </p:txBody>
      </p:sp>
      <p:sp>
        <p:nvSpPr>
          <p:cNvPr id="10" name="Shape 8"/>
          <p:cNvSpPr/>
          <p:nvPr/>
        </p:nvSpPr>
        <p:spPr>
          <a:xfrm>
            <a:off x="470916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709160" y="658368"/>
            <a:ext cx="64008" cy="640080"/>
          </a:xfrm>
          <a:prstGeom prst="rect">
            <a:avLst/>
          </a:prstGeom>
          <a:solidFill>
            <a:srgbClr val="E84855"/>
          </a:solidFill>
          <a:ln w="12700">
            <a:solidFill>
              <a:srgbClr val="E84855"/>
            </a:solidFill>
            <a:prstDash val="solid"/>
          </a:ln>
        </p:spPr>
      </p:sp>
      <p:sp>
        <p:nvSpPr>
          <p:cNvPr id="12" name="Text 10"/>
          <p:cNvSpPr/>
          <p:nvPr/>
        </p:nvSpPr>
        <p:spPr>
          <a:xfrm>
            <a:off x="481888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Security Impact</a:t>
            </a:r>
            <a:endParaRPr lang="en-US" sz="800" dirty="0"/>
          </a:p>
        </p:txBody>
      </p:sp>
      <p:sp>
        <p:nvSpPr>
          <p:cNvPr id="13" name="Text 11"/>
          <p:cNvSpPr/>
          <p:nvPr/>
        </p:nvSpPr>
        <p:spPr>
          <a:xfrm>
            <a:off x="4818888" y="859536"/>
            <a:ext cx="4023360" cy="420624"/>
          </a:xfrm>
          <a:prstGeom prst="rect">
            <a:avLst/>
          </a:prstGeom>
          <a:noFill/>
          <a:ln/>
        </p:spPr>
        <p:txBody>
          <a:bodyPr wrap="square" rtlCol="0" anchor="ctr"/>
          <a:lstStyle/>
          <a:p>
            <a:pPr indent="0" marL="0">
              <a:buNone/>
            </a:pPr>
            <a:r>
              <a:rPr lang="en-US" sz="1050" dirty="0">
                <a:solidFill>
                  <a:srgbClr val="E84855"/>
                </a:solidFill>
                <a:latin typeface="Calibri" pitchFamily="34" charset="0"/>
                <a:ea typeface="Calibri" pitchFamily="34" charset="-122"/>
                <a:cs typeface="Calibri" pitchFamily="34" charset="-120"/>
              </a:rPr>
              <a:t>Internal confirmationToken exposed in every order response to any authenticated user</a:t>
            </a:r>
            <a:endParaRPr lang="en-US" sz="1050" dirty="0"/>
          </a:p>
        </p:txBody>
      </p:sp>
      <p:sp>
        <p:nvSpPr>
          <p:cNvPr id="14" name="Shape 12"/>
          <p:cNvSpPr/>
          <p:nvPr/>
        </p:nvSpPr>
        <p:spPr>
          <a:xfrm>
            <a:off x="274320" y="1389888"/>
            <a:ext cx="8595360" cy="65836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274320" y="1389888"/>
            <a:ext cx="64008" cy="658368"/>
          </a:xfrm>
          <a:prstGeom prst="rect">
            <a:avLst/>
          </a:prstGeom>
          <a:solidFill>
            <a:srgbClr val="F4B942"/>
          </a:solidFill>
          <a:ln w="12700">
            <a:solidFill>
              <a:srgbClr val="F4B942"/>
            </a:solidFill>
            <a:prstDash val="solid"/>
          </a:ln>
        </p:spPr>
      </p:sp>
      <p:sp>
        <p:nvSpPr>
          <p:cNvPr id="16" name="Text 14"/>
          <p:cNvSpPr/>
          <p:nvPr/>
        </p:nvSpPr>
        <p:spPr>
          <a:xfrm>
            <a:off x="384048" y="1389888"/>
            <a:ext cx="8458200" cy="219456"/>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Root Cause</a:t>
            </a:r>
            <a:endParaRPr lang="en-US" sz="800" dirty="0"/>
          </a:p>
        </p:txBody>
      </p:sp>
      <p:sp>
        <p:nvSpPr>
          <p:cNvPr id="17" name="Text 15"/>
          <p:cNvSpPr/>
          <p:nvPr/>
        </p:nvSpPr>
        <p:spPr>
          <a:xfrm>
            <a:off x="384048" y="1591056"/>
            <a:ext cx="8458200" cy="438912"/>
          </a:xfrm>
          <a:prstGeom prst="rect">
            <a:avLst/>
          </a:prstGeom>
          <a:noFill/>
          <a:ln/>
        </p:spPr>
        <p:txBody>
          <a:bodyPr wrap="square" rtlCol="0" anchor="ctr"/>
          <a:lstStyle/>
          <a:p>
            <a:pPr indent="0" marL="0">
              <a:buNone/>
            </a:pPr>
            <a:r>
              <a:rPr lang="en-US" sz="1050" dirty="0">
                <a:solidFill>
                  <a:srgbClr val="F4B942"/>
                </a:solidFill>
                <a:latin typeface="Calibri" pitchFamily="34" charset="0"/>
                <a:ea typeface="Calibri" pitchFamily="34" charset="-122"/>
                <a:cs typeface="Calibri" pitchFamily="34" charset="-120"/>
              </a:rPr>
              <a:t>The order-query Lambda returns the raw DynamoDB record to the client without filtering sensitive internal fields. The confirmationToken is a receipt-workflow identifier that should never leave the backend — no server-side field filtering is applied.</a:t>
            </a:r>
            <a:endParaRPr lang="en-US" sz="1050" dirty="0"/>
          </a:p>
        </p:txBody>
      </p:sp>
      <p:sp>
        <p:nvSpPr>
          <p:cNvPr id="18" name="Shape 16"/>
          <p:cNvSpPr/>
          <p:nvPr/>
        </p:nvSpPr>
        <p:spPr>
          <a:xfrm>
            <a:off x="27432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9" name="Shape 17"/>
          <p:cNvSpPr/>
          <p:nvPr/>
        </p:nvSpPr>
        <p:spPr>
          <a:xfrm>
            <a:off x="274320" y="2148840"/>
            <a:ext cx="64008" cy="1325880"/>
          </a:xfrm>
          <a:prstGeom prst="rect">
            <a:avLst/>
          </a:prstGeom>
          <a:solidFill>
            <a:srgbClr val="00C2CB"/>
          </a:solidFill>
          <a:ln w="12700">
            <a:solidFill>
              <a:srgbClr val="00C2CB"/>
            </a:solidFill>
            <a:prstDash val="solid"/>
          </a:ln>
        </p:spPr>
      </p:sp>
      <p:sp>
        <p:nvSpPr>
          <p:cNvPr id="20" name="Text 18"/>
          <p:cNvSpPr/>
          <p:nvPr/>
        </p:nvSpPr>
        <p:spPr>
          <a:xfrm>
            <a:off x="38404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Reproduction Steps</a:t>
            </a:r>
            <a:endParaRPr lang="en-US" sz="800" dirty="0"/>
          </a:p>
        </p:txBody>
      </p:sp>
      <p:sp>
        <p:nvSpPr>
          <p:cNvPr id="21" name="Text 19"/>
          <p:cNvSpPr/>
          <p:nvPr/>
        </p:nvSpPr>
        <p:spPr>
          <a:xfrm>
            <a:off x="384048" y="2368296"/>
            <a:ext cx="4023360" cy="1088136"/>
          </a:xfrm>
          <a:prstGeom prst="rect">
            <a:avLst/>
          </a:prstGeom>
          <a:noFill/>
          <a:ln/>
        </p:spPr>
        <p:txBody>
          <a:bodyPr wrap="square" rtlCol="0" anchor="ctr"/>
          <a:lstStyle/>
          <a:p>
            <a:pPr indent="0" marL="0">
              <a:buNone/>
            </a:pPr>
            <a:r>
              <a:rPr lang="en-US" sz="1000" dirty="0">
                <a:solidFill>
                  <a:srgbClr val="F0F4F8"/>
                </a:solidFill>
                <a:latin typeface="Calibri" pitchFamily="34" charset="0"/>
                <a:ea typeface="Calibri" pitchFamily="34" charset="-122"/>
                <a:cs typeface="Calibri" pitchFamily="34" charset="-120"/>
              </a:rPr>
              <a:t>1. Login as normal user  2. Navigate to Orders and open DevTools Network tab  3. Call Orders API: curl POST action=orders  4. Observe token field in response JSON alongside order data</a:t>
            </a:r>
            <a:endParaRPr lang="en-US" sz="1000" dirty="0"/>
          </a:p>
        </p:txBody>
      </p:sp>
      <p:sp>
        <p:nvSpPr>
          <p:cNvPr id="22" name="Shape 20"/>
          <p:cNvSpPr/>
          <p:nvPr/>
        </p:nvSpPr>
        <p:spPr>
          <a:xfrm>
            <a:off x="470916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3" name="Shape 21"/>
          <p:cNvSpPr/>
          <p:nvPr/>
        </p:nvSpPr>
        <p:spPr>
          <a:xfrm>
            <a:off x="4709160" y="2148840"/>
            <a:ext cx="64008" cy="1325880"/>
          </a:xfrm>
          <a:prstGeom prst="rect">
            <a:avLst/>
          </a:prstGeom>
          <a:solidFill>
            <a:srgbClr val="3BB273"/>
          </a:solidFill>
          <a:ln w="12700">
            <a:solidFill>
              <a:srgbClr val="3BB273"/>
            </a:solidFill>
            <a:prstDash val="solid"/>
          </a:ln>
        </p:spPr>
      </p:sp>
      <p:sp>
        <p:nvSpPr>
          <p:cNvPr id="24" name="Text 22"/>
          <p:cNvSpPr/>
          <p:nvPr/>
        </p:nvSpPr>
        <p:spPr>
          <a:xfrm>
            <a:off x="481888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Fix Strategy</a:t>
            </a:r>
            <a:endParaRPr lang="en-US" sz="800" dirty="0"/>
          </a:p>
        </p:txBody>
      </p:sp>
      <p:sp>
        <p:nvSpPr>
          <p:cNvPr id="25" name="Text 23"/>
          <p:cNvSpPr/>
          <p:nvPr/>
        </p:nvSpPr>
        <p:spPr>
          <a:xfrm>
            <a:off x="4818888" y="2368296"/>
            <a:ext cx="4023360" cy="1088136"/>
          </a:xfrm>
          <a:prstGeom prst="rect">
            <a:avLst/>
          </a:prstGeom>
          <a:noFill/>
          <a:ln/>
        </p:spPr>
        <p:txBody>
          <a:bodyPr wrap="square" rtlCol="0" anchor="ctr"/>
          <a:lstStyle/>
          <a:p>
            <a:pPr indent="0" marL="0">
              <a:buNone/>
            </a:pPr>
            <a:r>
              <a:rPr lang="en-US" sz="1000" dirty="0">
                <a:solidFill>
                  <a:srgbClr val="3BB273"/>
                </a:solidFill>
                <a:latin typeface="Calibri" pitchFamily="34" charset="0"/>
                <a:ea typeface="Calibri" pitchFamily="34" charset="-122"/>
                <a:cs typeface="Calibri" pitchFamily="34" charset="-120"/>
              </a:rPr>
              <a:t>Strip internal fields (token, confirmationToken) server-side before returning the response. Apply principle of least exposure: return only fields the frontend legitimately requires. Verify token field is absent in post-fix API response.</a:t>
            </a:r>
            <a:endParaRPr lang="en-US" sz="1000" dirty="0"/>
          </a:p>
        </p:txBody>
      </p:sp>
      <p:sp>
        <p:nvSpPr>
          <p:cNvPr id="26" name="Shape 24"/>
          <p:cNvSpPr/>
          <p:nvPr/>
        </p:nvSpPr>
        <p:spPr>
          <a:xfrm>
            <a:off x="274320" y="3566160"/>
            <a:ext cx="8595360" cy="457200"/>
          </a:xfrm>
          <a:prstGeom prst="rect">
            <a:avLst/>
          </a:prstGeom>
          <a:solidFill>
            <a:srgbClr val="12263A"/>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7" name="Shape 25"/>
          <p:cNvSpPr/>
          <p:nvPr/>
        </p:nvSpPr>
        <p:spPr>
          <a:xfrm>
            <a:off x="274320" y="3566160"/>
            <a:ext cx="64008" cy="457200"/>
          </a:xfrm>
          <a:prstGeom prst="rect">
            <a:avLst/>
          </a:prstGeom>
          <a:solidFill>
            <a:srgbClr val="F4B942"/>
          </a:solidFill>
          <a:ln w="12700">
            <a:solidFill>
              <a:srgbClr val="F4B942"/>
            </a:solidFill>
            <a:prstDash val="solid"/>
          </a:ln>
        </p:spPr>
      </p:sp>
      <p:sp>
        <p:nvSpPr>
          <p:cNvPr id="28" name="Text 26"/>
          <p:cNvSpPr/>
          <p:nvPr/>
        </p:nvSpPr>
        <p:spPr>
          <a:xfrm>
            <a:off x="384048" y="3566160"/>
            <a:ext cx="8458200" cy="457200"/>
          </a:xfrm>
          <a:prstGeom prst="rect">
            <a:avLst/>
          </a:prstGeom>
          <a:noFill/>
          <a:ln/>
        </p:spPr>
        <p:txBody>
          <a:bodyPr wrap="square" rtlCol="0" anchor="ctr"/>
          <a:lstStyle/>
          <a:p>
            <a:pPr indent="0" marL="0">
              <a:buNone/>
            </a:pPr>
            <a:r>
              <a:rPr lang="en-US" sz="1000" dirty="0">
                <a:solidFill>
                  <a:srgbClr val="8FA8BF"/>
                </a:solidFill>
                <a:latin typeface="Calibri" pitchFamily="34" charset="0"/>
                <a:ea typeface="Calibri" pitchFamily="34" charset="-122"/>
                <a:cs typeface="Calibri" pitchFamily="34" charset="-120"/>
              </a:rPr>
              <a:t>Deviation Class  ·  </a:t>
            </a:r>
            <a:endParaRPr lang="en-US" sz="1000" dirty="0"/>
          </a:p>
        </p:txBody>
      </p:sp>
      <p:sp>
        <p:nvSpPr>
          <p:cNvPr id="29" name="Text 27"/>
          <p:cNvSpPr/>
          <p:nvPr/>
        </p:nvSpPr>
        <p:spPr>
          <a:xfrm>
            <a:off x="2240280" y="3566160"/>
            <a:ext cx="6583680" cy="457200"/>
          </a:xfrm>
          <a:prstGeom prst="rect">
            <a:avLst/>
          </a:prstGeom>
          <a:noFill/>
          <a:ln/>
        </p:spPr>
        <p:txBody>
          <a:bodyPr wrap="square" rtlCol="0" anchor="ctr"/>
          <a:lstStyle/>
          <a:p>
            <a:pPr indent="0" marL="0">
              <a:buNone/>
            </a:pPr>
            <a:r>
              <a:rPr lang="en-US" sz="1000" b="1" dirty="0">
                <a:solidFill>
                  <a:srgbClr val="F4B942"/>
                </a:solidFill>
                <a:latin typeface="Calibri" pitchFamily="34" charset="0"/>
                <a:ea typeface="Calibri" pitchFamily="34" charset="-122"/>
                <a:cs typeface="Calibri" pitchFamily="34" charset="-120"/>
              </a:rPr>
              <a:t>Intentional Misuse / Security-Relevant Abuse</a:t>
            </a:r>
            <a:endParaRPr lang="en-US" sz="1000" dirty="0"/>
          </a:p>
        </p:txBody>
      </p:sp>
      <p:sp>
        <p:nvSpPr>
          <p:cNvPr id="30" name="Shape 28"/>
          <p:cNvSpPr/>
          <p:nvPr/>
        </p:nvSpPr>
        <p:spPr>
          <a:xfrm>
            <a:off x="0" y="5056632"/>
            <a:ext cx="9144000" cy="91440"/>
          </a:xfrm>
          <a:prstGeom prst="rect">
            <a:avLst/>
          </a:prstGeom>
          <a:solidFill>
            <a:srgbClr val="00C2CB"/>
          </a:solidFill>
          <a:ln w="12700">
            <a:solidFill>
              <a:srgbClr val="00C2CB"/>
            </a:solidFill>
            <a:prstDash val="solid"/>
          </a:ln>
        </p:spPr>
      </p:sp>
      <p:sp>
        <p:nvSpPr>
          <p:cNvPr id="31" name="Text 29"/>
          <p:cNvSpPr/>
          <p:nvPr/>
        </p:nvSpPr>
        <p:spPr>
          <a:xfrm>
            <a:off x="0" y="4855464"/>
            <a:ext cx="9144000" cy="219456"/>
          </a:xfrm>
          <a:prstGeom prst="rect">
            <a:avLst/>
          </a:prstGeom>
          <a:noFill/>
          <a:ln/>
        </p:spPr>
        <p:txBody>
          <a:bodyPr wrap="square" rtlCol="0" anchor="ctr"/>
          <a:lstStyle/>
          <a:p>
            <a:pPr algn="ctr" indent="0" marL="0">
              <a:buNone/>
            </a:pPr>
            <a:r>
              <a:rPr lang="en-US" sz="800" dirty="0">
                <a:solidFill>
                  <a:srgbClr val="8FA8BF"/>
                </a:solidFill>
                <a:latin typeface="Calibri" pitchFamily="34" charset="0"/>
                <a:ea typeface="Calibri" pitchFamily="34" charset="-122"/>
                <a:cs typeface="Calibri" pitchFamily="34" charset="-120"/>
              </a:rPr>
              <a:t>ICS-344 · KFUPM · Almatrook &amp; Almuhanna</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Shape 1"/>
          <p:cNvSpPr/>
          <p:nvPr/>
        </p:nvSpPr>
        <p:spPr>
          <a:xfrm>
            <a:off x="274320" y="128016"/>
            <a:ext cx="1005840" cy="411480"/>
          </a:xfrm>
          <a:prstGeom prst="rect">
            <a:avLst/>
          </a:prstGeom>
          <a:solidFill>
            <a:srgbClr val="00C2C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 name="Text 2"/>
          <p:cNvSpPr/>
          <p:nvPr/>
        </p:nvSpPr>
        <p:spPr>
          <a:xfrm>
            <a:off x="274320" y="128016"/>
            <a:ext cx="1005840" cy="41148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L4</a:t>
            </a:r>
            <a:endParaRPr lang="en-US" sz="1300" dirty="0"/>
          </a:p>
        </p:txBody>
      </p:sp>
      <p:sp>
        <p:nvSpPr>
          <p:cNvPr id="5" name="Text 3"/>
          <p:cNvSpPr/>
          <p:nvPr/>
        </p:nvSpPr>
        <p:spPr>
          <a:xfrm>
            <a:off x="1417320" y="128016"/>
            <a:ext cx="7406640" cy="411480"/>
          </a:xfrm>
          <a:prstGeom prst="rect">
            <a:avLst/>
          </a:prstGeom>
          <a:noFill/>
          <a:ln/>
        </p:spPr>
        <p:txBody>
          <a:bodyPr wrap="square" rtlCol="0" anchor="ctr"/>
          <a:lstStyle/>
          <a:p>
            <a:pPr indent="0" marL="0">
              <a:buNone/>
            </a:pPr>
            <a:r>
              <a:rPr lang="en-US" sz="2000" b="1" dirty="0">
                <a:solidFill>
                  <a:srgbClr val="F0F4F8"/>
                </a:solidFill>
                <a:latin typeface="Arial Black" pitchFamily="34" charset="0"/>
                <a:ea typeface="Arial Black" pitchFamily="34" charset="-122"/>
                <a:cs typeface="Arial Black" pitchFamily="34" charset="-120"/>
              </a:rPr>
              <a:t>Insecure Cloud Configuration — S3 Bucket</a:t>
            </a:r>
            <a:endParaRPr lang="en-US" sz="2000" dirty="0"/>
          </a:p>
        </p:txBody>
      </p:sp>
      <p:sp>
        <p:nvSpPr>
          <p:cNvPr id="6" name="Shape 4"/>
          <p:cNvSpPr/>
          <p:nvPr/>
        </p:nvSpPr>
        <p:spPr>
          <a:xfrm>
            <a:off x="27432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7" name="Shape 5"/>
          <p:cNvSpPr/>
          <p:nvPr/>
        </p:nvSpPr>
        <p:spPr>
          <a:xfrm>
            <a:off x="274320" y="658368"/>
            <a:ext cx="64008" cy="640080"/>
          </a:xfrm>
          <a:prstGeom prst="rect">
            <a:avLst/>
          </a:prstGeom>
          <a:solidFill>
            <a:srgbClr val="00C2CB"/>
          </a:solidFill>
          <a:ln w="12700">
            <a:solidFill>
              <a:srgbClr val="00C2CB"/>
            </a:solidFill>
            <a:prstDash val="solid"/>
          </a:ln>
        </p:spPr>
      </p:sp>
      <p:sp>
        <p:nvSpPr>
          <p:cNvPr id="8" name="Text 6"/>
          <p:cNvSpPr/>
          <p:nvPr/>
        </p:nvSpPr>
        <p:spPr>
          <a:xfrm>
            <a:off x="38404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Affected Component</a:t>
            </a:r>
            <a:endParaRPr lang="en-US" sz="800" dirty="0"/>
          </a:p>
        </p:txBody>
      </p:sp>
      <p:sp>
        <p:nvSpPr>
          <p:cNvPr id="9" name="Text 7"/>
          <p:cNvSpPr/>
          <p:nvPr/>
        </p:nvSpPr>
        <p:spPr>
          <a:xfrm>
            <a:off x="384048" y="859536"/>
            <a:ext cx="4023360" cy="420624"/>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Amazon S3 (dvsa-receipts-bucket) · DVSA-SEND-RECEIPT-EMAIL Lambda</a:t>
            </a:r>
            <a:endParaRPr lang="en-US" sz="1050" dirty="0"/>
          </a:p>
        </p:txBody>
      </p:sp>
      <p:sp>
        <p:nvSpPr>
          <p:cNvPr id="10" name="Shape 8"/>
          <p:cNvSpPr/>
          <p:nvPr/>
        </p:nvSpPr>
        <p:spPr>
          <a:xfrm>
            <a:off x="470916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709160" y="658368"/>
            <a:ext cx="64008" cy="640080"/>
          </a:xfrm>
          <a:prstGeom prst="rect">
            <a:avLst/>
          </a:prstGeom>
          <a:solidFill>
            <a:srgbClr val="E84855"/>
          </a:solidFill>
          <a:ln w="12700">
            <a:solidFill>
              <a:srgbClr val="E84855"/>
            </a:solidFill>
            <a:prstDash val="solid"/>
          </a:ln>
        </p:spPr>
      </p:sp>
      <p:sp>
        <p:nvSpPr>
          <p:cNvPr id="12" name="Text 10"/>
          <p:cNvSpPr/>
          <p:nvPr/>
        </p:nvSpPr>
        <p:spPr>
          <a:xfrm>
            <a:off x="481888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Security Impact</a:t>
            </a:r>
            <a:endParaRPr lang="en-US" sz="800" dirty="0"/>
          </a:p>
        </p:txBody>
      </p:sp>
      <p:sp>
        <p:nvSpPr>
          <p:cNvPr id="13" name="Text 11"/>
          <p:cNvSpPr/>
          <p:nvPr/>
        </p:nvSpPr>
        <p:spPr>
          <a:xfrm>
            <a:off x="4818888" y="859536"/>
            <a:ext cx="4023360" cy="420624"/>
          </a:xfrm>
          <a:prstGeom prst="rect">
            <a:avLst/>
          </a:prstGeom>
          <a:noFill/>
          <a:ln/>
        </p:spPr>
        <p:txBody>
          <a:bodyPr wrap="square" rtlCol="0" anchor="ctr"/>
          <a:lstStyle/>
          <a:p>
            <a:pPr indent="0" marL="0">
              <a:buNone/>
            </a:pPr>
            <a:r>
              <a:rPr lang="en-US" sz="1050" dirty="0">
                <a:solidFill>
                  <a:srgbClr val="E84855"/>
                </a:solidFill>
                <a:latin typeface="Calibri" pitchFamily="34" charset="0"/>
                <a:ea typeface="Calibri" pitchFamily="34" charset="-122"/>
                <a:cs typeface="Calibri" pitchFamily="34" charset="-120"/>
              </a:rPr>
              <a:t>Any authenticated AWS user can upload arbitrary / malicious files into the receipts bucket</a:t>
            </a:r>
            <a:endParaRPr lang="en-US" sz="1050" dirty="0"/>
          </a:p>
        </p:txBody>
      </p:sp>
      <p:sp>
        <p:nvSpPr>
          <p:cNvPr id="14" name="Shape 12"/>
          <p:cNvSpPr/>
          <p:nvPr/>
        </p:nvSpPr>
        <p:spPr>
          <a:xfrm>
            <a:off x="274320" y="1389888"/>
            <a:ext cx="8595360" cy="65836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274320" y="1389888"/>
            <a:ext cx="64008" cy="658368"/>
          </a:xfrm>
          <a:prstGeom prst="rect">
            <a:avLst/>
          </a:prstGeom>
          <a:solidFill>
            <a:srgbClr val="F4B942"/>
          </a:solidFill>
          <a:ln w="12700">
            <a:solidFill>
              <a:srgbClr val="F4B942"/>
            </a:solidFill>
            <a:prstDash val="solid"/>
          </a:ln>
        </p:spPr>
      </p:sp>
      <p:sp>
        <p:nvSpPr>
          <p:cNvPr id="16" name="Text 14"/>
          <p:cNvSpPr/>
          <p:nvPr/>
        </p:nvSpPr>
        <p:spPr>
          <a:xfrm>
            <a:off x="384048" y="1389888"/>
            <a:ext cx="8458200" cy="219456"/>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Root Cause</a:t>
            </a:r>
            <a:endParaRPr lang="en-US" sz="800" dirty="0"/>
          </a:p>
        </p:txBody>
      </p:sp>
      <p:sp>
        <p:nvSpPr>
          <p:cNvPr id="17" name="Text 15"/>
          <p:cNvSpPr/>
          <p:nvPr/>
        </p:nvSpPr>
        <p:spPr>
          <a:xfrm>
            <a:off x="384048" y="1591056"/>
            <a:ext cx="8458200" cy="438912"/>
          </a:xfrm>
          <a:prstGeom prst="rect">
            <a:avLst/>
          </a:prstGeom>
          <a:noFill/>
          <a:ln/>
        </p:spPr>
        <p:txBody>
          <a:bodyPr wrap="square" rtlCol="0" anchor="ctr"/>
          <a:lstStyle/>
          <a:p>
            <a:pPr indent="0" marL="0">
              <a:buNone/>
            </a:pPr>
            <a:r>
              <a:rPr lang="en-US" sz="1050" dirty="0">
                <a:solidFill>
                  <a:srgbClr val="F4B942"/>
                </a:solidFill>
                <a:latin typeface="Calibri" pitchFamily="34" charset="0"/>
                <a:ea typeface="Calibri" pitchFamily="34" charset="-122"/>
                <a:cs typeface="Calibri" pitchFamily="34" charset="-120"/>
              </a:rPr>
              <a:t>Block All Public Access is OFF on the receipts S3 bucket. No bucket policy restricts who can write objects. The bucket relies solely on IAM, so any role with broad S3 access in the account can write — including non-receipt functions and users.</a:t>
            </a:r>
            <a:endParaRPr lang="en-US" sz="1050" dirty="0"/>
          </a:p>
        </p:txBody>
      </p:sp>
      <p:sp>
        <p:nvSpPr>
          <p:cNvPr id="18" name="Shape 16"/>
          <p:cNvSpPr/>
          <p:nvPr/>
        </p:nvSpPr>
        <p:spPr>
          <a:xfrm>
            <a:off x="27432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9" name="Shape 17"/>
          <p:cNvSpPr/>
          <p:nvPr/>
        </p:nvSpPr>
        <p:spPr>
          <a:xfrm>
            <a:off x="274320" y="2148840"/>
            <a:ext cx="64008" cy="1325880"/>
          </a:xfrm>
          <a:prstGeom prst="rect">
            <a:avLst/>
          </a:prstGeom>
          <a:solidFill>
            <a:srgbClr val="00C2CB"/>
          </a:solidFill>
          <a:ln w="12700">
            <a:solidFill>
              <a:srgbClr val="00C2CB"/>
            </a:solidFill>
            <a:prstDash val="solid"/>
          </a:ln>
        </p:spPr>
      </p:sp>
      <p:sp>
        <p:nvSpPr>
          <p:cNvPr id="20" name="Text 18"/>
          <p:cNvSpPr/>
          <p:nvPr/>
        </p:nvSpPr>
        <p:spPr>
          <a:xfrm>
            <a:off x="38404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Reproduction Steps</a:t>
            </a:r>
            <a:endParaRPr lang="en-US" sz="800" dirty="0"/>
          </a:p>
        </p:txBody>
      </p:sp>
      <p:sp>
        <p:nvSpPr>
          <p:cNvPr id="21" name="Text 19"/>
          <p:cNvSpPr/>
          <p:nvPr/>
        </p:nvSpPr>
        <p:spPr>
          <a:xfrm>
            <a:off x="384048" y="2368296"/>
            <a:ext cx="4023360" cy="1088136"/>
          </a:xfrm>
          <a:prstGeom prst="rect">
            <a:avLst/>
          </a:prstGeom>
          <a:noFill/>
          <a:ln/>
        </p:spPr>
        <p:txBody>
          <a:bodyPr wrap="square" rtlCol="0" anchor="ctr"/>
          <a:lstStyle/>
          <a:p>
            <a:pPr indent="0" marL="0">
              <a:buNone/>
            </a:pPr>
            <a:r>
              <a:rPr lang="en-US" sz="1000" dirty="0">
                <a:solidFill>
                  <a:srgbClr val="F0F4F8"/>
                </a:solidFill>
                <a:latin typeface="Calibri" pitchFamily="34" charset="0"/>
                <a:ea typeface="Calibri" pitchFamily="34" charset="-122"/>
                <a:cs typeface="Calibri" pitchFamily="34" charset="-120"/>
              </a:rPr>
              <a:t>1. List DVSA buckets with aws s3 ls  2. Check Permissions tab → Block Public Access OFF, no bucket policy  3. Create malicious file locally  4. aws s3 cp malicious.txt s3://receipts-bucket/... → upload succeeds</a:t>
            </a:r>
            <a:endParaRPr lang="en-US" sz="1000" dirty="0"/>
          </a:p>
        </p:txBody>
      </p:sp>
      <p:sp>
        <p:nvSpPr>
          <p:cNvPr id="22" name="Shape 20"/>
          <p:cNvSpPr/>
          <p:nvPr/>
        </p:nvSpPr>
        <p:spPr>
          <a:xfrm>
            <a:off x="470916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3" name="Shape 21"/>
          <p:cNvSpPr/>
          <p:nvPr/>
        </p:nvSpPr>
        <p:spPr>
          <a:xfrm>
            <a:off x="4709160" y="2148840"/>
            <a:ext cx="64008" cy="1325880"/>
          </a:xfrm>
          <a:prstGeom prst="rect">
            <a:avLst/>
          </a:prstGeom>
          <a:solidFill>
            <a:srgbClr val="3BB273"/>
          </a:solidFill>
          <a:ln w="12700">
            <a:solidFill>
              <a:srgbClr val="3BB273"/>
            </a:solidFill>
            <a:prstDash val="solid"/>
          </a:ln>
        </p:spPr>
      </p:sp>
      <p:sp>
        <p:nvSpPr>
          <p:cNvPr id="24" name="Text 22"/>
          <p:cNvSpPr/>
          <p:nvPr/>
        </p:nvSpPr>
        <p:spPr>
          <a:xfrm>
            <a:off x="481888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Fix Strategy</a:t>
            </a:r>
            <a:endParaRPr lang="en-US" sz="800" dirty="0"/>
          </a:p>
        </p:txBody>
      </p:sp>
      <p:sp>
        <p:nvSpPr>
          <p:cNvPr id="25" name="Text 23"/>
          <p:cNvSpPr/>
          <p:nvPr/>
        </p:nvSpPr>
        <p:spPr>
          <a:xfrm>
            <a:off x="4818888" y="2368296"/>
            <a:ext cx="4023360" cy="1088136"/>
          </a:xfrm>
          <a:prstGeom prst="rect">
            <a:avLst/>
          </a:prstGeom>
          <a:noFill/>
          <a:ln/>
        </p:spPr>
        <p:txBody>
          <a:bodyPr wrap="square" rtlCol="0" anchor="ctr"/>
          <a:lstStyle/>
          <a:p>
            <a:pPr indent="0" marL="0">
              <a:buNone/>
            </a:pPr>
            <a:r>
              <a:rPr lang="en-US" sz="1000" dirty="0">
                <a:solidFill>
                  <a:srgbClr val="3BB273"/>
                </a:solidFill>
                <a:latin typeface="Calibri" pitchFamily="34" charset="0"/>
                <a:ea typeface="Calibri" pitchFamily="34" charset="-122"/>
                <a:cs typeface="Calibri" pitchFamily="34" charset="-120"/>
              </a:rPr>
              <a:t>Enable Block All Public Access. Add explicit bucket policy denying writes from all principals except the receipt Lambda role ARN. Enable S3 server-side encryption and object versioning. Validate file type/name on upload.</a:t>
            </a:r>
            <a:endParaRPr lang="en-US" sz="1000" dirty="0"/>
          </a:p>
        </p:txBody>
      </p:sp>
      <p:sp>
        <p:nvSpPr>
          <p:cNvPr id="26" name="Shape 24"/>
          <p:cNvSpPr/>
          <p:nvPr/>
        </p:nvSpPr>
        <p:spPr>
          <a:xfrm>
            <a:off x="274320" y="3566160"/>
            <a:ext cx="8595360" cy="457200"/>
          </a:xfrm>
          <a:prstGeom prst="rect">
            <a:avLst/>
          </a:prstGeom>
          <a:solidFill>
            <a:srgbClr val="12263A"/>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7" name="Shape 25"/>
          <p:cNvSpPr/>
          <p:nvPr/>
        </p:nvSpPr>
        <p:spPr>
          <a:xfrm>
            <a:off x="274320" y="3566160"/>
            <a:ext cx="64008" cy="457200"/>
          </a:xfrm>
          <a:prstGeom prst="rect">
            <a:avLst/>
          </a:prstGeom>
          <a:solidFill>
            <a:srgbClr val="F4B942"/>
          </a:solidFill>
          <a:ln w="12700">
            <a:solidFill>
              <a:srgbClr val="F4B942"/>
            </a:solidFill>
            <a:prstDash val="solid"/>
          </a:ln>
        </p:spPr>
      </p:sp>
      <p:sp>
        <p:nvSpPr>
          <p:cNvPr id="28" name="Text 26"/>
          <p:cNvSpPr/>
          <p:nvPr/>
        </p:nvSpPr>
        <p:spPr>
          <a:xfrm>
            <a:off x="384048" y="3566160"/>
            <a:ext cx="8458200" cy="457200"/>
          </a:xfrm>
          <a:prstGeom prst="rect">
            <a:avLst/>
          </a:prstGeom>
          <a:noFill/>
          <a:ln/>
        </p:spPr>
        <p:txBody>
          <a:bodyPr wrap="square" rtlCol="0" anchor="ctr"/>
          <a:lstStyle/>
          <a:p>
            <a:pPr indent="0" marL="0">
              <a:buNone/>
            </a:pPr>
            <a:r>
              <a:rPr lang="en-US" sz="1000" dirty="0">
                <a:solidFill>
                  <a:srgbClr val="8FA8BF"/>
                </a:solidFill>
                <a:latin typeface="Calibri" pitchFamily="34" charset="0"/>
                <a:ea typeface="Calibri" pitchFamily="34" charset="-122"/>
                <a:cs typeface="Calibri" pitchFamily="34" charset="-120"/>
              </a:rPr>
              <a:t>Deviation Class  ·  </a:t>
            </a:r>
            <a:endParaRPr lang="en-US" sz="1000" dirty="0"/>
          </a:p>
        </p:txBody>
      </p:sp>
      <p:sp>
        <p:nvSpPr>
          <p:cNvPr id="29" name="Text 27"/>
          <p:cNvSpPr/>
          <p:nvPr/>
        </p:nvSpPr>
        <p:spPr>
          <a:xfrm>
            <a:off x="2240280" y="3566160"/>
            <a:ext cx="6583680" cy="457200"/>
          </a:xfrm>
          <a:prstGeom prst="rect">
            <a:avLst/>
          </a:prstGeom>
          <a:noFill/>
          <a:ln/>
        </p:spPr>
        <p:txBody>
          <a:bodyPr wrap="square" rtlCol="0" anchor="ctr"/>
          <a:lstStyle/>
          <a:p>
            <a:pPr indent="0" marL="0">
              <a:buNone/>
            </a:pPr>
            <a:r>
              <a:rPr lang="en-US" sz="1000" b="1" dirty="0">
                <a:solidFill>
                  <a:srgbClr val="F4B942"/>
                </a:solidFill>
                <a:latin typeface="Calibri" pitchFamily="34" charset="0"/>
                <a:ea typeface="Calibri" pitchFamily="34" charset="-122"/>
                <a:cs typeface="Calibri" pitchFamily="34" charset="-120"/>
              </a:rPr>
              <a:t>Accidental Misconfiguration</a:t>
            </a:r>
            <a:endParaRPr lang="en-US" sz="1000" dirty="0"/>
          </a:p>
        </p:txBody>
      </p:sp>
      <p:sp>
        <p:nvSpPr>
          <p:cNvPr id="30" name="Shape 28"/>
          <p:cNvSpPr/>
          <p:nvPr/>
        </p:nvSpPr>
        <p:spPr>
          <a:xfrm>
            <a:off x="0" y="5056632"/>
            <a:ext cx="9144000" cy="91440"/>
          </a:xfrm>
          <a:prstGeom prst="rect">
            <a:avLst/>
          </a:prstGeom>
          <a:solidFill>
            <a:srgbClr val="00C2CB"/>
          </a:solidFill>
          <a:ln w="12700">
            <a:solidFill>
              <a:srgbClr val="00C2CB"/>
            </a:solidFill>
            <a:prstDash val="solid"/>
          </a:ln>
        </p:spPr>
      </p:sp>
      <p:sp>
        <p:nvSpPr>
          <p:cNvPr id="31" name="Text 29"/>
          <p:cNvSpPr/>
          <p:nvPr/>
        </p:nvSpPr>
        <p:spPr>
          <a:xfrm>
            <a:off x="0" y="4855464"/>
            <a:ext cx="9144000" cy="219456"/>
          </a:xfrm>
          <a:prstGeom prst="rect">
            <a:avLst/>
          </a:prstGeom>
          <a:noFill/>
          <a:ln/>
        </p:spPr>
        <p:txBody>
          <a:bodyPr wrap="square" rtlCol="0" anchor="ctr"/>
          <a:lstStyle/>
          <a:p>
            <a:pPr algn="ctr" indent="0" marL="0">
              <a:buNone/>
            </a:pPr>
            <a:r>
              <a:rPr lang="en-US" sz="800" dirty="0">
                <a:solidFill>
                  <a:srgbClr val="8FA8BF"/>
                </a:solidFill>
                <a:latin typeface="Calibri" pitchFamily="34" charset="0"/>
                <a:ea typeface="Calibri" pitchFamily="34" charset="-122"/>
                <a:cs typeface="Calibri" pitchFamily="34" charset="-120"/>
              </a:rPr>
              <a:t>ICS-344 · KFUPM · Almatrook &amp; Almuhanna</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Shape 1"/>
          <p:cNvSpPr/>
          <p:nvPr/>
        </p:nvSpPr>
        <p:spPr>
          <a:xfrm>
            <a:off x="274320" y="128016"/>
            <a:ext cx="1005840" cy="411480"/>
          </a:xfrm>
          <a:prstGeom prst="rect">
            <a:avLst/>
          </a:prstGeom>
          <a:solidFill>
            <a:srgbClr val="00C2C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 name="Text 2"/>
          <p:cNvSpPr/>
          <p:nvPr/>
        </p:nvSpPr>
        <p:spPr>
          <a:xfrm>
            <a:off x="274320" y="128016"/>
            <a:ext cx="1005840" cy="41148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L5</a:t>
            </a:r>
            <a:endParaRPr lang="en-US" sz="1300" dirty="0"/>
          </a:p>
        </p:txBody>
      </p:sp>
      <p:sp>
        <p:nvSpPr>
          <p:cNvPr id="5" name="Text 3"/>
          <p:cNvSpPr/>
          <p:nvPr/>
        </p:nvSpPr>
        <p:spPr>
          <a:xfrm>
            <a:off x="1417320" y="128016"/>
            <a:ext cx="7406640" cy="411480"/>
          </a:xfrm>
          <a:prstGeom prst="rect">
            <a:avLst/>
          </a:prstGeom>
          <a:noFill/>
          <a:ln/>
        </p:spPr>
        <p:txBody>
          <a:bodyPr wrap="square" rtlCol="0" anchor="ctr"/>
          <a:lstStyle/>
          <a:p>
            <a:pPr indent="0" marL="0">
              <a:buNone/>
            </a:pPr>
            <a:r>
              <a:rPr lang="en-US" sz="2000" b="1" dirty="0">
                <a:solidFill>
                  <a:srgbClr val="F0F4F8"/>
                </a:solidFill>
                <a:latin typeface="Arial Black" pitchFamily="34" charset="0"/>
                <a:ea typeface="Arial Black" pitchFamily="34" charset="-122"/>
                <a:cs typeface="Arial Black" pitchFamily="34" charset="-120"/>
              </a:rPr>
              <a:t>Broken Access Control — Order Modification</a:t>
            </a:r>
            <a:endParaRPr lang="en-US" sz="2000" dirty="0"/>
          </a:p>
        </p:txBody>
      </p:sp>
      <p:sp>
        <p:nvSpPr>
          <p:cNvPr id="6" name="Shape 4"/>
          <p:cNvSpPr/>
          <p:nvPr/>
        </p:nvSpPr>
        <p:spPr>
          <a:xfrm>
            <a:off x="27432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7" name="Shape 5"/>
          <p:cNvSpPr/>
          <p:nvPr/>
        </p:nvSpPr>
        <p:spPr>
          <a:xfrm>
            <a:off x="274320" y="658368"/>
            <a:ext cx="64008" cy="640080"/>
          </a:xfrm>
          <a:prstGeom prst="rect">
            <a:avLst/>
          </a:prstGeom>
          <a:solidFill>
            <a:srgbClr val="00C2CB"/>
          </a:solidFill>
          <a:ln w="12700">
            <a:solidFill>
              <a:srgbClr val="00C2CB"/>
            </a:solidFill>
            <a:prstDash val="solid"/>
          </a:ln>
        </p:spPr>
      </p:sp>
      <p:sp>
        <p:nvSpPr>
          <p:cNvPr id="8" name="Text 6"/>
          <p:cNvSpPr/>
          <p:nvPr/>
        </p:nvSpPr>
        <p:spPr>
          <a:xfrm>
            <a:off x="38404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Affected Component</a:t>
            </a:r>
            <a:endParaRPr lang="en-US" sz="800" dirty="0"/>
          </a:p>
        </p:txBody>
      </p:sp>
      <p:sp>
        <p:nvSpPr>
          <p:cNvPr id="9" name="Text 7"/>
          <p:cNvSpPr/>
          <p:nvPr/>
        </p:nvSpPr>
        <p:spPr>
          <a:xfrm>
            <a:off x="384048" y="859536"/>
            <a:ext cx="4023360" cy="420624"/>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API Gateway → Lambda (DVSA-ORDER-MANAGER) → DynamoDB (DVSA-ORDERS-DB)</a:t>
            </a:r>
            <a:endParaRPr lang="en-US" sz="1050" dirty="0"/>
          </a:p>
        </p:txBody>
      </p:sp>
      <p:sp>
        <p:nvSpPr>
          <p:cNvPr id="10" name="Shape 8"/>
          <p:cNvSpPr/>
          <p:nvPr/>
        </p:nvSpPr>
        <p:spPr>
          <a:xfrm>
            <a:off x="470916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709160" y="658368"/>
            <a:ext cx="64008" cy="640080"/>
          </a:xfrm>
          <a:prstGeom prst="rect">
            <a:avLst/>
          </a:prstGeom>
          <a:solidFill>
            <a:srgbClr val="E84855"/>
          </a:solidFill>
          <a:ln w="12700">
            <a:solidFill>
              <a:srgbClr val="E84855"/>
            </a:solidFill>
            <a:prstDash val="solid"/>
          </a:ln>
        </p:spPr>
      </p:sp>
      <p:sp>
        <p:nvSpPr>
          <p:cNvPr id="12" name="Text 10"/>
          <p:cNvSpPr/>
          <p:nvPr/>
        </p:nvSpPr>
        <p:spPr>
          <a:xfrm>
            <a:off x="481888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Security Impact</a:t>
            </a:r>
            <a:endParaRPr lang="en-US" sz="800" dirty="0"/>
          </a:p>
        </p:txBody>
      </p:sp>
      <p:sp>
        <p:nvSpPr>
          <p:cNvPr id="13" name="Text 11"/>
          <p:cNvSpPr/>
          <p:nvPr/>
        </p:nvSpPr>
        <p:spPr>
          <a:xfrm>
            <a:off x="4818888" y="859536"/>
            <a:ext cx="4023360" cy="420624"/>
          </a:xfrm>
          <a:prstGeom prst="rect">
            <a:avLst/>
          </a:prstGeom>
          <a:noFill/>
          <a:ln/>
        </p:spPr>
        <p:txBody>
          <a:bodyPr wrap="square" rtlCol="0" anchor="ctr"/>
          <a:lstStyle/>
          <a:p>
            <a:pPr indent="0" marL="0">
              <a:buNone/>
            </a:pPr>
            <a:r>
              <a:rPr lang="en-US" sz="1050" dirty="0">
                <a:solidFill>
                  <a:srgbClr val="E84855"/>
                </a:solidFill>
                <a:latin typeface="Calibri" pitchFamily="34" charset="0"/>
                <a:ea typeface="Calibri" pitchFamily="34" charset="-122"/>
                <a:cs typeface="Calibri" pitchFamily="34" charset="-120"/>
              </a:rPr>
              <a:t>Regular user can modify any order's item list after creation — bypassing payment workflow</a:t>
            </a:r>
            <a:endParaRPr lang="en-US" sz="1050" dirty="0"/>
          </a:p>
        </p:txBody>
      </p:sp>
      <p:sp>
        <p:nvSpPr>
          <p:cNvPr id="14" name="Shape 12"/>
          <p:cNvSpPr/>
          <p:nvPr/>
        </p:nvSpPr>
        <p:spPr>
          <a:xfrm>
            <a:off x="274320" y="1389888"/>
            <a:ext cx="8595360" cy="65836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274320" y="1389888"/>
            <a:ext cx="64008" cy="658368"/>
          </a:xfrm>
          <a:prstGeom prst="rect">
            <a:avLst/>
          </a:prstGeom>
          <a:solidFill>
            <a:srgbClr val="F4B942"/>
          </a:solidFill>
          <a:ln w="12700">
            <a:solidFill>
              <a:srgbClr val="F4B942"/>
            </a:solidFill>
            <a:prstDash val="solid"/>
          </a:ln>
        </p:spPr>
      </p:sp>
      <p:sp>
        <p:nvSpPr>
          <p:cNvPr id="16" name="Text 14"/>
          <p:cNvSpPr/>
          <p:nvPr/>
        </p:nvSpPr>
        <p:spPr>
          <a:xfrm>
            <a:off x="384048" y="1389888"/>
            <a:ext cx="8458200" cy="219456"/>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Root Cause</a:t>
            </a:r>
            <a:endParaRPr lang="en-US" sz="800" dirty="0"/>
          </a:p>
        </p:txBody>
      </p:sp>
      <p:sp>
        <p:nvSpPr>
          <p:cNvPr id="17" name="Text 15"/>
          <p:cNvSpPr/>
          <p:nvPr/>
        </p:nvSpPr>
        <p:spPr>
          <a:xfrm>
            <a:off x="384048" y="1591056"/>
            <a:ext cx="8458200" cy="438912"/>
          </a:xfrm>
          <a:prstGeom prst="rect">
            <a:avLst/>
          </a:prstGeom>
          <a:noFill/>
          <a:ln/>
        </p:spPr>
        <p:txBody>
          <a:bodyPr wrap="square" rtlCol="0" anchor="ctr"/>
          <a:lstStyle/>
          <a:p>
            <a:pPr indent="0" marL="0">
              <a:buNone/>
            </a:pPr>
            <a:r>
              <a:rPr lang="en-US" sz="1050" dirty="0">
                <a:solidFill>
                  <a:srgbClr val="F4B942"/>
                </a:solidFill>
                <a:latin typeface="Calibri" pitchFamily="34" charset="0"/>
                <a:ea typeface="Calibri" pitchFamily="34" charset="-122"/>
                <a:cs typeface="Calibri" pitchFamily="34" charset="-120"/>
              </a:rPr>
              <a:t>The update action in the Order Manager is dispatched based solely on the action field in the request. The code verifies authentication (JWT present) but never checks the user's role, order ownership, or whether the order state permits modification.</a:t>
            </a:r>
            <a:endParaRPr lang="en-US" sz="1050" dirty="0"/>
          </a:p>
        </p:txBody>
      </p:sp>
      <p:sp>
        <p:nvSpPr>
          <p:cNvPr id="18" name="Shape 16"/>
          <p:cNvSpPr/>
          <p:nvPr/>
        </p:nvSpPr>
        <p:spPr>
          <a:xfrm>
            <a:off x="27432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9" name="Shape 17"/>
          <p:cNvSpPr/>
          <p:nvPr/>
        </p:nvSpPr>
        <p:spPr>
          <a:xfrm>
            <a:off x="274320" y="2148840"/>
            <a:ext cx="64008" cy="1325880"/>
          </a:xfrm>
          <a:prstGeom prst="rect">
            <a:avLst/>
          </a:prstGeom>
          <a:solidFill>
            <a:srgbClr val="00C2CB"/>
          </a:solidFill>
          <a:ln w="12700">
            <a:solidFill>
              <a:srgbClr val="00C2CB"/>
            </a:solidFill>
            <a:prstDash val="solid"/>
          </a:ln>
        </p:spPr>
      </p:sp>
      <p:sp>
        <p:nvSpPr>
          <p:cNvPr id="20" name="Text 18"/>
          <p:cNvSpPr/>
          <p:nvPr/>
        </p:nvSpPr>
        <p:spPr>
          <a:xfrm>
            <a:off x="38404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Reproduction Steps</a:t>
            </a:r>
            <a:endParaRPr lang="en-US" sz="800" dirty="0"/>
          </a:p>
        </p:txBody>
      </p:sp>
      <p:sp>
        <p:nvSpPr>
          <p:cNvPr id="21" name="Text 19"/>
          <p:cNvSpPr/>
          <p:nvPr/>
        </p:nvSpPr>
        <p:spPr>
          <a:xfrm>
            <a:off x="384048" y="2368296"/>
            <a:ext cx="4023360" cy="1088136"/>
          </a:xfrm>
          <a:prstGeom prst="rect">
            <a:avLst/>
          </a:prstGeom>
          <a:noFill/>
          <a:ln/>
        </p:spPr>
        <p:txBody>
          <a:bodyPr wrap="square" rtlCol="0" anchor="ctr"/>
          <a:lstStyle/>
          <a:p>
            <a:pPr indent="0" marL="0">
              <a:buNone/>
            </a:pPr>
            <a:r>
              <a:rPr lang="en-US" sz="1000" dirty="0">
                <a:solidFill>
                  <a:srgbClr val="F0F4F8"/>
                </a:solidFill>
                <a:latin typeface="Calibri" pitchFamily="34" charset="0"/>
                <a:ea typeface="Calibri" pitchFamily="34" charset="-122"/>
                <a:cs typeface="Calibri" pitchFamily="34" charset="-120"/>
              </a:rPr>
              <a:t>1. Place order, capture order-id  2. Send action=update with new items as regular user  3. Re-fetch the order  4. Confirm item list changed without admin role or re-payment</a:t>
            </a:r>
            <a:endParaRPr lang="en-US" sz="1000" dirty="0"/>
          </a:p>
        </p:txBody>
      </p:sp>
      <p:sp>
        <p:nvSpPr>
          <p:cNvPr id="22" name="Shape 20"/>
          <p:cNvSpPr/>
          <p:nvPr/>
        </p:nvSpPr>
        <p:spPr>
          <a:xfrm>
            <a:off x="470916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3" name="Shape 21"/>
          <p:cNvSpPr/>
          <p:nvPr/>
        </p:nvSpPr>
        <p:spPr>
          <a:xfrm>
            <a:off x="4709160" y="2148840"/>
            <a:ext cx="64008" cy="1325880"/>
          </a:xfrm>
          <a:prstGeom prst="rect">
            <a:avLst/>
          </a:prstGeom>
          <a:solidFill>
            <a:srgbClr val="3BB273"/>
          </a:solidFill>
          <a:ln w="12700">
            <a:solidFill>
              <a:srgbClr val="3BB273"/>
            </a:solidFill>
            <a:prstDash val="solid"/>
          </a:ln>
        </p:spPr>
      </p:sp>
      <p:sp>
        <p:nvSpPr>
          <p:cNvPr id="24" name="Text 22"/>
          <p:cNvSpPr/>
          <p:nvPr/>
        </p:nvSpPr>
        <p:spPr>
          <a:xfrm>
            <a:off x="481888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Fix Strategy</a:t>
            </a:r>
            <a:endParaRPr lang="en-US" sz="800" dirty="0"/>
          </a:p>
        </p:txBody>
      </p:sp>
      <p:sp>
        <p:nvSpPr>
          <p:cNvPr id="25" name="Text 23"/>
          <p:cNvSpPr/>
          <p:nvPr/>
        </p:nvSpPr>
        <p:spPr>
          <a:xfrm>
            <a:off x="4818888" y="2368296"/>
            <a:ext cx="4023360" cy="1088136"/>
          </a:xfrm>
          <a:prstGeom prst="rect">
            <a:avLst/>
          </a:prstGeom>
          <a:noFill/>
          <a:ln/>
        </p:spPr>
        <p:txBody>
          <a:bodyPr wrap="square" rtlCol="0" anchor="ctr"/>
          <a:lstStyle/>
          <a:p>
            <a:pPr indent="0" marL="0">
              <a:buNone/>
            </a:pPr>
            <a:r>
              <a:rPr lang="en-US" sz="1000" dirty="0">
                <a:solidFill>
                  <a:srgbClr val="3BB273"/>
                </a:solidFill>
                <a:latin typeface="Calibri" pitchFamily="34" charset="0"/>
                <a:ea typeface="Calibri" pitchFamily="34" charset="-122"/>
                <a:cs typeface="Calibri" pitchFamily="34" charset="-120"/>
              </a:rPr>
              <a:t>Add server-side RBAC: require admin Cognito group claim for the update action. Add object-level ownership check. Validate order state machine: reject updates if status &gt; 100. Ensure public API cannot invoke privileged internal actions.</a:t>
            </a:r>
            <a:endParaRPr lang="en-US" sz="1000" dirty="0"/>
          </a:p>
        </p:txBody>
      </p:sp>
      <p:sp>
        <p:nvSpPr>
          <p:cNvPr id="26" name="Shape 24"/>
          <p:cNvSpPr/>
          <p:nvPr/>
        </p:nvSpPr>
        <p:spPr>
          <a:xfrm>
            <a:off x="274320" y="3566160"/>
            <a:ext cx="8595360" cy="457200"/>
          </a:xfrm>
          <a:prstGeom prst="rect">
            <a:avLst/>
          </a:prstGeom>
          <a:solidFill>
            <a:srgbClr val="12263A"/>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7" name="Shape 25"/>
          <p:cNvSpPr/>
          <p:nvPr/>
        </p:nvSpPr>
        <p:spPr>
          <a:xfrm>
            <a:off x="274320" y="3566160"/>
            <a:ext cx="64008" cy="457200"/>
          </a:xfrm>
          <a:prstGeom prst="rect">
            <a:avLst/>
          </a:prstGeom>
          <a:solidFill>
            <a:srgbClr val="F4B942"/>
          </a:solidFill>
          <a:ln w="12700">
            <a:solidFill>
              <a:srgbClr val="F4B942"/>
            </a:solidFill>
            <a:prstDash val="solid"/>
          </a:ln>
        </p:spPr>
      </p:sp>
      <p:sp>
        <p:nvSpPr>
          <p:cNvPr id="28" name="Text 26"/>
          <p:cNvSpPr/>
          <p:nvPr/>
        </p:nvSpPr>
        <p:spPr>
          <a:xfrm>
            <a:off x="384048" y="3566160"/>
            <a:ext cx="8458200" cy="457200"/>
          </a:xfrm>
          <a:prstGeom prst="rect">
            <a:avLst/>
          </a:prstGeom>
          <a:noFill/>
          <a:ln/>
        </p:spPr>
        <p:txBody>
          <a:bodyPr wrap="square" rtlCol="0" anchor="ctr"/>
          <a:lstStyle/>
          <a:p>
            <a:pPr indent="0" marL="0">
              <a:buNone/>
            </a:pPr>
            <a:r>
              <a:rPr lang="en-US" sz="1000" dirty="0">
                <a:solidFill>
                  <a:srgbClr val="8FA8BF"/>
                </a:solidFill>
                <a:latin typeface="Calibri" pitchFamily="34" charset="0"/>
                <a:ea typeface="Calibri" pitchFamily="34" charset="-122"/>
                <a:cs typeface="Calibri" pitchFamily="34" charset="-120"/>
              </a:rPr>
              <a:t>Deviation Class  ·  </a:t>
            </a:r>
            <a:endParaRPr lang="en-US" sz="1000" dirty="0"/>
          </a:p>
        </p:txBody>
      </p:sp>
      <p:sp>
        <p:nvSpPr>
          <p:cNvPr id="29" name="Text 27"/>
          <p:cNvSpPr/>
          <p:nvPr/>
        </p:nvSpPr>
        <p:spPr>
          <a:xfrm>
            <a:off x="2240280" y="3566160"/>
            <a:ext cx="6583680" cy="457200"/>
          </a:xfrm>
          <a:prstGeom prst="rect">
            <a:avLst/>
          </a:prstGeom>
          <a:noFill/>
          <a:ln/>
        </p:spPr>
        <p:txBody>
          <a:bodyPr wrap="square" rtlCol="0" anchor="ctr"/>
          <a:lstStyle/>
          <a:p>
            <a:pPr indent="0" marL="0">
              <a:buNone/>
            </a:pPr>
            <a:r>
              <a:rPr lang="en-US" sz="1000" b="1" dirty="0">
                <a:solidFill>
                  <a:srgbClr val="F4B942"/>
                </a:solidFill>
                <a:latin typeface="Calibri" pitchFamily="34" charset="0"/>
                <a:ea typeface="Calibri" pitchFamily="34" charset="-122"/>
                <a:cs typeface="Calibri" pitchFamily="34" charset="-120"/>
              </a:rPr>
              <a:t>Intentional Misuse / Security-Relevant Abuse</a:t>
            </a:r>
            <a:endParaRPr lang="en-US" sz="1000" dirty="0"/>
          </a:p>
        </p:txBody>
      </p:sp>
      <p:sp>
        <p:nvSpPr>
          <p:cNvPr id="30" name="Shape 28"/>
          <p:cNvSpPr/>
          <p:nvPr/>
        </p:nvSpPr>
        <p:spPr>
          <a:xfrm>
            <a:off x="0" y="5056632"/>
            <a:ext cx="9144000" cy="91440"/>
          </a:xfrm>
          <a:prstGeom prst="rect">
            <a:avLst/>
          </a:prstGeom>
          <a:solidFill>
            <a:srgbClr val="00C2CB"/>
          </a:solidFill>
          <a:ln w="12700">
            <a:solidFill>
              <a:srgbClr val="00C2CB"/>
            </a:solidFill>
            <a:prstDash val="solid"/>
          </a:ln>
        </p:spPr>
      </p:sp>
      <p:sp>
        <p:nvSpPr>
          <p:cNvPr id="31" name="Text 29"/>
          <p:cNvSpPr/>
          <p:nvPr/>
        </p:nvSpPr>
        <p:spPr>
          <a:xfrm>
            <a:off x="0" y="4855464"/>
            <a:ext cx="9144000" cy="219456"/>
          </a:xfrm>
          <a:prstGeom prst="rect">
            <a:avLst/>
          </a:prstGeom>
          <a:noFill/>
          <a:ln/>
        </p:spPr>
        <p:txBody>
          <a:bodyPr wrap="square" rtlCol="0" anchor="ctr"/>
          <a:lstStyle/>
          <a:p>
            <a:pPr algn="ctr" indent="0" marL="0">
              <a:buNone/>
            </a:pPr>
            <a:r>
              <a:rPr lang="en-US" sz="800" dirty="0">
                <a:solidFill>
                  <a:srgbClr val="8FA8BF"/>
                </a:solidFill>
                <a:latin typeface="Calibri" pitchFamily="34" charset="0"/>
                <a:ea typeface="Calibri" pitchFamily="34" charset="-122"/>
                <a:cs typeface="Calibri" pitchFamily="34" charset="-120"/>
              </a:rPr>
              <a:t>ICS-344 · KFUPM · Almatrook &amp; Almuhanna</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Shape 1"/>
          <p:cNvSpPr/>
          <p:nvPr/>
        </p:nvSpPr>
        <p:spPr>
          <a:xfrm>
            <a:off x="274320" y="128016"/>
            <a:ext cx="1005840" cy="411480"/>
          </a:xfrm>
          <a:prstGeom prst="rect">
            <a:avLst/>
          </a:prstGeom>
          <a:solidFill>
            <a:srgbClr val="00C2C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 name="Text 2"/>
          <p:cNvSpPr/>
          <p:nvPr/>
        </p:nvSpPr>
        <p:spPr>
          <a:xfrm>
            <a:off x="274320" y="128016"/>
            <a:ext cx="1005840" cy="41148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L6</a:t>
            </a:r>
            <a:endParaRPr lang="en-US" sz="1300" dirty="0"/>
          </a:p>
        </p:txBody>
      </p:sp>
      <p:sp>
        <p:nvSpPr>
          <p:cNvPr id="5" name="Text 3"/>
          <p:cNvSpPr/>
          <p:nvPr/>
        </p:nvSpPr>
        <p:spPr>
          <a:xfrm>
            <a:off x="1417320" y="128016"/>
            <a:ext cx="7406640" cy="411480"/>
          </a:xfrm>
          <a:prstGeom prst="rect">
            <a:avLst/>
          </a:prstGeom>
          <a:noFill/>
          <a:ln/>
        </p:spPr>
        <p:txBody>
          <a:bodyPr wrap="square" rtlCol="0" anchor="ctr"/>
          <a:lstStyle/>
          <a:p>
            <a:pPr indent="0" marL="0">
              <a:buNone/>
            </a:pPr>
            <a:r>
              <a:rPr lang="en-US" sz="2000" b="1" dirty="0">
                <a:solidFill>
                  <a:srgbClr val="F0F4F8"/>
                </a:solidFill>
                <a:latin typeface="Arial Black" pitchFamily="34" charset="0"/>
                <a:ea typeface="Arial Black" pitchFamily="34" charset="-122"/>
                <a:cs typeface="Arial Black" pitchFamily="34" charset="-120"/>
              </a:rPr>
              <a:t>Denial of Service — No Rate Limiting</a:t>
            </a:r>
            <a:endParaRPr lang="en-US" sz="2000" dirty="0"/>
          </a:p>
        </p:txBody>
      </p:sp>
      <p:sp>
        <p:nvSpPr>
          <p:cNvPr id="6" name="Shape 4"/>
          <p:cNvSpPr/>
          <p:nvPr/>
        </p:nvSpPr>
        <p:spPr>
          <a:xfrm>
            <a:off x="27432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7" name="Shape 5"/>
          <p:cNvSpPr/>
          <p:nvPr/>
        </p:nvSpPr>
        <p:spPr>
          <a:xfrm>
            <a:off x="274320" y="658368"/>
            <a:ext cx="64008" cy="640080"/>
          </a:xfrm>
          <a:prstGeom prst="rect">
            <a:avLst/>
          </a:prstGeom>
          <a:solidFill>
            <a:srgbClr val="00C2CB"/>
          </a:solidFill>
          <a:ln w="12700">
            <a:solidFill>
              <a:srgbClr val="00C2CB"/>
            </a:solidFill>
            <a:prstDash val="solid"/>
          </a:ln>
        </p:spPr>
      </p:sp>
      <p:sp>
        <p:nvSpPr>
          <p:cNvPr id="8" name="Text 6"/>
          <p:cNvSpPr/>
          <p:nvPr/>
        </p:nvSpPr>
        <p:spPr>
          <a:xfrm>
            <a:off x="38404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Affected Component</a:t>
            </a:r>
            <a:endParaRPr lang="en-US" sz="800" dirty="0"/>
          </a:p>
        </p:txBody>
      </p:sp>
      <p:sp>
        <p:nvSpPr>
          <p:cNvPr id="9" name="Text 7"/>
          <p:cNvSpPr/>
          <p:nvPr/>
        </p:nvSpPr>
        <p:spPr>
          <a:xfrm>
            <a:off x="384048" y="859536"/>
            <a:ext cx="4023360" cy="420624"/>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API Gateway → Lambda (DVSA-ORDER-BILLING) · Account concurrency limit: 10</a:t>
            </a:r>
            <a:endParaRPr lang="en-US" sz="1050" dirty="0"/>
          </a:p>
        </p:txBody>
      </p:sp>
      <p:sp>
        <p:nvSpPr>
          <p:cNvPr id="10" name="Shape 8"/>
          <p:cNvSpPr/>
          <p:nvPr/>
        </p:nvSpPr>
        <p:spPr>
          <a:xfrm>
            <a:off x="470916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709160" y="658368"/>
            <a:ext cx="64008" cy="640080"/>
          </a:xfrm>
          <a:prstGeom prst="rect">
            <a:avLst/>
          </a:prstGeom>
          <a:solidFill>
            <a:srgbClr val="E84855"/>
          </a:solidFill>
          <a:ln w="12700">
            <a:solidFill>
              <a:srgbClr val="E84855"/>
            </a:solidFill>
            <a:prstDash val="solid"/>
          </a:ln>
        </p:spPr>
      </p:sp>
      <p:sp>
        <p:nvSpPr>
          <p:cNvPr id="12" name="Text 10"/>
          <p:cNvSpPr/>
          <p:nvPr/>
        </p:nvSpPr>
        <p:spPr>
          <a:xfrm>
            <a:off x="481888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Security Impact</a:t>
            </a:r>
            <a:endParaRPr lang="en-US" sz="800" dirty="0"/>
          </a:p>
        </p:txBody>
      </p:sp>
      <p:sp>
        <p:nvSpPr>
          <p:cNvPr id="13" name="Text 11"/>
          <p:cNvSpPr/>
          <p:nvPr/>
        </p:nvSpPr>
        <p:spPr>
          <a:xfrm>
            <a:off x="4818888" y="859536"/>
            <a:ext cx="4023360" cy="420624"/>
          </a:xfrm>
          <a:prstGeom prst="rect">
            <a:avLst/>
          </a:prstGeom>
          <a:noFill/>
          <a:ln/>
        </p:spPr>
        <p:txBody>
          <a:bodyPr wrap="square" rtlCol="0" anchor="ctr"/>
          <a:lstStyle/>
          <a:p>
            <a:pPr indent="0" marL="0">
              <a:buNone/>
            </a:pPr>
            <a:r>
              <a:rPr lang="en-US" sz="1050" dirty="0">
                <a:solidFill>
                  <a:srgbClr val="E84855"/>
                </a:solidFill>
                <a:latin typeface="Calibri" pitchFamily="34" charset="0"/>
                <a:ea typeface="Calibri" pitchFamily="34" charset="-122"/>
                <a:cs typeface="Calibri" pitchFamily="34" charset="-120"/>
              </a:rPr>
              <a:t>Billing service becomes fully unavailable to all users under a 50-request concurrent flood</a:t>
            </a:r>
            <a:endParaRPr lang="en-US" sz="1050" dirty="0"/>
          </a:p>
        </p:txBody>
      </p:sp>
      <p:sp>
        <p:nvSpPr>
          <p:cNvPr id="14" name="Shape 12"/>
          <p:cNvSpPr/>
          <p:nvPr/>
        </p:nvSpPr>
        <p:spPr>
          <a:xfrm>
            <a:off x="274320" y="1389888"/>
            <a:ext cx="8595360" cy="65836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274320" y="1389888"/>
            <a:ext cx="64008" cy="658368"/>
          </a:xfrm>
          <a:prstGeom prst="rect">
            <a:avLst/>
          </a:prstGeom>
          <a:solidFill>
            <a:srgbClr val="F4B942"/>
          </a:solidFill>
          <a:ln w="12700">
            <a:solidFill>
              <a:srgbClr val="F4B942"/>
            </a:solidFill>
            <a:prstDash val="solid"/>
          </a:ln>
        </p:spPr>
      </p:sp>
      <p:sp>
        <p:nvSpPr>
          <p:cNvPr id="16" name="Text 14"/>
          <p:cNvSpPr/>
          <p:nvPr/>
        </p:nvSpPr>
        <p:spPr>
          <a:xfrm>
            <a:off x="384048" y="1389888"/>
            <a:ext cx="8458200" cy="219456"/>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Root Cause</a:t>
            </a:r>
            <a:endParaRPr lang="en-US" sz="800" dirty="0"/>
          </a:p>
        </p:txBody>
      </p:sp>
      <p:sp>
        <p:nvSpPr>
          <p:cNvPr id="17" name="Text 15"/>
          <p:cNvSpPr/>
          <p:nvPr/>
        </p:nvSpPr>
        <p:spPr>
          <a:xfrm>
            <a:off x="384048" y="1591056"/>
            <a:ext cx="8458200" cy="438912"/>
          </a:xfrm>
          <a:prstGeom prst="rect">
            <a:avLst/>
          </a:prstGeom>
          <a:noFill/>
          <a:ln/>
        </p:spPr>
        <p:txBody>
          <a:bodyPr wrap="square" rtlCol="0" anchor="ctr"/>
          <a:lstStyle/>
          <a:p>
            <a:pPr indent="0" marL="0">
              <a:buNone/>
            </a:pPr>
            <a:r>
              <a:rPr lang="en-US" sz="1050" dirty="0">
                <a:solidFill>
                  <a:srgbClr val="F4B942"/>
                </a:solidFill>
                <a:latin typeface="Calibri" pitchFamily="34" charset="0"/>
                <a:ea typeface="Calibri" pitchFamily="34" charset="-122"/>
                <a:cs typeface="Calibri" pitchFamily="34" charset="-120"/>
              </a:rPr>
              <a:t>API Gateway has no usage plan, throttling rate, or burst limit on the billing route. DVSA-ORDER-BILLING has no reserved concurrency cap. The AWS account allows only 10 concurrent Lambda executions — flooding with 50 concurrent requests exhausts all slots instantly.</a:t>
            </a:r>
            <a:endParaRPr lang="en-US" sz="1050" dirty="0"/>
          </a:p>
        </p:txBody>
      </p:sp>
      <p:sp>
        <p:nvSpPr>
          <p:cNvPr id="18" name="Shape 16"/>
          <p:cNvSpPr/>
          <p:nvPr/>
        </p:nvSpPr>
        <p:spPr>
          <a:xfrm>
            <a:off x="27432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9" name="Shape 17"/>
          <p:cNvSpPr/>
          <p:nvPr/>
        </p:nvSpPr>
        <p:spPr>
          <a:xfrm>
            <a:off x="274320" y="2148840"/>
            <a:ext cx="64008" cy="1325880"/>
          </a:xfrm>
          <a:prstGeom prst="rect">
            <a:avLst/>
          </a:prstGeom>
          <a:solidFill>
            <a:srgbClr val="00C2CB"/>
          </a:solidFill>
          <a:ln w="12700">
            <a:solidFill>
              <a:srgbClr val="00C2CB"/>
            </a:solidFill>
            <a:prstDash val="solid"/>
          </a:ln>
        </p:spPr>
      </p:sp>
      <p:sp>
        <p:nvSpPr>
          <p:cNvPr id="20" name="Text 18"/>
          <p:cNvSpPr/>
          <p:nvPr/>
        </p:nvSpPr>
        <p:spPr>
          <a:xfrm>
            <a:off x="38404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Reproduction Steps</a:t>
            </a:r>
            <a:endParaRPr lang="en-US" sz="800" dirty="0"/>
          </a:p>
        </p:txBody>
      </p:sp>
      <p:sp>
        <p:nvSpPr>
          <p:cNvPr id="21" name="Text 19"/>
          <p:cNvSpPr/>
          <p:nvPr/>
        </p:nvSpPr>
        <p:spPr>
          <a:xfrm>
            <a:off x="384048" y="2368296"/>
            <a:ext cx="4023360" cy="1088136"/>
          </a:xfrm>
          <a:prstGeom prst="rect">
            <a:avLst/>
          </a:prstGeom>
          <a:noFill/>
          <a:ln/>
        </p:spPr>
        <p:txBody>
          <a:bodyPr wrap="square" rtlCol="0" anchor="ctr"/>
          <a:lstStyle/>
          <a:p>
            <a:pPr indent="0" marL="0">
              <a:buNone/>
            </a:pPr>
            <a:r>
              <a:rPr lang="en-US" sz="1000" dirty="0">
                <a:solidFill>
                  <a:srgbClr val="F0F4F8"/>
                </a:solidFill>
                <a:latin typeface="Calibri" pitchFamily="34" charset="0"/>
                <a:ea typeface="Calibri" pitchFamily="34" charset="-122"/>
                <a:cs typeface="Calibri" pitchFamily="34" charset="-120"/>
              </a:rPr>
              <a:t>1. Confirm normal behavior (orders API returns ok)  2. Check account: aws lambda get-account-settings → ConcurrentExecutions: 10  3. Launch 50 concurrent curl billing requests in parallel  4. All return Internal server error</a:t>
            </a:r>
            <a:endParaRPr lang="en-US" sz="1000" dirty="0"/>
          </a:p>
        </p:txBody>
      </p:sp>
      <p:sp>
        <p:nvSpPr>
          <p:cNvPr id="22" name="Shape 20"/>
          <p:cNvSpPr/>
          <p:nvPr/>
        </p:nvSpPr>
        <p:spPr>
          <a:xfrm>
            <a:off x="470916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3" name="Shape 21"/>
          <p:cNvSpPr/>
          <p:nvPr/>
        </p:nvSpPr>
        <p:spPr>
          <a:xfrm>
            <a:off x="4709160" y="2148840"/>
            <a:ext cx="64008" cy="1325880"/>
          </a:xfrm>
          <a:prstGeom prst="rect">
            <a:avLst/>
          </a:prstGeom>
          <a:solidFill>
            <a:srgbClr val="3BB273"/>
          </a:solidFill>
          <a:ln w="12700">
            <a:solidFill>
              <a:srgbClr val="3BB273"/>
            </a:solidFill>
            <a:prstDash val="solid"/>
          </a:ln>
        </p:spPr>
      </p:sp>
      <p:sp>
        <p:nvSpPr>
          <p:cNvPr id="24" name="Text 22"/>
          <p:cNvSpPr/>
          <p:nvPr/>
        </p:nvSpPr>
        <p:spPr>
          <a:xfrm>
            <a:off x="481888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Fix Strategy</a:t>
            </a:r>
            <a:endParaRPr lang="en-US" sz="800" dirty="0"/>
          </a:p>
        </p:txBody>
      </p:sp>
      <p:sp>
        <p:nvSpPr>
          <p:cNvPr id="25" name="Text 23"/>
          <p:cNvSpPr/>
          <p:nvPr/>
        </p:nvSpPr>
        <p:spPr>
          <a:xfrm>
            <a:off x="4818888" y="2368296"/>
            <a:ext cx="4023360" cy="1088136"/>
          </a:xfrm>
          <a:prstGeom prst="rect">
            <a:avLst/>
          </a:prstGeom>
          <a:noFill/>
          <a:ln/>
        </p:spPr>
        <p:txBody>
          <a:bodyPr wrap="square" rtlCol="0" anchor="ctr"/>
          <a:lstStyle/>
          <a:p>
            <a:pPr indent="0" marL="0">
              <a:buNone/>
            </a:pPr>
            <a:r>
              <a:rPr lang="en-US" sz="1000" dirty="0">
                <a:solidFill>
                  <a:srgbClr val="3BB273"/>
                </a:solidFill>
                <a:latin typeface="Calibri" pitchFamily="34" charset="0"/>
                <a:ea typeface="Calibri" pitchFamily="34" charset="-122"/>
                <a:cs typeface="Calibri" pitchFamily="34" charset="-120"/>
              </a:rPr>
              <a:t>Configure API Gateway usage plan with per-user rate + burst limits on the billing endpoint. Set Lambda reserved concurrency to prevent monopolization. Introduce SQS queue for billing requests to smooth load. Add per-user request throttling.</a:t>
            </a:r>
            <a:endParaRPr lang="en-US" sz="1000" dirty="0"/>
          </a:p>
        </p:txBody>
      </p:sp>
      <p:sp>
        <p:nvSpPr>
          <p:cNvPr id="26" name="Shape 24"/>
          <p:cNvSpPr/>
          <p:nvPr/>
        </p:nvSpPr>
        <p:spPr>
          <a:xfrm>
            <a:off x="274320" y="3566160"/>
            <a:ext cx="8595360" cy="457200"/>
          </a:xfrm>
          <a:prstGeom prst="rect">
            <a:avLst/>
          </a:prstGeom>
          <a:solidFill>
            <a:srgbClr val="12263A"/>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7" name="Shape 25"/>
          <p:cNvSpPr/>
          <p:nvPr/>
        </p:nvSpPr>
        <p:spPr>
          <a:xfrm>
            <a:off x="274320" y="3566160"/>
            <a:ext cx="64008" cy="457200"/>
          </a:xfrm>
          <a:prstGeom prst="rect">
            <a:avLst/>
          </a:prstGeom>
          <a:solidFill>
            <a:srgbClr val="F4B942"/>
          </a:solidFill>
          <a:ln w="12700">
            <a:solidFill>
              <a:srgbClr val="F4B942"/>
            </a:solidFill>
            <a:prstDash val="solid"/>
          </a:ln>
        </p:spPr>
      </p:sp>
      <p:sp>
        <p:nvSpPr>
          <p:cNvPr id="28" name="Text 26"/>
          <p:cNvSpPr/>
          <p:nvPr/>
        </p:nvSpPr>
        <p:spPr>
          <a:xfrm>
            <a:off x="384048" y="3566160"/>
            <a:ext cx="8458200" cy="457200"/>
          </a:xfrm>
          <a:prstGeom prst="rect">
            <a:avLst/>
          </a:prstGeom>
          <a:noFill/>
          <a:ln/>
        </p:spPr>
        <p:txBody>
          <a:bodyPr wrap="square" rtlCol="0" anchor="ctr"/>
          <a:lstStyle/>
          <a:p>
            <a:pPr indent="0" marL="0">
              <a:buNone/>
            </a:pPr>
            <a:r>
              <a:rPr lang="en-US" sz="1000" dirty="0">
                <a:solidFill>
                  <a:srgbClr val="8FA8BF"/>
                </a:solidFill>
                <a:latin typeface="Calibri" pitchFamily="34" charset="0"/>
                <a:ea typeface="Calibri" pitchFamily="34" charset="-122"/>
                <a:cs typeface="Calibri" pitchFamily="34" charset="-120"/>
              </a:rPr>
              <a:t>Deviation Class  ·  </a:t>
            </a:r>
            <a:endParaRPr lang="en-US" sz="1000" dirty="0"/>
          </a:p>
        </p:txBody>
      </p:sp>
      <p:sp>
        <p:nvSpPr>
          <p:cNvPr id="29" name="Text 27"/>
          <p:cNvSpPr/>
          <p:nvPr/>
        </p:nvSpPr>
        <p:spPr>
          <a:xfrm>
            <a:off x="2240280" y="3566160"/>
            <a:ext cx="6583680" cy="457200"/>
          </a:xfrm>
          <a:prstGeom prst="rect">
            <a:avLst/>
          </a:prstGeom>
          <a:noFill/>
          <a:ln/>
        </p:spPr>
        <p:txBody>
          <a:bodyPr wrap="square" rtlCol="0" anchor="ctr"/>
          <a:lstStyle/>
          <a:p>
            <a:pPr indent="0" marL="0">
              <a:buNone/>
            </a:pPr>
            <a:r>
              <a:rPr lang="en-US" sz="1000" b="1" dirty="0">
                <a:solidFill>
                  <a:srgbClr val="F4B942"/>
                </a:solidFill>
                <a:latin typeface="Calibri" pitchFamily="34" charset="0"/>
                <a:ea typeface="Calibri" pitchFamily="34" charset="-122"/>
                <a:cs typeface="Calibri" pitchFamily="34" charset="-120"/>
              </a:rPr>
              <a:t>Intentional Misuse / Security-Relevant Abuse</a:t>
            </a:r>
            <a:endParaRPr lang="en-US" sz="1000" dirty="0"/>
          </a:p>
        </p:txBody>
      </p:sp>
      <p:sp>
        <p:nvSpPr>
          <p:cNvPr id="30" name="Shape 28"/>
          <p:cNvSpPr/>
          <p:nvPr/>
        </p:nvSpPr>
        <p:spPr>
          <a:xfrm>
            <a:off x="0" y="5056632"/>
            <a:ext cx="9144000" cy="91440"/>
          </a:xfrm>
          <a:prstGeom prst="rect">
            <a:avLst/>
          </a:prstGeom>
          <a:solidFill>
            <a:srgbClr val="00C2CB"/>
          </a:solidFill>
          <a:ln w="12700">
            <a:solidFill>
              <a:srgbClr val="00C2CB"/>
            </a:solidFill>
            <a:prstDash val="solid"/>
          </a:ln>
        </p:spPr>
      </p:sp>
      <p:sp>
        <p:nvSpPr>
          <p:cNvPr id="31" name="Text 29"/>
          <p:cNvSpPr/>
          <p:nvPr/>
        </p:nvSpPr>
        <p:spPr>
          <a:xfrm>
            <a:off x="0" y="4855464"/>
            <a:ext cx="9144000" cy="219456"/>
          </a:xfrm>
          <a:prstGeom prst="rect">
            <a:avLst/>
          </a:prstGeom>
          <a:noFill/>
          <a:ln/>
        </p:spPr>
        <p:txBody>
          <a:bodyPr wrap="square" rtlCol="0" anchor="ctr"/>
          <a:lstStyle/>
          <a:p>
            <a:pPr algn="ctr" indent="0" marL="0">
              <a:buNone/>
            </a:pPr>
            <a:r>
              <a:rPr lang="en-US" sz="800" dirty="0">
                <a:solidFill>
                  <a:srgbClr val="8FA8BF"/>
                </a:solidFill>
                <a:latin typeface="Calibri" pitchFamily="34" charset="0"/>
                <a:ea typeface="Calibri" pitchFamily="34" charset="-122"/>
                <a:cs typeface="Calibri" pitchFamily="34" charset="-120"/>
              </a:rPr>
              <a:t>ICS-344 · KFUPM · Almatrook &amp; Almuhanna</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Shape 1"/>
          <p:cNvSpPr/>
          <p:nvPr/>
        </p:nvSpPr>
        <p:spPr>
          <a:xfrm>
            <a:off x="274320" y="128016"/>
            <a:ext cx="1005840" cy="411480"/>
          </a:xfrm>
          <a:prstGeom prst="rect">
            <a:avLst/>
          </a:prstGeom>
          <a:solidFill>
            <a:srgbClr val="00C2C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 name="Text 2"/>
          <p:cNvSpPr/>
          <p:nvPr/>
        </p:nvSpPr>
        <p:spPr>
          <a:xfrm>
            <a:off x="274320" y="128016"/>
            <a:ext cx="1005840" cy="41148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L7</a:t>
            </a:r>
            <a:endParaRPr lang="en-US" sz="1300" dirty="0"/>
          </a:p>
        </p:txBody>
      </p:sp>
      <p:sp>
        <p:nvSpPr>
          <p:cNvPr id="5" name="Text 3"/>
          <p:cNvSpPr/>
          <p:nvPr/>
        </p:nvSpPr>
        <p:spPr>
          <a:xfrm>
            <a:off x="1417320" y="128016"/>
            <a:ext cx="7406640" cy="411480"/>
          </a:xfrm>
          <a:prstGeom prst="rect">
            <a:avLst/>
          </a:prstGeom>
          <a:noFill/>
          <a:ln/>
        </p:spPr>
        <p:txBody>
          <a:bodyPr wrap="square" rtlCol="0" anchor="ctr"/>
          <a:lstStyle/>
          <a:p>
            <a:pPr indent="0" marL="0">
              <a:buNone/>
            </a:pPr>
            <a:r>
              <a:rPr lang="en-US" sz="2000" b="1" dirty="0">
                <a:solidFill>
                  <a:srgbClr val="F0F4F8"/>
                </a:solidFill>
                <a:latin typeface="Arial Black" pitchFamily="34" charset="0"/>
                <a:ea typeface="Arial Black" pitchFamily="34" charset="-122"/>
                <a:cs typeface="Arial Black" pitchFamily="34" charset="-120"/>
              </a:rPr>
              <a:t>Over-Privileged Function — IAM Least Privilege</a:t>
            </a:r>
            <a:endParaRPr lang="en-US" sz="2000" dirty="0"/>
          </a:p>
        </p:txBody>
      </p:sp>
      <p:sp>
        <p:nvSpPr>
          <p:cNvPr id="6" name="Shape 4"/>
          <p:cNvSpPr/>
          <p:nvPr/>
        </p:nvSpPr>
        <p:spPr>
          <a:xfrm>
            <a:off x="27432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7" name="Shape 5"/>
          <p:cNvSpPr/>
          <p:nvPr/>
        </p:nvSpPr>
        <p:spPr>
          <a:xfrm>
            <a:off x="274320" y="658368"/>
            <a:ext cx="64008" cy="640080"/>
          </a:xfrm>
          <a:prstGeom prst="rect">
            <a:avLst/>
          </a:prstGeom>
          <a:solidFill>
            <a:srgbClr val="00C2CB"/>
          </a:solidFill>
          <a:ln w="12700">
            <a:solidFill>
              <a:srgbClr val="00C2CB"/>
            </a:solidFill>
            <a:prstDash val="solid"/>
          </a:ln>
        </p:spPr>
      </p:sp>
      <p:sp>
        <p:nvSpPr>
          <p:cNvPr id="8" name="Text 6"/>
          <p:cNvSpPr/>
          <p:nvPr/>
        </p:nvSpPr>
        <p:spPr>
          <a:xfrm>
            <a:off x="38404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Affected Component</a:t>
            </a:r>
            <a:endParaRPr lang="en-US" sz="800" dirty="0"/>
          </a:p>
        </p:txBody>
      </p:sp>
      <p:sp>
        <p:nvSpPr>
          <p:cNvPr id="9" name="Text 7"/>
          <p:cNvSpPr/>
          <p:nvPr/>
        </p:nvSpPr>
        <p:spPr>
          <a:xfrm>
            <a:off x="384048" y="859536"/>
            <a:ext cx="4023360" cy="420624"/>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Lambda (DVSA-SEND-RECEIPT-EMAIL) · IAM Role · S3 / DynamoDB / SES</a:t>
            </a:r>
            <a:endParaRPr lang="en-US" sz="1050" dirty="0"/>
          </a:p>
        </p:txBody>
      </p:sp>
      <p:sp>
        <p:nvSpPr>
          <p:cNvPr id="10" name="Shape 8"/>
          <p:cNvSpPr/>
          <p:nvPr/>
        </p:nvSpPr>
        <p:spPr>
          <a:xfrm>
            <a:off x="470916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709160" y="658368"/>
            <a:ext cx="64008" cy="640080"/>
          </a:xfrm>
          <a:prstGeom prst="rect">
            <a:avLst/>
          </a:prstGeom>
          <a:solidFill>
            <a:srgbClr val="E84855"/>
          </a:solidFill>
          <a:ln w="12700">
            <a:solidFill>
              <a:srgbClr val="E84855"/>
            </a:solidFill>
            <a:prstDash val="solid"/>
          </a:ln>
        </p:spPr>
      </p:sp>
      <p:sp>
        <p:nvSpPr>
          <p:cNvPr id="12" name="Text 10"/>
          <p:cNvSpPr/>
          <p:nvPr/>
        </p:nvSpPr>
        <p:spPr>
          <a:xfrm>
            <a:off x="481888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Security Impact</a:t>
            </a:r>
            <a:endParaRPr lang="en-US" sz="800" dirty="0"/>
          </a:p>
        </p:txBody>
      </p:sp>
      <p:sp>
        <p:nvSpPr>
          <p:cNvPr id="13" name="Text 11"/>
          <p:cNvSpPr/>
          <p:nvPr/>
        </p:nvSpPr>
        <p:spPr>
          <a:xfrm>
            <a:off x="4818888" y="859536"/>
            <a:ext cx="4023360" cy="420624"/>
          </a:xfrm>
          <a:prstGeom prst="rect">
            <a:avLst/>
          </a:prstGeom>
          <a:noFill/>
          <a:ln/>
        </p:spPr>
        <p:txBody>
          <a:bodyPr wrap="square" rtlCol="0" anchor="ctr"/>
          <a:lstStyle/>
          <a:p>
            <a:pPr indent="0" marL="0">
              <a:buNone/>
            </a:pPr>
            <a:r>
              <a:rPr lang="en-US" sz="1050" dirty="0">
                <a:solidFill>
                  <a:srgbClr val="E84855"/>
                </a:solidFill>
                <a:latin typeface="Calibri" pitchFamily="34" charset="0"/>
                <a:ea typeface="Calibri" pitchFamily="34" charset="-122"/>
                <a:cs typeface="Calibri" pitchFamily="34" charset="-120"/>
              </a:rPr>
              <a:t>Compromised receipt function = full DynamoDB read/write/delete across ALL account tables</a:t>
            </a:r>
            <a:endParaRPr lang="en-US" sz="1050" dirty="0"/>
          </a:p>
        </p:txBody>
      </p:sp>
      <p:sp>
        <p:nvSpPr>
          <p:cNvPr id="14" name="Shape 12"/>
          <p:cNvSpPr/>
          <p:nvPr/>
        </p:nvSpPr>
        <p:spPr>
          <a:xfrm>
            <a:off x="274320" y="1389888"/>
            <a:ext cx="8595360" cy="65836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274320" y="1389888"/>
            <a:ext cx="64008" cy="658368"/>
          </a:xfrm>
          <a:prstGeom prst="rect">
            <a:avLst/>
          </a:prstGeom>
          <a:solidFill>
            <a:srgbClr val="F4B942"/>
          </a:solidFill>
          <a:ln w="12700">
            <a:solidFill>
              <a:srgbClr val="F4B942"/>
            </a:solidFill>
            <a:prstDash val="solid"/>
          </a:ln>
        </p:spPr>
      </p:sp>
      <p:sp>
        <p:nvSpPr>
          <p:cNvPr id="16" name="Text 14"/>
          <p:cNvSpPr/>
          <p:nvPr/>
        </p:nvSpPr>
        <p:spPr>
          <a:xfrm>
            <a:off x="384048" y="1389888"/>
            <a:ext cx="8458200" cy="219456"/>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Root Cause</a:t>
            </a:r>
            <a:endParaRPr lang="en-US" sz="800" dirty="0"/>
          </a:p>
        </p:txBody>
      </p:sp>
      <p:sp>
        <p:nvSpPr>
          <p:cNvPr id="17" name="Text 15"/>
          <p:cNvSpPr/>
          <p:nvPr/>
        </p:nvSpPr>
        <p:spPr>
          <a:xfrm>
            <a:off x="384048" y="1591056"/>
            <a:ext cx="8458200" cy="438912"/>
          </a:xfrm>
          <a:prstGeom prst="rect">
            <a:avLst/>
          </a:prstGeom>
          <a:noFill/>
          <a:ln/>
        </p:spPr>
        <p:txBody>
          <a:bodyPr wrap="square" rtlCol="0" anchor="ctr"/>
          <a:lstStyle/>
          <a:p>
            <a:pPr indent="0" marL="0">
              <a:buNone/>
            </a:pPr>
            <a:r>
              <a:rPr lang="en-US" sz="1050" dirty="0">
                <a:solidFill>
                  <a:srgbClr val="F4B942"/>
                </a:solidFill>
                <a:latin typeface="Calibri" pitchFamily="34" charset="0"/>
                <a:ea typeface="Calibri" pitchFamily="34" charset="-122"/>
                <a:cs typeface="Calibri" pitchFamily="34" charset="-120"/>
              </a:rPr>
              <a:t>The execution role grants 9 DynamoDB actions (Scan, DeleteItem, BatchWriteItem…) on wildcard arn:aws:dynamodb:*:*:table/* and 9 S3 actions exceeding a read/send receipt workflow. IAM Policy Simulator confirms s3:PutObject and dynamodb:Scan both Allowed.</a:t>
            </a:r>
            <a:endParaRPr lang="en-US" sz="1050" dirty="0"/>
          </a:p>
        </p:txBody>
      </p:sp>
      <p:sp>
        <p:nvSpPr>
          <p:cNvPr id="18" name="Shape 16"/>
          <p:cNvSpPr/>
          <p:nvPr/>
        </p:nvSpPr>
        <p:spPr>
          <a:xfrm>
            <a:off x="27432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9" name="Shape 17"/>
          <p:cNvSpPr/>
          <p:nvPr/>
        </p:nvSpPr>
        <p:spPr>
          <a:xfrm>
            <a:off x="274320" y="2148840"/>
            <a:ext cx="64008" cy="1325880"/>
          </a:xfrm>
          <a:prstGeom prst="rect">
            <a:avLst/>
          </a:prstGeom>
          <a:solidFill>
            <a:srgbClr val="00C2CB"/>
          </a:solidFill>
          <a:ln w="12700">
            <a:solidFill>
              <a:srgbClr val="00C2CB"/>
            </a:solidFill>
            <a:prstDash val="solid"/>
          </a:ln>
        </p:spPr>
      </p:sp>
      <p:sp>
        <p:nvSpPr>
          <p:cNvPr id="20" name="Text 18"/>
          <p:cNvSpPr/>
          <p:nvPr/>
        </p:nvSpPr>
        <p:spPr>
          <a:xfrm>
            <a:off x="38404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Reproduction Steps</a:t>
            </a:r>
            <a:endParaRPr lang="en-US" sz="800" dirty="0"/>
          </a:p>
        </p:txBody>
      </p:sp>
      <p:sp>
        <p:nvSpPr>
          <p:cNvPr id="21" name="Text 19"/>
          <p:cNvSpPr/>
          <p:nvPr/>
        </p:nvSpPr>
        <p:spPr>
          <a:xfrm>
            <a:off x="384048" y="2368296"/>
            <a:ext cx="4023360" cy="1088136"/>
          </a:xfrm>
          <a:prstGeom prst="rect">
            <a:avLst/>
          </a:prstGeom>
          <a:noFill/>
          <a:ln/>
        </p:spPr>
        <p:txBody>
          <a:bodyPr wrap="square" rtlCol="0" anchor="ctr"/>
          <a:lstStyle/>
          <a:p>
            <a:pPr indent="0" marL="0">
              <a:buNone/>
            </a:pPr>
            <a:r>
              <a:rPr lang="en-US" sz="1000" dirty="0">
                <a:solidFill>
                  <a:srgbClr val="F0F4F8"/>
                </a:solidFill>
                <a:latin typeface="Calibri" pitchFamily="34" charset="0"/>
                <a:ea typeface="Calibri" pitchFamily="34" charset="-122"/>
                <a:cs typeface="Calibri" pitchFamily="34" charset="-120"/>
              </a:rPr>
              <a:t>1. Open Lambda → DVSA-SEND-RECEIPT-EMAIL → Configuration → Permissions  2. Review CreateReceiptFunctionRolePolicy1 (DynamoDB) — wildcard tables  3. Run IAM Policy Simulator: DynamoDB Scan → Allowed on any table  4. Enable CloudTrail, trigger function, generate actual-use policy → drastically smaller</a:t>
            </a:r>
            <a:endParaRPr lang="en-US" sz="1000" dirty="0"/>
          </a:p>
        </p:txBody>
      </p:sp>
      <p:sp>
        <p:nvSpPr>
          <p:cNvPr id="22" name="Shape 20"/>
          <p:cNvSpPr/>
          <p:nvPr/>
        </p:nvSpPr>
        <p:spPr>
          <a:xfrm>
            <a:off x="470916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3" name="Shape 21"/>
          <p:cNvSpPr/>
          <p:nvPr/>
        </p:nvSpPr>
        <p:spPr>
          <a:xfrm>
            <a:off x="4709160" y="2148840"/>
            <a:ext cx="64008" cy="1325880"/>
          </a:xfrm>
          <a:prstGeom prst="rect">
            <a:avLst/>
          </a:prstGeom>
          <a:solidFill>
            <a:srgbClr val="3BB273"/>
          </a:solidFill>
          <a:ln w="12700">
            <a:solidFill>
              <a:srgbClr val="3BB273"/>
            </a:solidFill>
            <a:prstDash val="solid"/>
          </a:ln>
        </p:spPr>
      </p:sp>
      <p:sp>
        <p:nvSpPr>
          <p:cNvPr id="24" name="Text 22"/>
          <p:cNvSpPr/>
          <p:nvPr/>
        </p:nvSpPr>
        <p:spPr>
          <a:xfrm>
            <a:off x="481888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Fix Strategy</a:t>
            </a:r>
            <a:endParaRPr lang="en-US" sz="800" dirty="0"/>
          </a:p>
        </p:txBody>
      </p:sp>
      <p:sp>
        <p:nvSpPr>
          <p:cNvPr id="25" name="Text 23"/>
          <p:cNvSpPr/>
          <p:nvPr/>
        </p:nvSpPr>
        <p:spPr>
          <a:xfrm>
            <a:off x="4818888" y="2368296"/>
            <a:ext cx="4023360" cy="1088136"/>
          </a:xfrm>
          <a:prstGeom prst="rect">
            <a:avLst/>
          </a:prstGeom>
          <a:noFill/>
          <a:ln/>
        </p:spPr>
        <p:txBody>
          <a:bodyPr wrap="square" rtlCol="0" anchor="ctr"/>
          <a:lstStyle/>
          <a:p>
            <a:pPr indent="0" marL="0">
              <a:buNone/>
            </a:pPr>
            <a:r>
              <a:rPr lang="en-US" sz="1000" dirty="0">
                <a:solidFill>
                  <a:srgbClr val="3BB273"/>
                </a:solidFill>
                <a:latin typeface="Calibri" pitchFamily="34" charset="0"/>
                <a:ea typeface="Calibri" pitchFamily="34" charset="-122"/>
                <a:cs typeface="Calibri" pitchFamily="34" charset="-120"/>
              </a:rPr>
              <a:t>Remove DynamoDB policy entirely (no legitimate need). Trim S3 to only s3:GetObject + s3:PutObject on the specific receipts bucket ARN. Scope SES to ses:SendEmail only. Verify with IAM Policy Simulator post-fix.</a:t>
            </a:r>
            <a:endParaRPr lang="en-US" sz="1000" dirty="0"/>
          </a:p>
        </p:txBody>
      </p:sp>
      <p:sp>
        <p:nvSpPr>
          <p:cNvPr id="26" name="Shape 24"/>
          <p:cNvSpPr/>
          <p:nvPr/>
        </p:nvSpPr>
        <p:spPr>
          <a:xfrm>
            <a:off x="274320" y="3566160"/>
            <a:ext cx="8595360" cy="457200"/>
          </a:xfrm>
          <a:prstGeom prst="rect">
            <a:avLst/>
          </a:prstGeom>
          <a:solidFill>
            <a:srgbClr val="12263A"/>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7" name="Shape 25"/>
          <p:cNvSpPr/>
          <p:nvPr/>
        </p:nvSpPr>
        <p:spPr>
          <a:xfrm>
            <a:off x="274320" y="3566160"/>
            <a:ext cx="64008" cy="457200"/>
          </a:xfrm>
          <a:prstGeom prst="rect">
            <a:avLst/>
          </a:prstGeom>
          <a:solidFill>
            <a:srgbClr val="F4B942"/>
          </a:solidFill>
          <a:ln w="12700">
            <a:solidFill>
              <a:srgbClr val="F4B942"/>
            </a:solidFill>
            <a:prstDash val="solid"/>
          </a:ln>
        </p:spPr>
      </p:sp>
      <p:sp>
        <p:nvSpPr>
          <p:cNvPr id="28" name="Text 26"/>
          <p:cNvSpPr/>
          <p:nvPr/>
        </p:nvSpPr>
        <p:spPr>
          <a:xfrm>
            <a:off x="384048" y="3566160"/>
            <a:ext cx="8458200" cy="457200"/>
          </a:xfrm>
          <a:prstGeom prst="rect">
            <a:avLst/>
          </a:prstGeom>
          <a:noFill/>
          <a:ln/>
        </p:spPr>
        <p:txBody>
          <a:bodyPr wrap="square" rtlCol="0" anchor="ctr"/>
          <a:lstStyle/>
          <a:p>
            <a:pPr indent="0" marL="0">
              <a:buNone/>
            </a:pPr>
            <a:r>
              <a:rPr lang="en-US" sz="1000" dirty="0">
                <a:solidFill>
                  <a:srgbClr val="8FA8BF"/>
                </a:solidFill>
                <a:latin typeface="Calibri" pitchFamily="34" charset="0"/>
                <a:ea typeface="Calibri" pitchFamily="34" charset="-122"/>
                <a:cs typeface="Calibri" pitchFamily="34" charset="-120"/>
              </a:rPr>
              <a:t>Deviation Class  ·  </a:t>
            </a:r>
            <a:endParaRPr lang="en-US" sz="1000" dirty="0"/>
          </a:p>
        </p:txBody>
      </p:sp>
      <p:sp>
        <p:nvSpPr>
          <p:cNvPr id="29" name="Text 27"/>
          <p:cNvSpPr/>
          <p:nvPr/>
        </p:nvSpPr>
        <p:spPr>
          <a:xfrm>
            <a:off x="2240280" y="3566160"/>
            <a:ext cx="6583680" cy="457200"/>
          </a:xfrm>
          <a:prstGeom prst="rect">
            <a:avLst/>
          </a:prstGeom>
          <a:noFill/>
          <a:ln/>
        </p:spPr>
        <p:txBody>
          <a:bodyPr wrap="square" rtlCol="0" anchor="ctr"/>
          <a:lstStyle/>
          <a:p>
            <a:pPr indent="0" marL="0">
              <a:buNone/>
            </a:pPr>
            <a:r>
              <a:rPr lang="en-US" sz="1000" b="1" dirty="0">
                <a:solidFill>
                  <a:srgbClr val="F4B942"/>
                </a:solidFill>
                <a:latin typeface="Calibri" pitchFamily="34" charset="0"/>
                <a:ea typeface="Calibri" pitchFamily="34" charset="-122"/>
                <a:cs typeface="Calibri" pitchFamily="34" charset="-120"/>
              </a:rPr>
              <a:t>Accidental Misconfiguration</a:t>
            </a:r>
            <a:endParaRPr lang="en-US" sz="1000" dirty="0"/>
          </a:p>
        </p:txBody>
      </p:sp>
      <p:sp>
        <p:nvSpPr>
          <p:cNvPr id="30" name="Shape 28"/>
          <p:cNvSpPr/>
          <p:nvPr/>
        </p:nvSpPr>
        <p:spPr>
          <a:xfrm>
            <a:off x="0" y="5056632"/>
            <a:ext cx="9144000" cy="91440"/>
          </a:xfrm>
          <a:prstGeom prst="rect">
            <a:avLst/>
          </a:prstGeom>
          <a:solidFill>
            <a:srgbClr val="00C2CB"/>
          </a:solidFill>
          <a:ln w="12700">
            <a:solidFill>
              <a:srgbClr val="00C2CB"/>
            </a:solidFill>
            <a:prstDash val="solid"/>
          </a:ln>
        </p:spPr>
      </p:sp>
      <p:sp>
        <p:nvSpPr>
          <p:cNvPr id="31" name="Text 29"/>
          <p:cNvSpPr/>
          <p:nvPr/>
        </p:nvSpPr>
        <p:spPr>
          <a:xfrm>
            <a:off x="0" y="4855464"/>
            <a:ext cx="9144000" cy="219456"/>
          </a:xfrm>
          <a:prstGeom prst="rect">
            <a:avLst/>
          </a:prstGeom>
          <a:noFill/>
          <a:ln/>
        </p:spPr>
        <p:txBody>
          <a:bodyPr wrap="square" rtlCol="0" anchor="ctr"/>
          <a:lstStyle/>
          <a:p>
            <a:pPr algn="ctr" indent="0" marL="0">
              <a:buNone/>
            </a:pPr>
            <a:r>
              <a:rPr lang="en-US" sz="800" dirty="0">
                <a:solidFill>
                  <a:srgbClr val="8FA8BF"/>
                </a:solidFill>
                <a:latin typeface="Calibri" pitchFamily="34" charset="0"/>
                <a:ea typeface="Calibri" pitchFamily="34" charset="-122"/>
                <a:cs typeface="Calibri" pitchFamily="34" charset="-120"/>
              </a:rPr>
              <a:t>ICS-344 · KFUPM · Almatrook &amp; Almuhanna</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Shape 1"/>
          <p:cNvSpPr/>
          <p:nvPr/>
        </p:nvSpPr>
        <p:spPr>
          <a:xfrm>
            <a:off x="274320" y="128016"/>
            <a:ext cx="1005840" cy="411480"/>
          </a:xfrm>
          <a:prstGeom prst="rect">
            <a:avLst/>
          </a:prstGeom>
          <a:solidFill>
            <a:srgbClr val="00C2C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 name="Text 2"/>
          <p:cNvSpPr/>
          <p:nvPr/>
        </p:nvSpPr>
        <p:spPr>
          <a:xfrm>
            <a:off x="274320" y="128016"/>
            <a:ext cx="1005840" cy="41148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L8</a:t>
            </a:r>
            <a:endParaRPr lang="en-US" sz="1300" dirty="0"/>
          </a:p>
        </p:txBody>
      </p:sp>
      <p:sp>
        <p:nvSpPr>
          <p:cNvPr id="5" name="Text 3"/>
          <p:cNvSpPr/>
          <p:nvPr/>
        </p:nvSpPr>
        <p:spPr>
          <a:xfrm>
            <a:off x="1417320" y="128016"/>
            <a:ext cx="7406640" cy="411480"/>
          </a:xfrm>
          <a:prstGeom prst="rect">
            <a:avLst/>
          </a:prstGeom>
          <a:noFill/>
          <a:ln/>
        </p:spPr>
        <p:txBody>
          <a:bodyPr wrap="square" rtlCol="0" anchor="ctr"/>
          <a:lstStyle/>
          <a:p>
            <a:pPr indent="0" marL="0">
              <a:buNone/>
            </a:pPr>
            <a:r>
              <a:rPr lang="en-US" sz="2000" b="1" dirty="0">
                <a:solidFill>
                  <a:srgbClr val="F0F4F8"/>
                </a:solidFill>
                <a:latin typeface="Arial Black" pitchFamily="34" charset="0"/>
                <a:ea typeface="Arial Black" pitchFamily="34" charset="-122"/>
                <a:cs typeface="Arial Black" pitchFamily="34" charset="-120"/>
              </a:rPr>
              <a:t>Logic Vulnerability — Race Condition</a:t>
            </a:r>
            <a:endParaRPr lang="en-US" sz="2000" dirty="0"/>
          </a:p>
        </p:txBody>
      </p:sp>
      <p:sp>
        <p:nvSpPr>
          <p:cNvPr id="6" name="Shape 4"/>
          <p:cNvSpPr/>
          <p:nvPr/>
        </p:nvSpPr>
        <p:spPr>
          <a:xfrm>
            <a:off x="27432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7" name="Shape 5"/>
          <p:cNvSpPr/>
          <p:nvPr/>
        </p:nvSpPr>
        <p:spPr>
          <a:xfrm>
            <a:off x="274320" y="658368"/>
            <a:ext cx="64008" cy="640080"/>
          </a:xfrm>
          <a:prstGeom prst="rect">
            <a:avLst/>
          </a:prstGeom>
          <a:solidFill>
            <a:srgbClr val="00C2CB"/>
          </a:solidFill>
          <a:ln w="12700">
            <a:solidFill>
              <a:srgbClr val="00C2CB"/>
            </a:solidFill>
            <a:prstDash val="solid"/>
          </a:ln>
        </p:spPr>
      </p:sp>
      <p:sp>
        <p:nvSpPr>
          <p:cNvPr id="8" name="Text 6"/>
          <p:cNvSpPr/>
          <p:nvPr/>
        </p:nvSpPr>
        <p:spPr>
          <a:xfrm>
            <a:off x="38404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Affected Component</a:t>
            </a:r>
            <a:endParaRPr lang="en-US" sz="800" dirty="0"/>
          </a:p>
        </p:txBody>
      </p:sp>
      <p:sp>
        <p:nvSpPr>
          <p:cNvPr id="9" name="Text 7"/>
          <p:cNvSpPr/>
          <p:nvPr/>
        </p:nvSpPr>
        <p:spPr>
          <a:xfrm>
            <a:off x="384048" y="859536"/>
            <a:ext cx="4023360" cy="420624"/>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API Gateway → Lambda (DVSA-ORDER-BILLING + DVSA-ORDER-UPDATE) → DynamoDB</a:t>
            </a:r>
            <a:endParaRPr lang="en-US" sz="1050" dirty="0"/>
          </a:p>
        </p:txBody>
      </p:sp>
      <p:sp>
        <p:nvSpPr>
          <p:cNvPr id="10" name="Shape 8"/>
          <p:cNvSpPr/>
          <p:nvPr/>
        </p:nvSpPr>
        <p:spPr>
          <a:xfrm>
            <a:off x="470916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709160" y="658368"/>
            <a:ext cx="64008" cy="640080"/>
          </a:xfrm>
          <a:prstGeom prst="rect">
            <a:avLst/>
          </a:prstGeom>
          <a:solidFill>
            <a:srgbClr val="E84855"/>
          </a:solidFill>
          <a:ln w="12700">
            <a:solidFill>
              <a:srgbClr val="E84855"/>
            </a:solidFill>
            <a:prstDash val="solid"/>
          </a:ln>
        </p:spPr>
      </p:sp>
      <p:sp>
        <p:nvSpPr>
          <p:cNvPr id="12" name="Text 10"/>
          <p:cNvSpPr/>
          <p:nvPr/>
        </p:nvSpPr>
        <p:spPr>
          <a:xfrm>
            <a:off x="481888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Security Impact</a:t>
            </a:r>
            <a:endParaRPr lang="en-US" sz="800" dirty="0"/>
          </a:p>
        </p:txBody>
      </p:sp>
      <p:sp>
        <p:nvSpPr>
          <p:cNvPr id="13" name="Text 11"/>
          <p:cNvSpPr/>
          <p:nvPr/>
        </p:nvSpPr>
        <p:spPr>
          <a:xfrm>
            <a:off x="4818888" y="859536"/>
            <a:ext cx="4023360" cy="420624"/>
          </a:xfrm>
          <a:prstGeom prst="rect">
            <a:avLst/>
          </a:prstGeom>
          <a:noFill/>
          <a:ln/>
        </p:spPr>
        <p:txBody>
          <a:bodyPr wrap="square" rtlCol="0" anchor="ctr"/>
          <a:lstStyle/>
          <a:p>
            <a:pPr indent="0" marL="0">
              <a:buNone/>
            </a:pPr>
            <a:r>
              <a:rPr lang="en-US" sz="1050" dirty="0">
                <a:solidFill>
                  <a:srgbClr val="E84855"/>
                </a:solidFill>
                <a:latin typeface="Calibri" pitchFamily="34" charset="0"/>
                <a:ea typeface="Calibri" pitchFamily="34" charset="-122"/>
                <a:cs typeface="Calibri" pitchFamily="34" charset="-120"/>
              </a:rPr>
              <a:t>Attacker pays for 1 item but receives 5 by winning the timing race during billing</a:t>
            </a:r>
            <a:endParaRPr lang="en-US" sz="1050" dirty="0"/>
          </a:p>
        </p:txBody>
      </p:sp>
      <p:sp>
        <p:nvSpPr>
          <p:cNvPr id="14" name="Shape 12"/>
          <p:cNvSpPr/>
          <p:nvPr/>
        </p:nvSpPr>
        <p:spPr>
          <a:xfrm>
            <a:off x="274320" y="1389888"/>
            <a:ext cx="8595360" cy="65836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274320" y="1389888"/>
            <a:ext cx="64008" cy="658368"/>
          </a:xfrm>
          <a:prstGeom prst="rect">
            <a:avLst/>
          </a:prstGeom>
          <a:solidFill>
            <a:srgbClr val="F4B942"/>
          </a:solidFill>
          <a:ln w="12700">
            <a:solidFill>
              <a:srgbClr val="F4B942"/>
            </a:solidFill>
            <a:prstDash val="solid"/>
          </a:ln>
        </p:spPr>
      </p:sp>
      <p:sp>
        <p:nvSpPr>
          <p:cNvPr id="16" name="Text 14"/>
          <p:cNvSpPr/>
          <p:nvPr/>
        </p:nvSpPr>
        <p:spPr>
          <a:xfrm>
            <a:off x="384048" y="1389888"/>
            <a:ext cx="8458200" cy="219456"/>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Root Cause</a:t>
            </a:r>
            <a:endParaRPr lang="en-US" sz="800" dirty="0"/>
          </a:p>
        </p:txBody>
      </p:sp>
      <p:sp>
        <p:nvSpPr>
          <p:cNvPr id="17" name="Text 15"/>
          <p:cNvSpPr/>
          <p:nvPr/>
        </p:nvSpPr>
        <p:spPr>
          <a:xfrm>
            <a:off x="384048" y="1591056"/>
            <a:ext cx="8458200" cy="438912"/>
          </a:xfrm>
          <a:prstGeom prst="rect">
            <a:avLst/>
          </a:prstGeom>
          <a:noFill/>
          <a:ln/>
        </p:spPr>
        <p:txBody>
          <a:bodyPr wrap="square" rtlCol="0" anchor="ctr"/>
          <a:lstStyle/>
          <a:p>
            <a:pPr indent="0" marL="0">
              <a:buNone/>
            </a:pPr>
            <a:r>
              <a:rPr lang="en-US" sz="1050" dirty="0">
                <a:solidFill>
                  <a:srgbClr val="F4B942"/>
                </a:solidFill>
                <a:latin typeface="Calibri" pitchFamily="34" charset="0"/>
                <a:ea typeface="Calibri" pitchFamily="34" charset="-122"/>
                <a:cs typeface="Calibri" pitchFamily="34" charset="-120"/>
              </a:rPr>
              <a:t>DVSA-ORDER-UPDATE checks if orderStatus &gt; 110, which allows updates at status 100 (open) AND 110 (payment failed). Billing takes non-zero time to complete and update the status, so a concurrent update request wins the race — DynamoDB records 5 items, total remains $25.</a:t>
            </a:r>
            <a:endParaRPr lang="en-US" sz="1050" dirty="0"/>
          </a:p>
        </p:txBody>
      </p:sp>
      <p:sp>
        <p:nvSpPr>
          <p:cNvPr id="18" name="Shape 16"/>
          <p:cNvSpPr/>
          <p:nvPr/>
        </p:nvSpPr>
        <p:spPr>
          <a:xfrm>
            <a:off x="27432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9" name="Shape 17"/>
          <p:cNvSpPr/>
          <p:nvPr/>
        </p:nvSpPr>
        <p:spPr>
          <a:xfrm>
            <a:off x="274320" y="2148840"/>
            <a:ext cx="64008" cy="1325880"/>
          </a:xfrm>
          <a:prstGeom prst="rect">
            <a:avLst/>
          </a:prstGeom>
          <a:solidFill>
            <a:srgbClr val="00C2CB"/>
          </a:solidFill>
          <a:ln w="12700">
            <a:solidFill>
              <a:srgbClr val="00C2CB"/>
            </a:solidFill>
            <a:prstDash val="solid"/>
          </a:ln>
        </p:spPr>
      </p:sp>
      <p:sp>
        <p:nvSpPr>
          <p:cNvPr id="20" name="Text 18"/>
          <p:cNvSpPr/>
          <p:nvPr/>
        </p:nvSpPr>
        <p:spPr>
          <a:xfrm>
            <a:off x="38404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Reproduction Steps</a:t>
            </a:r>
            <a:endParaRPr lang="en-US" sz="800" dirty="0"/>
          </a:p>
        </p:txBody>
      </p:sp>
      <p:sp>
        <p:nvSpPr>
          <p:cNvPr id="21" name="Text 19"/>
          <p:cNvSpPr/>
          <p:nvPr/>
        </p:nvSpPr>
        <p:spPr>
          <a:xfrm>
            <a:off x="384048" y="2368296"/>
            <a:ext cx="4023360" cy="1088136"/>
          </a:xfrm>
          <a:prstGeom prst="rect">
            <a:avLst/>
          </a:prstGeom>
          <a:noFill/>
          <a:ln/>
        </p:spPr>
        <p:txBody>
          <a:bodyPr wrap="square" rtlCol="0" anchor="ctr"/>
          <a:lstStyle/>
          <a:p>
            <a:pPr indent="0" marL="0">
              <a:buNone/>
            </a:pPr>
            <a:r>
              <a:rPr lang="en-US" sz="1000" dirty="0">
                <a:solidFill>
                  <a:srgbClr val="F0F4F8"/>
                </a:solidFill>
                <a:latin typeface="Calibri" pitchFamily="34" charset="0"/>
                <a:ea typeface="Calibri" pitchFamily="34" charset="-122"/>
                <a:cs typeface="Calibri" pitchFamily="34" charset="-120"/>
              </a:rPr>
              <a:t>1. Create order (1 item), add shipping  2. Verify DynamoDB: itemList={1:1}, status=100  3. Launch billing + update simultaneously (bash background processes)  4. Wait, then scan DynamoDB: itemList={1:5}, totalAmount=$25 — race won</a:t>
            </a:r>
            <a:endParaRPr lang="en-US" sz="1000" dirty="0"/>
          </a:p>
        </p:txBody>
      </p:sp>
      <p:sp>
        <p:nvSpPr>
          <p:cNvPr id="22" name="Shape 20"/>
          <p:cNvSpPr/>
          <p:nvPr/>
        </p:nvSpPr>
        <p:spPr>
          <a:xfrm>
            <a:off x="470916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3" name="Shape 21"/>
          <p:cNvSpPr/>
          <p:nvPr/>
        </p:nvSpPr>
        <p:spPr>
          <a:xfrm>
            <a:off x="4709160" y="2148840"/>
            <a:ext cx="64008" cy="1325880"/>
          </a:xfrm>
          <a:prstGeom prst="rect">
            <a:avLst/>
          </a:prstGeom>
          <a:solidFill>
            <a:srgbClr val="3BB273"/>
          </a:solidFill>
          <a:ln w="12700">
            <a:solidFill>
              <a:srgbClr val="3BB273"/>
            </a:solidFill>
            <a:prstDash val="solid"/>
          </a:ln>
        </p:spPr>
      </p:sp>
      <p:sp>
        <p:nvSpPr>
          <p:cNvPr id="24" name="Text 22"/>
          <p:cNvSpPr/>
          <p:nvPr/>
        </p:nvSpPr>
        <p:spPr>
          <a:xfrm>
            <a:off x="481888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Fix Strategy</a:t>
            </a:r>
            <a:endParaRPr lang="en-US" sz="800" dirty="0"/>
          </a:p>
        </p:txBody>
      </p:sp>
      <p:sp>
        <p:nvSpPr>
          <p:cNvPr id="25" name="Text 23"/>
          <p:cNvSpPr/>
          <p:nvPr/>
        </p:nvSpPr>
        <p:spPr>
          <a:xfrm>
            <a:off x="4818888" y="2368296"/>
            <a:ext cx="4023360" cy="1088136"/>
          </a:xfrm>
          <a:prstGeom prst="rect">
            <a:avLst/>
          </a:prstGeom>
          <a:noFill/>
          <a:ln/>
        </p:spPr>
        <p:txBody>
          <a:bodyPr wrap="square" rtlCol="0" anchor="ctr"/>
          <a:lstStyle/>
          <a:p>
            <a:pPr indent="0" marL="0">
              <a:buNone/>
            </a:pPr>
            <a:r>
              <a:rPr lang="en-US" sz="1000" dirty="0">
                <a:solidFill>
                  <a:srgbClr val="3BB273"/>
                </a:solidFill>
                <a:latin typeface="Calibri" pitchFamily="34" charset="0"/>
                <a:ea typeface="Calibri" pitchFamily="34" charset="-122"/>
                <a:cs typeface="Calibri" pitchFamily="34" charset="-120"/>
              </a:rPr>
              <a:t>Change update check to status &gt;= 100 (reject any post-creation modification). Implement DynamoDB conditional writes with optimistic locking. Freeze order at billing start. Enforce strict state machine server-side so billing and update cannot interleave.</a:t>
            </a:r>
            <a:endParaRPr lang="en-US" sz="1000" dirty="0"/>
          </a:p>
        </p:txBody>
      </p:sp>
      <p:sp>
        <p:nvSpPr>
          <p:cNvPr id="26" name="Shape 24"/>
          <p:cNvSpPr/>
          <p:nvPr/>
        </p:nvSpPr>
        <p:spPr>
          <a:xfrm>
            <a:off x="274320" y="3566160"/>
            <a:ext cx="8595360" cy="457200"/>
          </a:xfrm>
          <a:prstGeom prst="rect">
            <a:avLst/>
          </a:prstGeom>
          <a:solidFill>
            <a:srgbClr val="12263A"/>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7" name="Shape 25"/>
          <p:cNvSpPr/>
          <p:nvPr/>
        </p:nvSpPr>
        <p:spPr>
          <a:xfrm>
            <a:off x="274320" y="3566160"/>
            <a:ext cx="64008" cy="457200"/>
          </a:xfrm>
          <a:prstGeom prst="rect">
            <a:avLst/>
          </a:prstGeom>
          <a:solidFill>
            <a:srgbClr val="F4B942"/>
          </a:solidFill>
          <a:ln w="12700">
            <a:solidFill>
              <a:srgbClr val="F4B942"/>
            </a:solidFill>
            <a:prstDash val="solid"/>
          </a:ln>
        </p:spPr>
      </p:sp>
      <p:sp>
        <p:nvSpPr>
          <p:cNvPr id="28" name="Text 26"/>
          <p:cNvSpPr/>
          <p:nvPr/>
        </p:nvSpPr>
        <p:spPr>
          <a:xfrm>
            <a:off x="384048" y="3566160"/>
            <a:ext cx="8458200" cy="457200"/>
          </a:xfrm>
          <a:prstGeom prst="rect">
            <a:avLst/>
          </a:prstGeom>
          <a:noFill/>
          <a:ln/>
        </p:spPr>
        <p:txBody>
          <a:bodyPr wrap="square" rtlCol="0" anchor="ctr"/>
          <a:lstStyle/>
          <a:p>
            <a:pPr indent="0" marL="0">
              <a:buNone/>
            </a:pPr>
            <a:r>
              <a:rPr lang="en-US" sz="1000" dirty="0">
                <a:solidFill>
                  <a:srgbClr val="8FA8BF"/>
                </a:solidFill>
                <a:latin typeface="Calibri" pitchFamily="34" charset="0"/>
                <a:ea typeface="Calibri" pitchFamily="34" charset="-122"/>
                <a:cs typeface="Calibri" pitchFamily="34" charset="-120"/>
              </a:rPr>
              <a:t>Deviation Class  ·  </a:t>
            </a:r>
            <a:endParaRPr lang="en-US" sz="1000" dirty="0"/>
          </a:p>
        </p:txBody>
      </p:sp>
      <p:sp>
        <p:nvSpPr>
          <p:cNvPr id="29" name="Text 27"/>
          <p:cNvSpPr/>
          <p:nvPr/>
        </p:nvSpPr>
        <p:spPr>
          <a:xfrm>
            <a:off x="2240280" y="3566160"/>
            <a:ext cx="6583680" cy="457200"/>
          </a:xfrm>
          <a:prstGeom prst="rect">
            <a:avLst/>
          </a:prstGeom>
          <a:noFill/>
          <a:ln/>
        </p:spPr>
        <p:txBody>
          <a:bodyPr wrap="square" rtlCol="0" anchor="ctr"/>
          <a:lstStyle/>
          <a:p>
            <a:pPr indent="0" marL="0">
              <a:buNone/>
            </a:pPr>
            <a:r>
              <a:rPr lang="en-US" sz="1000" b="1" dirty="0">
                <a:solidFill>
                  <a:srgbClr val="F4B942"/>
                </a:solidFill>
                <a:latin typeface="Calibri" pitchFamily="34" charset="0"/>
                <a:ea typeface="Calibri" pitchFamily="34" charset="-122"/>
                <a:cs typeface="Calibri" pitchFamily="34" charset="-120"/>
              </a:rPr>
              <a:t>Intentional Misuse / Security-Relevant Abuse</a:t>
            </a:r>
            <a:endParaRPr lang="en-US" sz="1000" dirty="0"/>
          </a:p>
        </p:txBody>
      </p:sp>
      <p:sp>
        <p:nvSpPr>
          <p:cNvPr id="30" name="Shape 28"/>
          <p:cNvSpPr/>
          <p:nvPr/>
        </p:nvSpPr>
        <p:spPr>
          <a:xfrm>
            <a:off x="0" y="5056632"/>
            <a:ext cx="9144000" cy="91440"/>
          </a:xfrm>
          <a:prstGeom prst="rect">
            <a:avLst/>
          </a:prstGeom>
          <a:solidFill>
            <a:srgbClr val="00C2CB"/>
          </a:solidFill>
          <a:ln w="12700">
            <a:solidFill>
              <a:srgbClr val="00C2CB"/>
            </a:solidFill>
            <a:prstDash val="solid"/>
          </a:ln>
        </p:spPr>
      </p:sp>
      <p:sp>
        <p:nvSpPr>
          <p:cNvPr id="31" name="Text 29"/>
          <p:cNvSpPr/>
          <p:nvPr/>
        </p:nvSpPr>
        <p:spPr>
          <a:xfrm>
            <a:off x="0" y="4855464"/>
            <a:ext cx="9144000" cy="219456"/>
          </a:xfrm>
          <a:prstGeom prst="rect">
            <a:avLst/>
          </a:prstGeom>
          <a:noFill/>
          <a:ln/>
        </p:spPr>
        <p:txBody>
          <a:bodyPr wrap="square" rtlCol="0" anchor="ctr"/>
          <a:lstStyle/>
          <a:p>
            <a:pPr algn="ctr" indent="0" marL="0">
              <a:buNone/>
            </a:pPr>
            <a:r>
              <a:rPr lang="en-US" sz="800" dirty="0">
                <a:solidFill>
                  <a:srgbClr val="8FA8BF"/>
                </a:solidFill>
                <a:latin typeface="Calibri" pitchFamily="34" charset="0"/>
                <a:ea typeface="Calibri" pitchFamily="34" charset="-122"/>
                <a:cs typeface="Calibri" pitchFamily="34" charset="-120"/>
              </a:rPr>
              <a:t>ICS-344 · KFUPM · Almatrook &amp; Almuhanna</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Shape 1"/>
          <p:cNvSpPr/>
          <p:nvPr/>
        </p:nvSpPr>
        <p:spPr>
          <a:xfrm>
            <a:off x="274320" y="128016"/>
            <a:ext cx="1005840" cy="411480"/>
          </a:xfrm>
          <a:prstGeom prst="rect">
            <a:avLst/>
          </a:prstGeom>
          <a:solidFill>
            <a:srgbClr val="00C2C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 name="Text 2"/>
          <p:cNvSpPr/>
          <p:nvPr/>
        </p:nvSpPr>
        <p:spPr>
          <a:xfrm>
            <a:off x="274320" y="128016"/>
            <a:ext cx="1005840" cy="41148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L9</a:t>
            </a:r>
            <a:endParaRPr lang="en-US" sz="1300" dirty="0"/>
          </a:p>
        </p:txBody>
      </p:sp>
      <p:sp>
        <p:nvSpPr>
          <p:cNvPr id="5" name="Text 3"/>
          <p:cNvSpPr/>
          <p:nvPr/>
        </p:nvSpPr>
        <p:spPr>
          <a:xfrm>
            <a:off x="1417320" y="128016"/>
            <a:ext cx="7406640" cy="411480"/>
          </a:xfrm>
          <a:prstGeom prst="rect">
            <a:avLst/>
          </a:prstGeom>
          <a:noFill/>
          <a:ln/>
        </p:spPr>
        <p:txBody>
          <a:bodyPr wrap="square" rtlCol="0" anchor="ctr"/>
          <a:lstStyle/>
          <a:p>
            <a:pPr indent="0" marL="0">
              <a:buNone/>
            </a:pPr>
            <a:r>
              <a:rPr lang="en-US" sz="2000" b="1" dirty="0">
                <a:solidFill>
                  <a:srgbClr val="F0F4F8"/>
                </a:solidFill>
                <a:latin typeface="Arial Black" pitchFamily="34" charset="0"/>
                <a:ea typeface="Arial Black" pitchFamily="34" charset="-122"/>
                <a:cs typeface="Arial Black" pitchFamily="34" charset="-120"/>
              </a:rPr>
              <a:t>Vulnerable Dependencies — node-serialize RCE</a:t>
            </a:r>
            <a:endParaRPr lang="en-US" sz="2000" dirty="0"/>
          </a:p>
        </p:txBody>
      </p:sp>
      <p:sp>
        <p:nvSpPr>
          <p:cNvPr id="6" name="Shape 4"/>
          <p:cNvSpPr/>
          <p:nvPr/>
        </p:nvSpPr>
        <p:spPr>
          <a:xfrm>
            <a:off x="27432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7" name="Shape 5"/>
          <p:cNvSpPr/>
          <p:nvPr/>
        </p:nvSpPr>
        <p:spPr>
          <a:xfrm>
            <a:off x="274320" y="658368"/>
            <a:ext cx="64008" cy="640080"/>
          </a:xfrm>
          <a:prstGeom prst="rect">
            <a:avLst/>
          </a:prstGeom>
          <a:solidFill>
            <a:srgbClr val="00C2CB"/>
          </a:solidFill>
          <a:ln w="12700">
            <a:solidFill>
              <a:srgbClr val="00C2CB"/>
            </a:solidFill>
            <a:prstDash val="solid"/>
          </a:ln>
        </p:spPr>
      </p:sp>
      <p:sp>
        <p:nvSpPr>
          <p:cNvPr id="8" name="Text 6"/>
          <p:cNvSpPr/>
          <p:nvPr/>
        </p:nvSpPr>
        <p:spPr>
          <a:xfrm>
            <a:off x="38404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Affected Component</a:t>
            </a:r>
            <a:endParaRPr lang="en-US" sz="800" dirty="0"/>
          </a:p>
        </p:txBody>
      </p:sp>
      <p:sp>
        <p:nvSpPr>
          <p:cNvPr id="9" name="Text 7"/>
          <p:cNvSpPr/>
          <p:nvPr/>
        </p:nvSpPr>
        <p:spPr>
          <a:xfrm>
            <a:off x="384048" y="859536"/>
            <a:ext cx="4023360" cy="420624"/>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Lambda (DVSA-ORDER-MANAGER) · order-manager.js line 1 &amp; 10 · node-serialize</a:t>
            </a:r>
            <a:endParaRPr lang="en-US" sz="1050" dirty="0"/>
          </a:p>
        </p:txBody>
      </p:sp>
      <p:sp>
        <p:nvSpPr>
          <p:cNvPr id="10" name="Shape 8"/>
          <p:cNvSpPr/>
          <p:nvPr/>
        </p:nvSpPr>
        <p:spPr>
          <a:xfrm>
            <a:off x="470916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709160" y="658368"/>
            <a:ext cx="64008" cy="640080"/>
          </a:xfrm>
          <a:prstGeom prst="rect">
            <a:avLst/>
          </a:prstGeom>
          <a:solidFill>
            <a:srgbClr val="E84855"/>
          </a:solidFill>
          <a:ln w="12700">
            <a:solidFill>
              <a:srgbClr val="E84855"/>
            </a:solidFill>
            <a:prstDash val="solid"/>
          </a:ln>
        </p:spPr>
      </p:sp>
      <p:sp>
        <p:nvSpPr>
          <p:cNvPr id="12" name="Text 10"/>
          <p:cNvSpPr/>
          <p:nvPr/>
        </p:nvSpPr>
        <p:spPr>
          <a:xfrm>
            <a:off x="481888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Security Impact</a:t>
            </a:r>
            <a:endParaRPr lang="en-US" sz="800" dirty="0"/>
          </a:p>
        </p:txBody>
      </p:sp>
      <p:sp>
        <p:nvSpPr>
          <p:cNvPr id="13" name="Text 11"/>
          <p:cNvSpPr/>
          <p:nvPr/>
        </p:nvSpPr>
        <p:spPr>
          <a:xfrm>
            <a:off x="4818888" y="859536"/>
            <a:ext cx="4023360" cy="420624"/>
          </a:xfrm>
          <a:prstGeom prst="rect">
            <a:avLst/>
          </a:prstGeom>
          <a:noFill/>
          <a:ln/>
        </p:spPr>
        <p:txBody>
          <a:bodyPr wrap="square" rtlCol="0" anchor="ctr"/>
          <a:lstStyle/>
          <a:p>
            <a:pPr indent="0" marL="0">
              <a:buNone/>
            </a:pPr>
            <a:r>
              <a:rPr lang="en-US" sz="1050" dirty="0">
                <a:solidFill>
                  <a:srgbClr val="E84855"/>
                </a:solidFill>
                <a:latin typeface="Calibri" pitchFamily="34" charset="0"/>
                <a:ea typeface="Calibri" pitchFamily="34" charset="-122"/>
                <a:cs typeface="Calibri" pitchFamily="34" charset="-120"/>
              </a:rPr>
              <a:t>Unauthenticated attacker achieves Remote Code Execution inside Lambda via dependency</a:t>
            </a:r>
            <a:endParaRPr lang="en-US" sz="1050" dirty="0"/>
          </a:p>
        </p:txBody>
      </p:sp>
      <p:sp>
        <p:nvSpPr>
          <p:cNvPr id="14" name="Shape 12"/>
          <p:cNvSpPr/>
          <p:nvPr/>
        </p:nvSpPr>
        <p:spPr>
          <a:xfrm>
            <a:off x="274320" y="1389888"/>
            <a:ext cx="8595360" cy="65836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274320" y="1389888"/>
            <a:ext cx="64008" cy="658368"/>
          </a:xfrm>
          <a:prstGeom prst="rect">
            <a:avLst/>
          </a:prstGeom>
          <a:solidFill>
            <a:srgbClr val="F4B942"/>
          </a:solidFill>
          <a:ln w="12700">
            <a:solidFill>
              <a:srgbClr val="F4B942"/>
            </a:solidFill>
            <a:prstDash val="solid"/>
          </a:ln>
        </p:spPr>
      </p:sp>
      <p:sp>
        <p:nvSpPr>
          <p:cNvPr id="16" name="Text 14"/>
          <p:cNvSpPr/>
          <p:nvPr/>
        </p:nvSpPr>
        <p:spPr>
          <a:xfrm>
            <a:off x="384048" y="1389888"/>
            <a:ext cx="8458200" cy="219456"/>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Root Cause</a:t>
            </a:r>
            <a:endParaRPr lang="en-US" sz="800" dirty="0"/>
          </a:p>
        </p:txBody>
      </p:sp>
      <p:sp>
        <p:nvSpPr>
          <p:cNvPr id="17" name="Text 15"/>
          <p:cNvSpPr/>
          <p:nvPr/>
        </p:nvSpPr>
        <p:spPr>
          <a:xfrm>
            <a:off x="384048" y="1591056"/>
            <a:ext cx="8458200" cy="438912"/>
          </a:xfrm>
          <a:prstGeom prst="rect">
            <a:avLst/>
          </a:prstGeom>
          <a:noFill/>
          <a:ln/>
        </p:spPr>
        <p:txBody>
          <a:bodyPr wrap="square" rtlCol="0" anchor="ctr"/>
          <a:lstStyle/>
          <a:p>
            <a:pPr indent="0" marL="0">
              <a:buNone/>
            </a:pPr>
            <a:r>
              <a:rPr lang="en-US" sz="1050" dirty="0">
                <a:solidFill>
                  <a:srgbClr val="F4B942"/>
                </a:solidFill>
                <a:latin typeface="Calibri" pitchFamily="34" charset="0"/>
                <a:ea typeface="Calibri" pitchFamily="34" charset="-122"/>
                <a:cs typeface="Calibri" pitchFamily="34" charset="-120"/>
              </a:rPr>
              <a:t>order-manager.js line 1 imports node-serialize; line 10 calls serialize.unserialize(event.body) with no prior validation. The library's eval()-based function deserialization executes any _$$ND_FUNC$$_ payload immediately — before authentication. CloudWatch confirms ERROR PWNED entries.</a:t>
            </a:r>
            <a:endParaRPr lang="en-US" sz="1050" dirty="0"/>
          </a:p>
        </p:txBody>
      </p:sp>
      <p:sp>
        <p:nvSpPr>
          <p:cNvPr id="18" name="Shape 16"/>
          <p:cNvSpPr/>
          <p:nvPr/>
        </p:nvSpPr>
        <p:spPr>
          <a:xfrm>
            <a:off x="27432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9" name="Shape 17"/>
          <p:cNvSpPr/>
          <p:nvPr/>
        </p:nvSpPr>
        <p:spPr>
          <a:xfrm>
            <a:off x="274320" y="2148840"/>
            <a:ext cx="64008" cy="1325880"/>
          </a:xfrm>
          <a:prstGeom prst="rect">
            <a:avLst/>
          </a:prstGeom>
          <a:solidFill>
            <a:srgbClr val="00C2CB"/>
          </a:solidFill>
          <a:ln w="12700">
            <a:solidFill>
              <a:srgbClr val="00C2CB"/>
            </a:solidFill>
            <a:prstDash val="solid"/>
          </a:ln>
        </p:spPr>
      </p:sp>
      <p:sp>
        <p:nvSpPr>
          <p:cNvPr id="20" name="Text 18"/>
          <p:cNvSpPr/>
          <p:nvPr/>
        </p:nvSpPr>
        <p:spPr>
          <a:xfrm>
            <a:off x="38404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Reproduction Steps</a:t>
            </a:r>
            <a:endParaRPr lang="en-US" sz="800" dirty="0"/>
          </a:p>
        </p:txBody>
      </p:sp>
      <p:sp>
        <p:nvSpPr>
          <p:cNvPr id="21" name="Text 19"/>
          <p:cNvSpPr/>
          <p:nvPr/>
        </p:nvSpPr>
        <p:spPr>
          <a:xfrm>
            <a:off x="384048" y="2368296"/>
            <a:ext cx="4023360" cy="1088136"/>
          </a:xfrm>
          <a:prstGeom prst="rect">
            <a:avLst/>
          </a:prstGeom>
          <a:noFill/>
          <a:ln/>
        </p:spPr>
        <p:txBody>
          <a:bodyPr wrap="square" rtlCol="0" anchor="ctr"/>
          <a:lstStyle/>
          <a:p>
            <a:pPr indent="0" marL="0">
              <a:buNone/>
            </a:pPr>
            <a:r>
              <a:rPr lang="en-US" sz="1000" dirty="0">
                <a:solidFill>
                  <a:srgbClr val="F0F4F8"/>
                </a:solidFill>
                <a:latin typeface="Calibri" pitchFamily="34" charset="0"/>
                <a:ea typeface="Calibri" pitchFamily="34" charset="-122"/>
                <a:cs typeface="Calibri" pitchFamily="34" charset="-120"/>
              </a:rPr>
              <a:t>1. View order-manager.js in Lambda console: lines 1 &amp; 10 highlighted  2. Send curl POST with _$$ND_FUNC$$_ IIFE payload  3. API returns 500 (expected)  4. CloudWatch /aws/lambda/DVSA-ORDER-MANAGER → filter 'PWNED' → 4 ERROR entries confirmed</a:t>
            </a:r>
            <a:endParaRPr lang="en-US" sz="1000" dirty="0"/>
          </a:p>
        </p:txBody>
      </p:sp>
      <p:sp>
        <p:nvSpPr>
          <p:cNvPr id="22" name="Shape 20"/>
          <p:cNvSpPr/>
          <p:nvPr/>
        </p:nvSpPr>
        <p:spPr>
          <a:xfrm>
            <a:off x="470916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3" name="Shape 21"/>
          <p:cNvSpPr/>
          <p:nvPr/>
        </p:nvSpPr>
        <p:spPr>
          <a:xfrm>
            <a:off x="4709160" y="2148840"/>
            <a:ext cx="64008" cy="1325880"/>
          </a:xfrm>
          <a:prstGeom prst="rect">
            <a:avLst/>
          </a:prstGeom>
          <a:solidFill>
            <a:srgbClr val="3BB273"/>
          </a:solidFill>
          <a:ln w="12700">
            <a:solidFill>
              <a:srgbClr val="3BB273"/>
            </a:solidFill>
            <a:prstDash val="solid"/>
          </a:ln>
        </p:spPr>
      </p:sp>
      <p:sp>
        <p:nvSpPr>
          <p:cNvPr id="24" name="Text 22"/>
          <p:cNvSpPr/>
          <p:nvPr/>
        </p:nvSpPr>
        <p:spPr>
          <a:xfrm>
            <a:off x="481888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Fix Strategy</a:t>
            </a:r>
            <a:endParaRPr lang="en-US" sz="800" dirty="0"/>
          </a:p>
        </p:txBody>
      </p:sp>
      <p:sp>
        <p:nvSpPr>
          <p:cNvPr id="25" name="Text 23"/>
          <p:cNvSpPr/>
          <p:nvPr/>
        </p:nvSpPr>
        <p:spPr>
          <a:xfrm>
            <a:off x="4818888" y="2368296"/>
            <a:ext cx="4023360" cy="1088136"/>
          </a:xfrm>
          <a:prstGeom prst="rect">
            <a:avLst/>
          </a:prstGeom>
          <a:noFill/>
          <a:ln/>
        </p:spPr>
        <p:txBody>
          <a:bodyPr wrap="square" rtlCol="0" anchor="ctr"/>
          <a:lstStyle/>
          <a:p>
            <a:pPr indent="0" marL="0">
              <a:buNone/>
            </a:pPr>
            <a:r>
              <a:rPr lang="en-US" sz="1000" dirty="0">
                <a:solidFill>
                  <a:srgbClr val="3BB273"/>
                </a:solidFill>
                <a:latin typeface="Calibri" pitchFamily="34" charset="0"/>
                <a:ea typeface="Calibri" pitchFamily="34" charset="-122"/>
                <a:cs typeface="Calibri" pitchFamily="34" charset="-120"/>
              </a:rPr>
              <a:t>Delete node-serialize from package.json + rebuild node_modules. Replace with JSON.parse(). Add action allowlist validation post-parse. Implement npm audit in CI/CD pipeline. Pin all dependency versions and scan on every deployment.</a:t>
            </a:r>
            <a:endParaRPr lang="en-US" sz="1000" dirty="0"/>
          </a:p>
        </p:txBody>
      </p:sp>
      <p:sp>
        <p:nvSpPr>
          <p:cNvPr id="26" name="Shape 24"/>
          <p:cNvSpPr/>
          <p:nvPr/>
        </p:nvSpPr>
        <p:spPr>
          <a:xfrm>
            <a:off x="274320" y="3566160"/>
            <a:ext cx="8595360" cy="457200"/>
          </a:xfrm>
          <a:prstGeom prst="rect">
            <a:avLst/>
          </a:prstGeom>
          <a:solidFill>
            <a:srgbClr val="12263A"/>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7" name="Shape 25"/>
          <p:cNvSpPr/>
          <p:nvPr/>
        </p:nvSpPr>
        <p:spPr>
          <a:xfrm>
            <a:off x="274320" y="3566160"/>
            <a:ext cx="64008" cy="457200"/>
          </a:xfrm>
          <a:prstGeom prst="rect">
            <a:avLst/>
          </a:prstGeom>
          <a:solidFill>
            <a:srgbClr val="F4B942"/>
          </a:solidFill>
          <a:ln w="12700">
            <a:solidFill>
              <a:srgbClr val="F4B942"/>
            </a:solidFill>
            <a:prstDash val="solid"/>
          </a:ln>
        </p:spPr>
      </p:sp>
      <p:sp>
        <p:nvSpPr>
          <p:cNvPr id="28" name="Text 26"/>
          <p:cNvSpPr/>
          <p:nvPr/>
        </p:nvSpPr>
        <p:spPr>
          <a:xfrm>
            <a:off x="384048" y="3566160"/>
            <a:ext cx="8458200" cy="457200"/>
          </a:xfrm>
          <a:prstGeom prst="rect">
            <a:avLst/>
          </a:prstGeom>
          <a:noFill/>
          <a:ln/>
        </p:spPr>
        <p:txBody>
          <a:bodyPr wrap="square" rtlCol="0" anchor="ctr"/>
          <a:lstStyle/>
          <a:p>
            <a:pPr indent="0" marL="0">
              <a:buNone/>
            </a:pPr>
            <a:r>
              <a:rPr lang="en-US" sz="1000" dirty="0">
                <a:solidFill>
                  <a:srgbClr val="8FA8BF"/>
                </a:solidFill>
                <a:latin typeface="Calibri" pitchFamily="34" charset="0"/>
                <a:ea typeface="Calibri" pitchFamily="34" charset="-122"/>
                <a:cs typeface="Calibri" pitchFamily="34" charset="-120"/>
              </a:rPr>
              <a:t>Deviation Class  ·  </a:t>
            </a:r>
            <a:endParaRPr lang="en-US" sz="1000" dirty="0"/>
          </a:p>
        </p:txBody>
      </p:sp>
      <p:sp>
        <p:nvSpPr>
          <p:cNvPr id="29" name="Text 27"/>
          <p:cNvSpPr/>
          <p:nvPr/>
        </p:nvSpPr>
        <p:spPr>
          <a:xfrm>
            <a:off x="2240280" y="3566160"/>
            <a:ext cx="6583680" cy="457200"/>
          </a:xfrm>
          <a:prstGeom prst="rect">
            <a:avLst/>
          </a:prstGeom>
          <a:noFill/>
          <a:ln/>
        </p:spPr>
        <p:txBody>
          <a:bodyPr wrap="square" rtlCol="0" anchor="ctr"/>
          <a:lstStyle/>
          <a:p>
            <a:pPr indent="0" marL="0">
              <a:buNone/>
            </a:pPr>
            <a:r>
              <a:rPr lang="en-US" sz="1000" b="1" dirty="0">
                <a:solidFill>
                  <a:srgbClr val="F4B942"/>
                </a:solidFill>
                <a:latin typeface="Calibri" pitchFamily="34" charset="0"/>
                <a:ea typeface="Calibri" pitchFamily="34" charset="-122"/>
                <a:cs typeface="Calibri" pitchFamily="34" charset="-120"/>
              </a:rPr>
              <a:t>Intentional Misuse / Security-Relevant Abuse</a:t>
            </a:r>
            <a:endParaRPr lang="en-US" sz="1000" dirty="0"/>
          </a:p>
        </p:txBody>
      </p:sp>
      <p:sp>
        <p:nvSpPr>
          <p:cNvPr id="30" name="Shape 28"/>
          <p:cNvSpPr/>
          <p:nvPr/>
        </p:nvSpPr>
        <p:spPr>
          <a:xfrm>
            <a:off x="0" y="5056632"/>
            <a:ext cx="9144000" cy="91440"/>
          </a:xfrm>
          <a:prstGeom prst="rect">
            <a:avLst/>
          </a:prstGeom>
          <a:solidFill>
            <a:srgbClr val="00C2CB"/>
          </a:solidFill>
          <a:ln w="12700">
            <a:solidFill>
              <a:srgbClr val="00C2CB"/>
            </a:solidFill>
            <a:prstDash val="solid"/>
          </a:ln>
        </p:spPr>
      </p:sp>
      <p:sp>
        <p:nvSpPr>
          <p:cNvPr id="31" name="Text 29"/>
          <p:cNvSpPr/>
          <p:nvPr/>
        </p:nvSpPr>
        <p:spPr>
          <a:xfrm>
            <a:off x="0" y="4855464"/>
            <a:ext cx="9144000" cy="219456"/>
          </a:xfrm>
          <a:prstGeom prst="rect">
            <a:avLst/>
          </a:prstGeom>
          <a:noFill/>
          <a:ln/>
        </p:spPr>
        <p:txBody>
          <a:bodyPr wrap="square" rtlCol="0" anchor="ctr"/>
          <a:lstStyle/>
          <a:p>
            <a:pPr algn="ctr" indent="0" marL="0">
              <a:buNone/>
            </a:pPr>
            <a:r>
              <a:rPr lang="en-US" sz="800" dirty="0">
                <a:solidFill>
                  <a:srgbClr val="8FA8BF"/>
                </a:solidFill>
                <a:latin typeface="Calibri" pitchFamily="34" charset="0"/>
                <a:ea typeface="Calibri" pitchFamily="34" charset="-122"/>
                <a:cs typeface="Calibri" pitchFamily="34" charset="-120"/>
              </a:rPr>
              <a:t>ICS-344 · KFUPM · Almatrook &amp; Almuhanna</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Shape 1"/>
          <p:cNvSpPr/>
          <p:nvPr/>
        </p:nvSpPr>
        <p:spPr>
          <a:xfrm>
            <a:off x="274320" y="128016"/>
            <a:ext cx="1005840" cy="411480"/>
          </a:xfrm>
          <a:prstGeom prst="rect">
            <a:avLst/>
          </a:prstGeom>
          <a:solidFill>
            <a:srgbClr val="00C2C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 name="Text 2"/>
          <p:cNvSpPr/>
          <p:nvPr/>
        </p:nvSpPr>
        <p:spPr>
          <a:xfrm>
            <a:off x="274320" y="128016"/>
            <a:ext cx="1005840" cy="411480"/>
          </a:xfrm>
          <a:prstGeom prst="rect">
            <a:avLst/>
          </a:prstGeom>
          <a:noFill/>
          <a:ln/>
        </p:spPr>
        <p:txBody>
          <a:bodyPr wrap="square"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L10</a:t>
            </a:r>
            <a:endParaRPr lang="en-US" sz="1300" dirty="0"/>
          </a:p>
        </p:txBody>
      </p:sp>
      <p:sp>
        <p:nvSpPr>
          <p:cNvPr id="5" name="Text 3"/>
          <p:cNvSpPr/>
          <p:nvPr/>
        </p:nvSpPr>
        <p:spPr>
          <a:xfrm>
            <a:off x="1417320" y="128016"/>
            <a:ext cx="7406640" cy="411480"/>
          </a:xfrm>
          <a:prstGeom prst="rect">
            <a:avLst/>
          </a:prstGeom>
          <a:noFill/>
          <a:ln/>
        </p:spPr>
        <p:txBody>
          <a:bodyPr wrap="square" rtlCol="0" anchor="ctr"/>
          <a:lstStyle/>
          <a:p>
            <a:pPr indent="0" marL="0">
              <a:buNone/>
            </a:pPr>
            <a:r>
              <a:rPr lang="en-US" sz="2000" b="1" dirty="0">
                <a:solidFill>
                  <a:srgbClr val="F0F4F8"/>
                </a:solidFill>
                <a:latin typeface="Arial Black" pitchFamily="34" charset="0"/>
                <a:ea typeface="Arial Black" pitchFamily="34" charset="-122"/>
                <a:cs typeface="Arial Black" pitchFamily="34" charset="-120"/>
              </a:rPr>
              <a:t>Unhandled Exceptions — Stack Trace Exposure</a:t>
            </a:r>
            <a:endParaRPr lang="en-US" sz="2000" dirty="0"/>
          </a:p>
        </p:txBody>
      </p:sp>
      <p:sp>
        <p:nvSpPr>
          <p:cNvPr id="6" name="Shape 4"/>
          <p:cNvSpPr/>
          <p:nvPr/>
        </p:nvSpPr>
        <p:spPr>
          <a:xfrm>
            <a:off x="27432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7" name="Shape 5"/>
          <p:cNvSpPr/>
          <p:nvPr/>
        </p:nvSpPr>
        <p:spPr>
          <a:xfrm>
            <a:off x="274320" y="658368"/>
            <a:ext cx="64008" cy="640080"/>
          </a:xfrm>
          <a:prstGeom prst="rect">
            <a:avLst/>
          </a:prstGeom>
          <a:solidFill>
            <a:srgbClr val="00C2CB"/>
          </a:solidFill>
          <a:ln w="12700">
            <a:solidFill>
              <a:srgbClr val="00C2CB"/>
            </a:solidFill>
            <a:prstDash val="solid"/>
          </a:ln>
        </p:spPr>
      </p:sp>
      <p:sp>
        <p:nvSpPr>
          <p:cNvPr id="8" name="Text 6"/>
          <p:cNvSpPr/>
          <p:nvPr/>
        </p:nvSpPr>
        <p:spPr>
          <a:xfrm>
            <a:off x="38404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Affected Component</a:t>
            </a:r>
            <a:endParaRPr lang="en-US" sz="800" dirty="0"/>
          </a:p>
        </p:txBody>
      </p:sp>
      <p:sp>
        <p:nvSpPr>
          <p:cNvPr id="9" name="Text 7"/>
          <p:cNvSpPr/>
          <p:nvPr/>
        </p:nvSpPr>
        <p:spPr>
          <a:xfrm>
            <a:off x="384048" y="859536"/>
            <a:ext cx="4023360" cy="420624"/>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API Gateway → Lambda (DVSA-ORDER-GET, DVSA-ORDER-BILLING)</a:t>
            </a:r>
            <a:endParaRPr lang="en-US" sz="1050" dirty="0"/>
          </a:p>
        </p:txBody>
      </p:sp>
      <p:sp>
        <p:nvSpPr>
          <p:cNvPr id="10" name="Shape 8"/>
          <p:cNvSpPr/>
          <p:nvPr/>
        </p:nvSpPr>
        <p:spPr>
          <a:xfrm>
            <a:off x="4709160" y="658368"/>
            <a:ext cx="4160520" cy="6400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709160" y="658368"/>
            <a:ext cx="64008" cy="640080"/>
          </a:xfrm>
          <a:prstGeom prst="rect">
            <a:avLst/>
          </a:prstGeom>
          <a:solidFill>
            <a:srgbClr val="E84855"/>
          </a:solidFill>
          <a:ln w="12700">
            <a:solidFill>
              <a:srgbClr val="E84855"/>
            </a:solidFill>
            <a:prstDash val="solid"/>
          </a:ln>
        </p:spPr>
      </p:sp>
      <p:sp>
        <p:nvSpPr>
          <p:cNvPr id="12" name="Text 10"/>
          <p:cNvSpPr/>
          <p:nvPr/>
        </p:nvSpPr>
        <p:spPr>
          <a:xfrm>
            <a:off x="4818888" y="658368"/>
            <a:ext cx="4023360" cy="228600"/>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Security Impact</a:t>
            </a:r>
            <a:endParaRPr lang="en-US" sz="800" dirty="0"/>
          </a:p>
        </p:txBody>
      </p:sp>
      <p:sp>
        <p:nvSpPr>
          <p:cNvPr id="13" name="Text 11"/>
          <p:cNvSpPr/>
          <p:nvPr/>
        </p:nvSpPr>
        <p:spPr>
          <a:xfrm>
            <a:off x="4818888" y="859536"/>
            <a:ext cx="4023360" cy="420624"/>
          </a:xfrm>
          <a:prstGeom prst="rect">
            <a:avLst/>
          </a:prstGeom>
          <a:noFill/>
          <a:ln/>
        </p:spPr>
        <p:txBody>
          <a:bodyPr wrap="square" rtlCol="0" anchor="ctr"/>
          <a:lstStyle/>
          <a:p>
            <a:pPr indent="0" marL="0">
              <a:buNone/>
            </a:pPr>
            <a:r>
              <a:rPr lang="en-US" sz="1050" dirty="0">
                <a:solidFill>
                  <a:srgbClr val="E84855"/>
                </a:solidFill>
                <a:latin typeface="Calibri" pitchFamily="34" charset="0"/>
                <a:ea typeface="Calibri" pitchFamily="34" charset="-122"/>
                <a:cs typeface="Calibri" pitchFamily="34" charset="-120"/>
              </a:rPr>
              <a:t>Internal file paths, line numbers, variable names, and code logic returned to any client</a:t>
            </a:r>
            <a:endParaRPr lang="en-US" sz="1050" dirty="0"/>
          </a:p>
        </p:txBody>
      </p:sp>
      <p:sp>
        <p:nvSpPr>
          <p:cNvPr id="14" name="Shape 12"/>
          <p:cNvSpPr/>
          <p:nvPr/>
        </p:nvSpPr>
        <p:spPr>
          <a:xfrm>
            <a:off x="274320" y="1389888"/>
            <a:ext cx="8595360" cy="65836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274320" y="1389888"/>
            <a:ext cx="64008" cy="658368"/>
          </a:xfrm>
          <a:prstGeom prst="rect">
            <a:avLst/>
          </a:prstGeom>
          <a:solidFill>
            <a:srgbClr val="F4B942"/>
          </a:solidFill>
          <a:ln w="12700">
            <a:solidFill>
              <a:srgbClr val="F4B942"/>
            </a:solidFill>
            <a:prstDash val="solid"/>
          </a:ln>
        </p:spPr>
      </p:sp>
      <p:sp>
        <p:nvSpPr>
          <p:cNvPr id="16" name="Text 14"/>
          <p:cNvSpPr/>
          <p:nvPr/>
        </p:nvSpPr>
        <p:spPr>
          <a:xfrm>
            <a:off x="384048" y="1389888"/>
            <a:ext cx="8458200" cy="219456"/>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Root Cause</a:t>
            </a:r>
            <a:endParaRPr lang="en-US" sz="800" dirty="0"/>
          </a:p>
        </p:txBody>
      </p:sp>
      <p:sp>
        <p:nvSpPr>
          <p:cNvPr id="17" name="Text 15"/>
          <p:cNvSpPr/>
          <p:nvPr/>
        </p:nvSpPr>
        <p:spPr>
          <a:xfrm>
            <a:off x="384048" y="1591056"/>
            <a:ext cx="8458200" cy="438912"/>
          </a:xfrm>
          <a:prstGeom prst="rect">
            <a:avLst/>
          </a:prstGeom>
          <a:noFill/>
          <a:ln/>
        </p:spPr>
        <p:txBody>
          <a:bodyPr wrap="square" rtlCol="0" anchor="ctr"/>
          <a:lstStyle/>
          <a:p>
            <a:pPr indent="0" marL="0">
              <a:buNone/>
            </a:pPr>
            <a:r>
              <a:rPr lang="en-US" sz="1050" dirty="0">
                <a:solidFill>
                  <a:srgbClr val="F4B942"/>
                </a:solidFill>
                <a:latin typeface="Calibri" pitchFamily="34" charset="0"/>
                <a:ea typeface="Calibri" pitchFamily="34" charset="-122"/>
                <a:cs typeface="Calibri" pitchFamily="34" charset="-120"/>
              </a:rPr>
              <a:t>Lambda functions lack global try/catch blocks. DVSA-ORDER-GET calls .lower() on the isAdmin field assuming it's always a string — when a boolean is passed, AttributeError is thrown and the full Python stack trace (path: /var/task/get_order.py, line 32) is returned to the client.</a:t>
            </a:r>
            <a:endParaRPr lang="en-US" sz="1050" dirty="0"/>
          </a:p>
        </p:txBody>
      </p:sp>
      <p:sp>
        <p:nvSpPr>
          <p:cNvPr id="18" name="Shape 16"/>
          <p:cNvSpPr/>
          <p:nvPr/>
        </p:nvSpPr>
        <p:spPr>
          <a:xfrm>
            <a:off x="27432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9" name="Shape 17"/>
          <p:cNvSpPr/>
          <p:nvPr/>
        </p:nvSpPr>
        <p:spPr>
          <a:xfrm>
            <a:off x="274320" y="2148840"/>
            <a:ext cx="64008" cy="1325880"/>
          </a:xfrm>
          <a:prstGeom prst="rect">
            <a:avLst/>
          </a:prstGeom>
          <a:solidFill>
            <a:srgbClr val="00C2CB"/>
          </a:solidFill>
          <a:ln w="12700">
            <a:solidFill>
              <a:srgbClr val="00C2CB"/>
            </a:solidFill>
            <a:prstDash val="solid"/>
          </a:ln>
        </p:spPr>
      </p:sp>
      <p:sp>
        <p:nvSpPr>
          <p:cNvPr id="20" name="Text 18"/>
          <p:cNvSpPr/>
          <p:nvPr/>
        </p:nvSpPr>
        <p:spPr>
          <a:xfrm>
            <a:off x="38404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Reproduction Steps</a:t>
            </a:r>
            <a:endParaRPr lang="en-US" sz="800" dirty="0"/>
          </a:p>
        </p:txBody>
      </p:sp>
      <p:sp>
        <p:nvSpPr>
          <p:cNvPr id="21" name="Text 19"/>
          <p:cNvSpPr/>
          <p:nvPr/>
        </p:nvSpPr>
        <p:spPr>
          <a:xfrm>
            <a:off x="384048" y="2368296"/>
            <a:ext cx="4023360" cy="1088136"/>
          </a:xfrm>
          <a:prstGeom prst="rect">
            <a:avLst/>
          </a:prstGeom>
          <a:noFill/>
          <a:ln/>
        </p:spPr>
        <p:txBody>
          <a:bodyPr wrap="square" rtlCol="0" anchor="ctr"/>
          <a:lstStyle/>
          <a:p>
            <a:pPr indent="0" marL="0">
              <a:buNone/>
            </a:pPr>
            <a:r>
              <a:rPr lang="en-US" sz="1000" dirty="0">
                <a:solidFill>
                  <a:srgbClr val="F0F4F8"/>
                </a:solidFill>
                <a:latin typeface="Calibri" pitchFamily="34" charset="0"/>
                <a:ea typeface="Calibri" pitchFamily="34" charset="-122"/>
                <a:cs typeface="Calibri" pitchFamily="34" charset="-120"/>
              </a:rPr>
              <a:t>1. Set API + TOKEN_A env vars  2. Send malformed requests: empty body, null values, wrong types, isAdmin:false  3. Observe raw JSON error responses containing errorMessage, errorType, stackTrace  4. Note /var/task/get_order.py path and exact line number in response</a:t>
            </a:r>
            <a:endParaRPr lang="en-US" sz="1000" dirty="0"/>
          </a:p>
        </p:txBody>
      </p:sp>
      <p:sp>
        <p:nvSpPr>
          <p:cNvPr id="22" name="Shape 20"/>
          <p:cNvSpPr/>
          <p:nvPr/>
        </p:nvSpPr>
        <p:spPr>
          <a:xfrm>
            <a:off x="4709160" y="2148840"/>
            <a:ext cx="4160520" cy="1325880"/>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3" name="Shape 21"/>
          <p:cNvSpPr/>
          <p:nvPr/>
        </p:nvSpPr>
        <p:spPr>
          <a:xfrm>
            <a:off x="4709160" y="2148840"/>
            <a:ext cx="64008" cy="1325880"/>
          </a:xfrm>
          <a:prstGeom prst="rect">
            <a:avLst/>
          </a:prstGeom>
          <a:solidFill>
            <a:srgbClr val="3BB273"/>
          </a:solidFill>
          <a:ln w="12700">
            <a:solidFill>
              <a:srgbClr val="3BB273"/>
            </a:solidFill>
            <a:prstDash val="solid"/>
          </a:ln>
        </p:spPr>
      </p:sp>
      <p:sp>
        <p:nvSpPr>
          <p:cNvPr id="24" name="Text 22"/>
          <p:cNvSpPr/>
          <p:nvPr/>
        </p:nvSpPr>
        <p:spPr>
          <a:xfrm>
            <a:off x="4818888" y="2148840"/>
            <a:ext cx="4023360" cy="237744"/>
          </a:xfrm>
          <a:prstGeom prst="rect">
            <a:avLst/>
          </a:prstGeom>
          <a:noFill/>
          <a:ln/>
        </p:spPr>
        <p:txBody>
          <a:bodyPr wrap="square" rtlCol="0" anchor="ctr"/>
          <a:lstStyle/>
          <a:p>
            <a:pPr indent="0" marL="0">
              <a:buNone/>
            </a:pPr>
            <a:r>
              <a:rPr lang="en-US" sz="800" b="1" dirty="0">
                <a:solidFill>
                  <a:srgbClr val="8FA8BF"/>
                </a:solidFill>
                <a:latin typeface="Calibri" pitchFamily="34" charset="0"/>
                <a:ea typeface="Calibri" pitchFamily="34" charset="-122"/>
                <a:cs typeface="Calibri" pitchFamily="34" charset="-120"/>
              </a:rPr>
              <a:t>Fix Strategy</a:t>
            </a:r>
            <a:endParaRPr lang="en-US" sz="800" dirty="0"/>
          </a:p>
        </p:txBody>
      </p:sp>
      <p:sp>
        <p:nvSpPr>
          <p:cNvPr id="25" name="Text 23"/>
          <p:cNvSpPr/>
          <p:nvPr/>
        </p:nvSpPr>
        <p:spPr>
          <a:xfrm>
            <a:off x="4818888" y="2368296"/>
            <a:ext cx="4023360" cy="1088136"/>
          </a:xfrm>
          <a:prstGeom prst="rect">
            <a:avLst/>
          </a:prstGeom>
          <a:noFill/>
          <a:ln/>
        </p:spPr>
        <p:txBody>
          <a:bodyPr wrap="square" rtlCol="0" anchor="ctr"/>
          <a:lstStyle/>
          <a:p>
            <a:pPr indent="0" marL="0">
              <a:buNone/>
            </a:pPr>
            <a:r>
              <a:rPr lang="en-US" sz="1000" dirty="0">
                <a:solidFill>
                  <a:srgbClr val="3BB273"/>
                </a:solidFill>
                <a:latin typeface="Calibri" pitchFamily="34" charset="0"/>
                <a:ea typeface="Calibri" pitchFamily="34" charset="-122"/>
                <a:cs typeface="Calibri" pitchFamily="34" charset="-120"/>
              </a:rPr>
              <a:t>Wrap all Lambda handlers in global try/except. Return only generic client-safe messages (e.g. Internal error). Log full details to CloudWatch only. Add input type validation before processing. Use a centralized error handler across all functions.</a:t>
            </a:r>
            <a:endParaRPr lang="en-US" sz="1000" dirty="0"/>
          </a:p>
        </p:txBody>
      </p:sp>
      <p:sp>
        <p:nvSpPr>
          <p:cNvPr id="26" name="Shape 24"/>
          <p:cNvSpPr/>
          <p:nvPr/>
        </p:nvSpPr>
        <p:spPr>
          <a:xfrm>
            <a:off x="274320" y="3566160"/>
            <a:ext cx="8595360" cy="457200"/>
          </a:xfrm>
          <a:prstGeom prst="rect">
            <a:avLst/>
          </a:prstGeom>
          <a:solidFill>
            <a:srgbClr val="12263A"/>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7" name="Shape 25"/>
          <p:cNvSpPr/>
          <p:nvPr/>
        </p:nvSpPr>
        <p:spPr>
          <a:xfrm>
            <a:off x="274320" y="3566160"/>
            <a:ext cx="64008" cy="457200"/>
          </a:xfrm>
          <a:prstGeom prst="rect">
            <a:avLst/>
          </a:prstGeom>
          <a:solidFill>
            <a:srgbClr val="F4B942"/>
          </a:solidFill>
          <a:ln w="12700">
            <a:solidFill>
              <a:srgbClr val="F4B942"/>
            </a:solidFill>
            <a:prstDash val="solid"/>
          </a:ln>
        </p:spPr>
      </p:sp>
      <p:sp>
        <p:nvSpPr>
          <p:cNvPr id="28" name="Text 26"/>
          <p:cNvSpPr/>
          <p:nvPr/>
        </p:nvSpPr>
        <p:spPr>
          <a:xfrm>
            <a:off x="384048" y="3566160"/>
            <a:ext cx="8458200" cy="457200"/>
          </a:xfrm>
          <a:prstGeom prst="rect">
            <a:avLst/>
          </a:prstGeom>
          <a:noFill/>
          <a:ln/>
        </p:spPr>
        <p:txBody>
          <a:bodyPr wrap="square" rtlCol="0" anchor="ctr"/>
          <a:lstStyle/>
          <a:p>
            <a:pPr indent="0" marL="0">
              <a:buNone/>
            </a:pPr>
            <a:r>
              <a:rPr lang="en-US" sz="1000" dirty="0">
                <a:solidFill>
                  <a:srgbClr val="8FA8BF"/>
                </a:solidFill>
                <a:latin typeface="Calibri" pitchFamily="34" charset="0"/>
                <a:ea typeface="Calibri" pitchFamily="34" charset="-122"/>
                <a:cs typeface="Calibri" pitchFamily="34" charset="-120"/>
              </a:rPr>
              <a:t>Deviation Class  ·  </a:t>
            </a:r>
            <a:endParaRPr lang="en-US" sz="1000" dirty="0"/>
          </a:p>
        </p:txBody>
      </p:sp>
      <p:sp>
        <p:nvSpPr>
          <p:cNvPr id="29" name="Text 27"/>
          <p:cNvSpPr/>
          <p:nvPr/>
        </p:nvSpPr>
        <p:spPr>
          <a:xfrm>
            <a:off x="2240280" y="3566160"/>
            <a:ext cx="6583680" cy="457200"/>
          </a:xfrm>
          <a:prstGeom prst="rect">
            <a:avLst/>
          </a:prstGeom>
          <a:noFill/>
          <a:ln/>
        </p:spPr>
        <p:txBody>
          <a:bodyPr wrap="square" rtlCol="0" anchor="ctr"/>
          <a:lstStyle/>
          <a:p>
            <a:pPr indent="0" marL="0">
              <a:buNone/>
            </a:pPr>
            <a:r>
              <a:rPr lang="en-US" sz="1000" b="1" dirty="0">
                <a:solidFill>
                  <a:srgbClr val="F4B942"/>
                </a:solidFill>
                <a:latin typeface="Calibri" pitchFamily="34" charset="0"/>
                <a:ea typeface="Calibri" pitchFamily="34" charset="-122"/>
                <a:cs typeface="Calibri" pitchFamily="34" charset="-120"/>
              </a:rPr>
              <a:t>Accidental Misconfiguration</a:t>
            </a:r>
            <a:endParaRPr lang="en-US" sz="1000" dirty="0"/>
          </a:p>
        </p:txBody>
      </p:sp>
      <p:sp>
        <p:nvSpPr>
          <p:cNvPr id="30" name="Shape 28"/>
          <p:cNvSpPr/>
          <p:nvPr/>
        </p:nvSpPr>
        <p:spPr>
          <a:xfrm>
            <a:off x="0" y="5056632"/>
            <a:ext cx="9144000" cy="91440"/>
          </a:xfrm>
          <a:prstGeom prst="rect">
            <a:avLst/>
          </a:prstGeom>
          <a:solidFill>
            <a:srgbClr val="00C2CB"/>
          </a:solidFill>
          <a:ln w="12700">
            <a:solidFill>
              <a:srgbClr val="00C2CB"/>
            </a:solidFill>
            <a:prstDash val="solid"/>
          </a:ln>
        </p:spPr>
      </p:sp>
      <p:sp>
        <p:nvSpPr>
          <p:cNvPr id="31" name="Text 29"/>
          <p:cNvSpPr/>
          <p:nvPr/>
        </p:nvSpPr>
        <p:spPr>
          <a:xfrm>
            <a:off x="0" y="4855464"/>
            <a:ext cx="9144000" cy="219456"/>
          </a:xfrm>
          <a:prstGeom prst="rect">
            <a:avLst/>
          </a:prstGeom>
          <a:noFill/>
          <a:ln/>
        </p:spPr>
        <p:txBody>
          <a:bodyPr wrap="square" rtlCol="0" anchor="ctr"/>
          <a:lstStyle/>
          <a:p>
            <a:pPr algn="ctr" indent="0" marL="0">
              <a:buNone/>
            </a:pPr>
            <a:r>
              <a:rPr lang="en-US" sz="800" dirty="0">
                <a:solidFill>
                  <a:srgbClr val="8FA8BF"/>
                </a:solidFill>
                <a:latin typeface="Calibri" pitchFamily="34" charset="0"/>
                <a:ea typeface="Calibri" pitchFamily="34" charset="-122"/>
                <a:cs typeface="Calibri" pitchFamily="34" charset="-120"/>
              </a:rPr>
              <a:t>ICS-344 · KFUPM · Almatrook &amp; Almuhanna</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Text 1"/>
          <p:cNvSpPr/>
          <p:nvPr/>
        </p:nvSpPr>
        <p:spPr>
          <a:xfrm>
            <a:off x="365760" y="109728"/>
            <a:ext cx="8412480" cy="384048"/>
          </a:xfrm>
          <a:prstGeom prst="rect">
            <a:avLst/>
          </a:prstGeom>
          <a:noFill/>
          <a:ln/>
        </p:spPr>
        <p:txBody>
          <a:bodyPr wrap="square" rtlCol="0" anchor="ctr"/>
          <a:lstStyle/>
          <a:p>
            <a:pPr indent="0" marL="0">
              <a:buNone/>
            </a:pPr>
            <a:r>
              <a:rPr lang="en-US" sz="2200" b="1" dirty="0">
                <a:solidFill>
                  <a:srgbClr val="F0F4F8"/>
                </a:solidFill>
                <a:latin typeface="Arial Black" pitchFamily="34" charset="0"/>
                <a:ea typeface="Arial Black" pitchFamily="34" charset="-122"/>
                <a:cs typeface="Arial Black" pitchFamily="34" charset="-120"/>
              </a:rPr>
              <a:t>Structured Analysis Summary</a:t>
            </a:r>
            <a:endParaRPr lang="en-US" sz="2200" dirty="0"/>
          </a:p>
        </p:txBody>
      </p:sp>
      <p:sp>
        <p:nvSpPr>
          <p:cNvPr id="4" name="Shape 2"/>
          <p:cNvSpPr/>
          <p:nvPr/>
        </p:nvSpPr>
        <p:spPr>
          <a:xfrm>
            <a:off x="228600" y="548640"/>
            <a:ext cx="8686800" cy="292608"/>
          </a:xfrm>
          <a:prstGeom prst="rect">
            <a:avLst/>
          </a:prstGeom>
          <a:solidFill>
            <a:srgbClr val="00C2C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5" name="Text 3"/>
          <p:cNvSpPr/>
          <p:nvPr/>
        </p:nvSpPr>
        <p:spPr>
          <a:xfrm>
            <a:off x="274320" y="548640"/>
            <a:ext cx="2194560" cy="292608"/>
          </a:xfrm>
          <a:prstGeom prst="rect">
            <a:avLst/>
          </a:prstGeom>
          <a:noFill/>
          <a:ln/>
        </p:spPr>
        <p:txBody>
          <a:bodyPr wrap="square"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Lesson</a:t>
            </a:r>
            <a:endParaRPr lang="en-US" sz="900" dirty="0"/>
          </a:p>
        </p:txBody>
      </p:sp>
      <p:sp>
        <p:nvSpPr>
          <p:cNvPr id="6" name="Text 4"/>
          <p:cNvSpPr/>
          <p:nvPr/>
        </p:nvSpPr>
        <p:spPr>
          <a:xfrm>
            <a:off x="2514600" y="548640"/>
            <a:ext cx="1188720" cy="292608"/>
          </a:xfrm>
          <a:prstGeom prst="rect">
            <a:avLst/>
          </a:prstGeom>
          <a:noFill/>
          <a:ln/>
        </p:spPr>
        <p:txBody>
          <a:bodyPr wrap="square"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Deviation</a:t>
            </a:r>
            <a:endParaRPr lang="en-US" sz="900" dirty="0"/>
          </a:p>
        </p:txBody>
      </p:sp>
      <p:sp>
        <p:nvSpPr>
          <p:cNvPr id="7" name="Text 5"/>
          <p:cNvSpPr/>
          <p:nvPr/>
        </p:nvSpPr>
        <p:spPr>
          <a:xfrm>
            <a:off x="3749040" y="548640"/>
            <a:ext cx="2377440" cy="292608"/>
          </a:xfrm>
          <a:prstGeom prst="rect">
            <a:avLst/>
          </a:prstGeom>
          <a:noFill/>
          <a:ln/>
        </p:spPr>
        <p:txBody>
          <a:bodyPr wrap="square"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Affected Component</a:t>
            </a:r>
            <a:endParaRPr lang="en-US" sz="900" dirty="0"/>
          </a:p>
        </p:txBody>
      </p:sp>
      <p:sp>
        <p:nvSpPr>
          <p:cNvPr id="8" name="Text 6"/>
          <p:cNvSpPr/>
          <p:nvPr/>
        </p:nvSpPr>
        <p:spPr>
          <a:xfrm>
            <a:off x="6172200" y="548640"/>
            <a:ext cx="2743200" cy="292608"/>
          </a:xfrm>
          <a:prstGeom prst="rect">
            <a:avLst/>
          </a:prstGeom>
          <a:noFill/>
          <a:ln/>
        </p:spPr>
        <p:txBody>
          <a:bodyPr wrap="square"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Fix Location</a:t>
            </a:r>
            <a:endParaRPr lang="en-US" sz="900" dirty="0"/>
          </a:p>
        </p:txBody>
      </p:sp>
      <p:sp>
        <p:nvSpPr>
          <p:cNvPr id="9" name="Shape 7"/>
          <p:cNvSpPr/>
          <p:nvPr/>
        </p:nvSpPr>
        <p:spPr>
          <a:xfrm>
            <a:off x="228600" y="877824"/>
            <a:ext cx="8686800" cy="402336"/>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0" name="Shape 8"/>
          <p:cNvSpPr/>
          <p:nvPr/>
        </p:nvSpPr>
        <p:spPr>
          <a:xfrm>
            <a:off x="228600" y="877824"/>
            <a:ext cx="54864" cy="402336"/>
          </a:xfrm>
          <a:prstGeom prst="rect">
            <a:avLst/>
          </a:prstGeom>
          <a:solidFill>
            <a:srgbClr val="E84855"/>
          </a:solidFill>
          <a:ln w="12700">
            <a:solidFill>
              <a:srgbClr val="E84855"/>
            </a:solidFill>
            <a:prstDash val="solid"/>
          </a:ln>
        </p:spPr>
      </p:sp>
      <p:sp>
        <p:nvSpPr>
          <p:cNvPr id="11" name="Text 9"/>
          <p:cNvSpPr/>
          <p:nvPr/>
        </p:nvSpPr>
        <p:spPr>
          <a:xfrm>
            <a:off x="329184" y="877824"/>
            <a:ext cx="2139696" cy="402336"/>
          </a:xfrm>
          <a:prstGeom prst="rect">
            <a:avLst/>
          </a:prstGeom>
          <a:noFill/>
          <a:ln/>
        </p:spPr>
        <p:txBody>
          <a:bodyPr wrap="square" rtlCol="0" anchor="ctr"/>
          <a:lstStyle/>
          <a:p>
            <a:pPr indent="0" marL="0">
              <a:buNone/>
            </a:pPr>
            <a:r>
              <a:rPr lang="en-US" sz="850" dirty="0">
                <a:solidFill>
                  <a:srgbClr val="F0F4F8"/>
                </a:solidFill>
                <a:latin typeface="Calibri" pitchFamily="34" charset="0"/>
                <a:ea typeface="Calibri" pitchFamily="34" charset="-122"/>
                <a:cs typeface="Calibri" pitchFamily="34" charset="-120"/>
              </a:rPr>
              <a:t>#1/#9  Event Injection &amp; Vuln Deps</a:t>
            </a:r>
            <a:endParaRPr lang="en-US" sz="850" dirty="0"/>
          </a:p>
        </p:txBody>
      </p:sp>
      <p:sp>
        <p:nvSpPr>
          <p:cNvPr id="12" name="Text 10"/>
          <p:cNvSpPr/>
          <p:nvPr/>
        </p:nvSpPr>
        <p:spPr>
          <a:xfrm>
            <a:off x="2514600" y="877824"/>
            <a:ext cx="1188720" cy="402336"/>
          </a:xfrm>
          <a:prstGeom prst="rect">
            <a:avLst/>
          </a:prstGeom>
          <a:noFill/>
          <a:ln/>
        </p:spPr>
        <p:txBody>
          <a:bodyPr wrap="square" rtlCol="0" anchor="ctr"/>
          <a:lstStyle/>
          <a:p>
            <a:pPr indent="0" marL="0">
              <a:buNone/>
            </a:pPr>
            <a:r>
              <a:rPr lang="en-US" sz="850" b="1" dirty="0">
                <a:solidFill>
                  <a:srgbClr val="E84855"/>
                </a:solidFill>
                <a:latin typeface="Calibri" pitchFamily="34" charset="0"/>
                <a:ea typeface="Calibri" pitchFamily="34" charset="-122"/>
                <a:cs typeface="Calibri" pitchFamily="34" charset="-120"/>
              </a:rPr>
              <a:t>Misuse</a:t>
            </a:r>
            <a:endParaRPr lang="en-US" sz="850" dirty="0"/>
          </a:p>
        </p:txBody>
      </p:sp>
      <p:sp>
        <p:nvSpPr>
          <p:cNvPr id="13" name="Text 11"/>
          <p:cNvSpPr/>
          <p:nvPr/>
        </p:nvSpPr>
        <p:spPr>
          <a:xfrm>
            <a:off x="3749040" y="877824"/>
            <a:ext cx="2377440" cy="402336"/>
          </a:xfrm>
          <a:prstGeom prst="rect">
            <a:avLst/>
          </a:prstGeom>
          <a:noFill/>
          <a:ln/>
        </p:spPr>
        <p:txBody>
          <a:bodyPr wrap="square" rtlCol="0" anchor="ctr"/>
          <a:lstStyle/>
          <a:p>
            <a:pPr indent="0" marL="0">
              <a:buNone/>
            </a:pPr>
            <a:r>
              <a:rPr lang="en-US" sz="850" dirty="0">
                <a:solidFill>
                  <a:srgbClr val="8FA8BF"/>
                </a:solidFill>
                <a:latin typeface="Calibri" pitchFamily="34" charset="0"/>
                <a:ea typeface="Calibri" pitchFamily="34" charset="-122"/>
                <a:cs typeface="Calibri" pitchFamily="34" charset="-120"/>
              </a:rPr>
              <a:t>ORDER-MANAGER Lambda</a:t>
            </a:r>
            <a:endParaRPr lang="en-US" sz="850" dirty="0"/>
          </a:p>
        </p:txBody>
      </p:sp>
      <p:sp>
        <p:nvSpPr>
          <p:cNvPr id="14" name="Text 12"/>
          <p:cNvSpPr/>
          <p:nvPr/>
        </p:nvSpPr>
        <p:spPr>
          <a:xfrm>
            <a:off x="6172200" y="877824"/>
            <a:ext cx="2743200" cy="402336"/>
          </a:xfrm>
          <a:prstGeom prst="rect">
            <a:avLst/>
          </a:prstGeom>
          <a:noFill/>
          <a:ln/>
        </p:spPr>
        <p:txBody>
          <a:bodyPr wrap="square" rtlCol="0" anchor="ctr"/>
          <a:lstStyle/>
          <a:p>
            <a:pPr indent="0" marL="0">
              <a:buNone/>
            </a:pPr>
            <a:r>
              <a:rPr lang="en-US" sz="850" dirty="0">
                <a:solidFill>
                  <a:srgbClr val="3BB273"/>
                </a:solidFill>
                <a:latin typeface="Calibri" pitchFamily="34" charset="0"/>
                <a:ea typeface="Calibri" pitchFamily="34" charset="-122"/>
                <a:cs typeface="Calibri" pitchFamily="34" charset="-120"/>
              </a:rPr>
              <a:t>Replace node-serialize → JSON.parse()</a:t>
            </a:r>
            <a:endParaRPr lang="en-US" sz="850" dirty="0"/>
          </a:p>
        </p:txBody>
      </p:sp>
      <p:sp>
        <p:nvSpPr>
          <p:cNvPr id="15" name="Shape 13"/>
          <p:cNvSpPr/>
          <p:nvPr/>
        </p:nvSpPr>
        <p:spPr>
          <a:xfrm>
            <a:off x="228600" y="1316736"/>
            <a:ext cx="8686800" cy="402336"/>
          </a:xfrm>
          <a:prstGeom prst="rect">
            <a:avLst/>
          </a:prstGeom>
          <a:solidFill>
            <a:srgbClr val="1B2A3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6" name="Shape 14"/>
          <p:cNvSpPr/>
          <p:nvPr/>
        </p:nvSpPr>
        <p:spPr>
          <a:xfrm>
            <a:off x="228600" y="1316736"/>
            <a:ext cx="54864" cy="402336"/>
          </a:xfrm>
          <a:prstGeom prst="rect">
            <a:avLst/>
          </a:prstGeom>
          <a:solidFill>
            <a:srgbClr val="E84855"/>
          </a:solidFill>
          <a:ln w="12700">
            <a:solidFill>
              <a:srgbClr val="E84855"/>
            </a:solidFill>
            <a:prstDash val="solid"/>
          </a:ln>
        </p:spPr>
      </p:sp>
      <p:sp>
        <p:nvSpPr>
          <p:cNvPr id="17" name="Text 15"/>
          <p:cNvSpPr/>
          <p:nvPr/>
        </p:nvSpPr>
        <p:spPr>
          <a:xfrm>
            <a:off x="329184" y="1316736"/>
            <a:ext cx="2139696" cy="402336"/>
          </a:xfrm>
          <a:prstGeom prst="rect">
            <a:avLst/>
          </a:prstGeom>
          <a:noFill/>
          <a:ln/>
        </p:spPr>
        <p:txBody>
          <a:bodyPr wrap="square" rtlCol="0" anchor="ctr"/>
          <a:lstStyle/>
          <a:p>
            <a:pPr indent="0" marL="0">
              <a:buNone/>
            </a:pPr>
            <a:r>
              <a:rPr lang="en-US" sz="850" dirty="0">
                <a:solidFill>
                  <a:srgbClr val="F0F4F8"/>
                </a:solidFill>
                <a:latin typeface="Calibri" pitchFamily="34" charset="0"/>
                <a:ea typeface="Calibri" pitchFamily="34" charset="-122"/>
                <a:cs typeface="Calibri" pitchFamily="34" charset="-120"/>
              </a:rPr>
              <a:t>#2  Broken Authentication</a:t>
            </a:r>
            <a:endParaRPr lang="en-US" sz="850" dirty="0"/>
          </a:p>
        </p:txBody>
      </p:sp>
      <p:sp>
        <p:nvSpPr>
          <p:cNvPr id="18" name="Text 16"/>
          <p:cNvSpPr/>
          <p:nvPr/>
        </p:nvSpPr>
        <p:spPr>
          <a:xfrm>
            <a:off x="2514600" y="1316736"/>
            <a:ext cx="1188720" cy="402336"/>
          </a:xfrm>
          <a:prstGeom prst="rect">
            <a:avLst/>
          </a:prstGeom>
          <a:noFill/>
          <a:ln/>
        </p:spPr>
        <p:txBody>
          <a:bodyPr wrap="square" rtlCol="0" anchor="ctr"/>
          <a:lstStyle/>
          <a:p>
            <a:pPr indent="0" marL="0">
              <a:buNone/>
            </a:pPr>
            <a:r>
              <a:rPr lang="en-US" sz="850" b="1" dirty="0">
                <a:solidFill>
                  <a:srgbClr val="E84855"/>
                </a:solidFill>
                <a:latin typeface="Calibri" pitchFamily="34" charset="0"/>
                <a:ea typeface="Calibri" pitchFamily="34" charset="-122"/>
                <a:cs typeface="Calibri" pitchFamily="34" charset="-120"/>
              </a:rPr>
              <a:t>Misuse</a:t>
            </a:r>
            <a:endParaRPr lang="en-US" sz="850" dirty="0"/>
          </a:p>
        </p:txBody>
      </p:sp>
      <p:sp>
        <p:nvSpPr>
          <p:cNvPr id="19" name="Text 17"/>
          <p:cNvSpPr/>
          <p:nvPr/>
        </p:nvSpPr>
        <p:spPr>
          <a:xfrm>
            <a:off x="3749040" y="1316736"/>
            <a:ext cx="2377440" cy="402336"/>
          </a:xfrm>
          <a:prstGeom prst="rect">
            <a:avLst/>
          </a:prstGeom>
          <a:noFill/>
          <a:ln/>
        </p:spPr>
        <p:txBody>
          <a:bodyPr wrap="square" rtlCol="0" anchor="ctr"/>
          <a:lstStyle/>
          <a:p>
            <a:pPr indent="0" marL="0">
              <a:buNone/>
            </a:pPr>
            <a:r>
              <a:rPr lang="en-US" sz="850" dirty="0">
                <a:solidFill>
                  <a:srgbClr val="8FA8BF"/>
                </a:solidFill>
                <a:latin typeface="Calibri" pitchFamily="34" charset="0"/>
                <a:ea typeface="Calibri" pitchFamily="34" charset="-122"/>
                <a:cs typeface="Calibri" pitchFamily="34" charset="-120"/>
              </a:rPr>
              <a:t>ORDER-MANAGER JWT handler</a:t>
            </a:r>
            <a:endParaRPr lang="en-US" sz="850" dirty="0"/>
          </a:p>
        </p:txBody>
      </p:sp>
      <p:sp>
        <p:nvSpPr>
          <p:cNvPr id="20" name="Text 18"/>
          <p:cNvSpPr/>
          <p:nvPr/>
        </p:nvSpPr>
        <p:spPr>
          <a:xfrm>
            <a:off x="6172200" y="1316736"/>
            <a:ext cx="2743200" cy="402336"/>
          </a:xfrm>
          <a:prstGeom prst="rect">
            <a:avLst/>
          </a:prstGeom>
          <a:noFill/>
          <a:ln/>
        </p:spPr>
        <p:txBody>
          <a:bodyPr wrap="square" rtlCol="0" anchor="ctr"/>
          <a:lstStyle/>
          <a:p>
            <a:pPr indent="0" marL="0">
              <a:buNone/>
            </a:pPr>
            <a:r>
              <a:rPr lang="en-US" sz="850" dirty="0">
                <a:solidFill>
                  <a:srgbClr val="3BB273"/>
                </a:solidFill>
                <a:latin typeface="Calibri" pitchFamily="34" charset="0"/>
                <a:ea typeface="Calibri" pitchFamily="34" charset="-122"/>
                <a:cs typeface="Calibri" pitchFamily="34" charset="-120"/>
              </a:rPr>
              <a:t>Cognito JWKS signature verification</a:t>
            </a:r>
            <a:endParaRPr lang="en-US" sz="850" dirty="0"/>
          </a:p>
        </p:txBody>
      </p:sp>
      <p:sp>
        <p:nvSpPr>
          <p:cNvPr id="21" name="Shape 19"/>
          <p:cNvSpPr/>
          <p:nvPr/>
        </p:nvSpPr>
        <p:spPr>
          <a:xfrm>
            <a:off x="228600" y="1755648"/>
            <a:ext cx="8686800" cy="402336"/>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2" name="Shape 20"/>
          <p:cNvSpPr/>
          <p:nvPr/>
        </p:nvSpPr>
        <p:spPr>
          <a:xfrm>
            <a:off x="228600" y="1755648"/>
            <a:ext cx="54864" cy="402336"/>
          </a:xfrm>
          <a:prstGeom prst="rect">
            <a:avLst/>
          </a:prstGeom>
          <a:solidFill>
            <a:srgbClr val="E84855"/>
          </a:solidFill>
          <a:ln w="12700">
            <a:solidFill>
              <a:srgbClr val="E84855"/>
            </a:solidFill>
            <a:prstDash val="solid"/>
          </a:ln>
        </p:spPr>
      </p:sp>
      <p:sp>
        <p:nvSpPr>
          <p:cNvPr id="23" name="Text 21"/>
          <p:cNvSpPr/>
          <p:nvPr/>
        </p:nvSpPr>
        <p:spPr>
          <a:xfrm>
            <a:off x="329184" y="1755648"/>
            <a:ext cx="2139696" cy="402336"/>
          </a:xfrm>
          <a:prstGeom prst="rect">
            <a:avLst/>
          </a:prstGeom>
          <a:noFill/>
          <a:ln/>
        </p:spPr>
        <p:txBody>
          <a:bodyPr wrap="square" rtlCol="0" anchor="ctr"/>
          <a:lstStyle/>
          <a:p>
            <a:pPr indent="0" marL="0">
              <a:buNone/>
            </a:pPr>
            <a:r>
              <a:rPr lang="en-US" sz="850" dirty="0">
                <a:solidFill>
                  <a:srgbClr val="F0F4F8"/>
                </a:solidFill>
                <a:latin typeface="Calibri" pitchFamily="34" charset="0"/>
                <a:ea typeface="Calibri" pitchFamily="34" charset="-122"/>
                <a:cs typeface="Calibri" pitchFamily="34" charset="-120"/>
              </a:rPr>
              <a:t>#3  Sensitive Data Exposure</a:t>
            </a:r>
            <a:endParaRPr lang="en-US" sz="850" dirty="0"/>
          </a:p>
        </p:txBody>
      </p:sp>
      <p:sp>
        <p:nvSpPr>
          <p:cNvPr id="24" name="Text 22"/>
          <p:cNvSpPr/>
          <p:nvPr/>
        </p:nvSpPr>
        <p:spPr>
          <a:xfrm>
            <a:off x="2514600" y="1755648"/>
            <a:ext cx="1188720" cy="402336"/>
          </a:xfrm>
          <a:prstGeom prst="rect">
            <a:avLst/>
          </a:prstGeom>
          <a:noFill/>
          <a:ln/>
        </p:spPr>
        <p:txBody>
          <a:bodyPr wrap="square" rtlCol="0" anchor="ctr"/>
          <a:lstStyle/>
          <a:p>
            <a:pPr indent="0" marL="0">
              <a:buNone/>
            </a:pPr>
            <a:r>
              <a:rPr lang="en-US" sz="850" b="1" dirty="0">
                <a:solidFill>
                  <a:srgbClr val="E84855"/>
                </a:solidFill>
                <a:latin typeface="Calibri" pitchFamily="34" charset="0"/>
                <a:ea typeface="Calibri" pitchFamily="34" charset="-122"/>
                <a:cs typeface="Calibri" pitchFamily="34" charset="-120"/>
              </a:rPr>
              <a:t>Misuse</a:t>
            </a:r>
            <a:endParaRPr lang="en-US" sz="850" dirty="0"/>
          </a:p>
        </p:txBody>
      </p:sp>
      <p:sp>
        <p:nvSpPr>
          <p:cNvPr id="25" name="Text 23"/>
          <p:cNvSpPr/>
          <p:nvPr/>
        </p:nvSpPr>
        <p:spPr>
          <a:xfrm>
            <a:off x="3749040" y="1755648"/>
            <a:ext cx="2377440" cy="402336"/>
          </a:xfrm>
          <a:prstGeom prst="rect">
            <a:avLst/>
          </a:prstGeom>
          <a:noFill/>
          <a:ln/>
        </p:spPr>
        <p:txBody>
          <a:bodyPr wrap="square" rtlCol="0" anchor="ctr"/>
          <a:lstStyle/>
          <a:p>
            <a:pPr indent="0" marL="0">
              <a:buNone/>
            </a:pPr>
            <a:r>
              <a:rPr lang="en-US" sz="850" dirty="0">
                <a:solidFill>
                  <a:srgbClr val="8FA8BF"/>
                </a:solidFill>
                <a:latin typeface="Calibri" pitchFamily="34" charset="0"/>
                <a:ea typeface="Calibri" pitchFamily="34" charset="-122"/>
                <a:cs typeface="Calibri" pitchFamily="34" charset="-120"/>
              </a:rPr>
              <a:t>USER-ORDERS Lambda response</a:t>
            </a:r>
            <a:endParaRPr lang="en-US" sz="850" dirty="0"/>
          </a:p>
        </p:txBody>
      </p:sp>
      <p:sp>
        <p:nvSpPr>
          <p:cNvPr id="26" name="Text 24"/>
          <p:cNvSpPr/>
          <p:nvPr/>
        </p:nvSpPr>
        <p:spPr>
          <a:xfrm>
            <a:off x="6172200" y="1755648"/>
            <a:ext cx="2743200" cy="402336"/>
          </a:xfrm>
          <a:prstGeom prst="rect">
            <a:avLst/>
          </a:prstGeom>
          <a:noFill/>
          <a:ln/>
        </p:spPr>
        <p:txBody>
          <a:bodyPr wrap="square" rtlCol="0" anchor="ctr"/>
          <a:lstStyle/>
          <a:p>
            <a:pPr indent="0" marL="0">
              <a:buNone/>
            </a:pPr>
            <a:r>
              <a:rPr lang="en-US" sz="850" dirty="0">
                <a:solidFill>
                  <a:srgbClr val="3BB273"/>
                </a:solidFill>
                <a:latin typeface="Calibri" pitchFamily="34" charset="0"/>
                <a:ea typeface="Calibri" pitchFamily="34" charset="-122"/>
                <a:cs typeface="Calibri" pitchFamily="34" charset="-120"/>
              </a:rPr>
              <a:t>Server-side field filtering</a:t>
            </a:r>
            <a:endParaRPr lang="en-US" sz="850" dirty="0"/>
          </a:p>
        </p:txBody>
      </p:sp>
      <p:sp>
        <p:nvSpPr>
          <p:cNvPr id="27" name="Shape 25"/>
          <p:cNvSpPr/>
          <p:nvPr/>
        </p:nvSpPr>
        <p:spPr>
          <a:xfrm>
            <a:off x="228600" y="2194560"/>
            <a:ext cx="8686800" cy="402336"/>
          </a:xfrm>
          <a:prstGeom prst="rect">
            <a:avLst/>
          </a:prstGeom>
          <a:solidFill>
            <a:srgbClr val="1B2A3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8" name="Shape 26"/>
          <p:cNvSpPr/>
          <p:nvPr/>
        </p:nvSpPr>
        <p:spPr>
          <a:xfrm>
            <a:off x="228600" y="2194560"/>
            <a:ext cx="54864" cy="402336"/>
          </a:xfrm>
          <a:prstGeom prst="rect">
            <a:avLst/>
          </a:prstGeom>
          <a:solidFill>
            <a:srgbClr val="F4B942"/>
          </a:solidFill>
          <a:ln w="12700">
            <a:solidFill>
              <a:srgbClr val="F4B942"/>
            </a:solidFill>
            <a:prstDash val="solid"/>
          </a:ln>
        </p:spPr>
      </p:sp>
      <p:sp>
        <p:nvSpPr>
          <p:cNvPr id="29" name="Text 27"/>
          <p:cNvSpPr/>
          <p:nvPr/>
        </p:nvSpPr>
        <p:spPr>
          <a:xfrm>
            <a:off x="329184" y="2194560"/>
            <a:ext cx="2139696" cy="402336"/>
          </a:xfrm>
          <a:prstGeom prst="rect">
            <a:avLst/>
          </a:prstGeom>
          <a:noFill/>
          <a:ln/>
        </p:spPr>
        <p:txBody>
          <a:bodyPr wrap="square" rtlCol="0" anchor="ctr"/>
          <a:lstStyle/>
          <a:p>
            <a:pPr indent="0" marL="0">
              <a:buNone/>
            </a:pPr>
            <a:r>
              <a:rPr lang="en-US" sz="850" dirty="0">
                <a:solidFill>
                  <a:srgbClr val="F0F4F8"/>
                </a:solidFill>
                <a:latin typeface="Calibri" pitchFamily="34" charset="0"/>
                <a:ea typeface="Calibri" pitchFamily="34" charset="-122"/>
                <a:cs typeface="Calibri" pitchFamily="34" charset="-120"/>
              </a:rPr>
              <a:t>#4  Insecure Cloud Config</a:t>
            </a:r>
            <a:endParaRPr lang="en-US" sz="850" dirty="0"/>
          </a:p>
        </p:txBody>
      </p:sp>
      <p:sp>
        <p:nvSpPr>
          <p:cNvPr id="30" name="Text 28"/>
          <p:cNvSpPr/>
          <p:nvPr/>
        </p:nvSpPr>
        <p:spPr>
          <a:xfrm>
            <a:off x="2514600" y="2194560"/>
            <a:ext cx="1188720" cy="402336"/>
          </a:xfrm>
          <a:prstGeom prst="rect">
            <a:avLst/>
          </a:prstGeom>
          <a:noFill/>
          <a:ln/>
        </p:spPr>
        <p:txBody>
          <a:bodyPr wrap="square" rtlCol="0" anchor="ctr"/>
          <a:lstStyle/>
          <a:p>
            <a:pPr indent="0" marL="0">
              <a:buNone/>
            </a:pPr>
            <a:r>
              <a:rPr lang="en-US" sz="850" b="1" dirty="0">
                <a:solidFill>
                  <a:srgbClr val="F4B942"/>
                </a:solidFill>
                <a:latin typeface="Calibri" pitchFamily="34" charset="0"/>
                <a:ea typeface="Calibri" pitchFamily="34" charset="-122"/>
                <a:cs typeface="Calibri" pitchFamily="34" charset="-120"/>
              </a:rPr>
              <a:t>Misconfig</a:t>
            </a:r>
            <a:endParaRPr lang="en-US" sz="850" dirty="0"/>
          </a:p>
        </p:txBody>
      </p:sp>
      <p:sp>
        <p:nvSpPr>
          <p:cNvPr id="31" name="Text 29"/>
          <p:cNvSpPr/>
          <p:nvPr/>
        </p:nvSpPr>
        <p:spPr>
          <a:xfrm>
            <a:off x="3749040" y="2194560"/>
            <a:ext cx="2377440" cy="402336"/>
          </a:xfrm>
          <a:prstGeom prst="rect">
            <a:avLst/>
          </a:prstGeom>
          <a:noFill/>
          <a:ln/>
        </p:spPr>
        <p:txBody>
          <a:bodyPr wrap="square" rtlCol="0" anchor="ctr"/>
          <a:lstStyle/>
          <a:p>
            <a:pPr indent="0" marL="0">
              <a:buNone/>
            </a:pPr>
            <a:r>
              <a:rPr lang="en-US" sz="850" dirty="0">
                <a:solidFill>
                  <a:srgbClr val="8FA8BF"/>
                </a:solidFill>
                <a:latin typeface="Calibri" pitchFamily="34" charset="0"/>
                <a:ea typeface="Calibri" pitchFamily="34" charset="-122"/>
                <a:cs typeface="Calibri" pitchFamily="34" charset="-120"/>
              </a:rPr>
              <a:t>S3 Receipts Bucket</a:t>
            </a:r>
            <a:endParaRPr lang="en-US" sz="850" dirty="0"/>
          </a:p>
        </p:txBody>
      </p:sp>
      <p:sp>
        <p:nvSpPr>
          <p:cNvPr id="32" name="Text 30"/>
          <p:cNvSpPr/>
          <p:nvPr/>
        </p:nvSpPr>
        <p:spPr>
          <a:xfrm>
            <a:off x="6172200" y="2194560"/>
            <a:ext cx="2743200" cy="402336"/>
          </a:xfrm>
          <a:prstGeom prst="rect">
            <a:avLst/>
          </a:prstGeom>
          <a:noFill/>
          <a:ln/>
        </p:spPr>
        <p:txBody>
          <a:bodyPr wrap="square" rtlCol="0" anchor="ctr"/>
          <a:lstStyle/>
          <a:p>
            <a:pPr indent="0" marL="0">
              <a:buNone/>
            </a:pPr>
            <a:r>
              <a:rPr lang="en-US" sz="850" dirty="0">
                <a:solidFill>
                  <a:srgbClr val="3BB273"/>
                </a:solidFill>
                <a:latin typeface="Calibri" pitchFamily="34" charset="0"/>
                <a:ea typeface="Calibri" pitchFamily="34" charset="-122"/>
                <a:cs typeface="Calibri" pitchFamily="34" charset="-120"/>
              </a:rPr>
              <a:t>Block Public Access + bucket policy</a:t>
            </a:r>
            <a:endParaRPr lang="en-US" sz="850" dirty="0"/>
          </a:p>
        </p:txBody>
      </p:sp>
      <p:sp>
        <p:nvSpPr>
          <p:cNvPr id="33" name="Shape 31"/>
          <p:cNvSpPr/>
          <p:nvPr/>
        </p:nvSpPr>
        <p:spPr>
          <a:xfrm>
            <a:off x="228600" y="2633472"/>
            <a:ext cx="8686800" cy="402336"/>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34" name="Shape 32"/>
          <p:cNvSpPr/>
          <p:nvPr/>
        </p:nvSpPr>
        <p:spPr>
          <a:xfrm>
            <a:off x="228600" y="2633472"/>
            <a:ext cx="54864" cy="402336"/>
          </a:xfrm>
          <a:prstGeom prst="rect">
            <a:avLst/>
          </a:prstGeom>
          <a:solidFill>
            <a:srgbClr val="E84855"/>
          </a:solidFill>
          <a:ln w="12700">
            <a:solidFill>
              <a:srgbClr val="E84855"/>
            </a:solidFill>
            <a:prstDash val="solid"/>
          </a:ln>
        </p:spPr>
      </p:sp>
      <p:sp>
        <p:nvSpPr>
          <p:cNvPr id="35" name="Text 33"/>
          <p:cNvSpPr/>
          <p:nvPr/>
        </p:nvSpPr>
        <p:spPr>
          <a:xfrm>
            <a:off x="329184" y="2633472"/>
            <a:ext cx="2139696" cy="402336"/>
          </a:xfrm>
          <a:prstGeom prst="rect">
            <a:avLst/>
          </a:prstGeom>
          <a:noFill/>
          <a:ln/>
        </p:spPr>
        <p:txBody>
          <a:bodyPr wrap="square" rtlCol="0" anchor="ctr"/>
          <a:lstStyle/>
          <a:p>
            <a:pPr indent="0" marL="0">
              <a:buNone/>
            </a:pPr>
            <a:r>
              <a:rPr lang="en-US" sz="850" dirty="0">
                <a:solidFill>
                  <a:srgbClr val="F0F4F8"/>
                </a:solidFill>
                <a:latin typeface="Calibri" pitchFamily="34" charset="0"/>
                <a:ea typeface="Calibri" pitchFamily="34" charset="-122"/>
                <a:cs typeface="Calibri" pitchFamily="34" charset="-120"/>
              </a:rPr>
              <a:t>#5  Broken Access Control</a:t>
            </a:r>
            <a:endParaRPr lang="en-US" sz="850" dirty="0"/>
          </a:p>
        </p:txBody>
      </p:sp>
      <p:sp>
        <p:nvSpPr>
          <p:cNvPr id="36" name="Text 34"/>
          <p:cNvSpPr/>
          <p:nvPr/>
        </p:nvSpPr>
        <p:spPr>
          <a:xfrm>
            <a:off x="2514600" y="2633472"/>
            <a:ext cx="1188720" cy="402336"/>
          </a:xfrm>
          <a:prstGeom prst="rect">
            <a:avLst/>
          </a:prstGeom>
          <a:noFill/>
          <a:ln/>
        </p:spPr>
        <p:txBody>
          <a:bodyPr wrap="square" rtlCol="0" anchor="ctr"/>
          <a:lstStyle/>
          <a:p>
            <a:pPr indent="0" marL="0">
              <a:buNone/>
            </a:pPr>
            <a:r>
              <a:rPr lang="en-US" sz="850" b="1" dirty="0">
                <a:solidFill>
                  <a:srgbClr val="E84855"/>
                </a:solidFill>
                <a:latin typeface="Calibri" pitchFamily="34" charset="0"/>
                <a:ea typeface="Calibri" pitchFamily="34" charset="-122"/>
                <a:cs typeface="Calibri" pitchFamily="34" charset="-120"/>
              </a:rPr>
              <a:t>Misuse</a:t>
            </a:r>
            <a:endParaRPr lang="en-US" sz="850" dirty="0"/>
          </a:p>
        </p:txBody>
      </p:sp>
      <p:sp>
        <p:nvSpPr>
          <p:cNvPr id="37" name="Text 35"/>
          <p:cNvSpPr/>
          <p:nvPr/>
        </p:nvSpPr>
        <p:spPr>
          <a:xfrm>
            <a:off x="3749040" y="2633472"/>
            <a:ext cx="2377440" cy="402336"/>
          </a:xfrm>
          <a:prstGeom prst="rect">
            <a:avLst/>
          </a:prstGeom>
          <a:noFill/>
          <a:ln/>
        </p:spPr>
        <p:txBody>
          <a:bodyPr wrap="square" rtlCol="0" anchor="ctr"/>
          <a:lstStyle/>
          <a:p>
            <a:pPr indent="0" marL="0">
              <a:buNone/>
            </a:pPr>
            <a:r>
              <a:rPr lang="en-US" sz="850" dirty="0">
                <a:solidFill>
                  <a:srgbClr val="8FA8BF"/>
                </a:solidFill>
                <a:latin typeface="Calibri" pitchFamily="34" charset="0"/>
                <a:ea typeface="Calibri" pitchFamily="34" charset="-122"/>
                <a:cs typeface="Calibri" pitchFamily="34" charset="-120"/>
              </a:rPr>
              <a:t>ORDER-MANAGER update action</a:t>
            </a:r>
            <a:endParaRPr lang="en-US" sz="850" dirty="0"/>
          </a:p>
        </p:txBody>
      </p:sp>
      <p:sp>
        <p:nvSpPr>
          <p:cNvPr id="38" name="Text 36"/>
          <p:cNvSpPr/>
          <p:nvPr/>
        </p:nvSpPr>
        <p:spPr>
          <a:xfrm>
            <a:off x="6172200" y="2633472"/>
            <a:ext cx="2743200" cy="402336"/>
          </a:xfrm>
          <a:prstGeom prst="rect">
            <a:avLst/>
          </a:prstGeom>
          <a:noFill/>
          <a:ln/>
        </p:spPr>
        <p:txBody>
          <a:bodyPr wrap="square" rtlCol="0" anchor="ctr"/>
          <a:lstStyle/>
          <a:p>
            <a:pPr indent="0" marL="0">
              <a:buNone/>
            </a:pPr>
            <a:r>
              <a:rPr lang="en-US" sz="850" dirty="0">
                <a:solidFill>
                  <a:srgbClr val="3BB273"/>
                </a:solidFill>
                <a:latin typeface="Calibri" pitchFamily="34" charset="0"/>
                <a:ea typeface="Calibri" pitchFamily="34" charset="-122"/>
                <a:cs typeface="Calibri" pitchFamily="34" charset="-120"/>
              </a:rPr>
              <a:t>RBAC + state machine enforcement</a:t>
            </a:r>
            <a:endParaRPr lang="en-US" sz="850" dirty="0"/>
          </a:p>
        </p:txBody>
      </p:sp>
      <p:sp>
        <p:nvSpPr>
          <p:cNvPr id="39" name="Shape 37"/>
          <p:cNvSpPr/>
          <p:nvPr/>
        </p:nvSpPr>
        <p:spPr>
          <a:xfrm>
            <a:off x="228600" y="3072384"/>
            <a:ext cx="8686800" cy="402336"/>
          </a:xfrm>
          <a:prstGeom prst="rect">
            <a:avLst/>
          </a:prstGeom>
          <a:solidFill>
            <a:srgbClr val="1B2A3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0" name="Shape 38"/>
          <p:cNvSpPr/>
          <p:nvPr/>
        </p:nvSpPr>
        <p:spPr>
          <a:xfrm>
            <a:off x="228600" y="3072384"/>
            <a:ext cx="54864" cy="402336"/>
          </a:xfrm>
          <a:prstGeom prst="rect">
            <a:avLst/>
          </a:prstGeom>
          <a:solidFill>
            <a:srgbClr val="E84855"/>
          </a:solidFill>
          <a:ln w="12700">
            <a:solidFill>
              <a:srgbClr val="E84855"/>
            </a:solidFill>
            <a:prstDash val="solid"/>
          </a:ln>
        </p:spPr>
      </p:sp>
      <p:sp>
        <p:nvSpPr>
          <p:cNvPr id="41" name="Text 39"/>
          <p:cNvSpPr/>
          <p:nvPr/>
        </p:nvSpPr>
        <p:spPr>
          <a:xfrm>
            <a:off x="329184" y="3072384"/>
            <a:ext cx="2139696" cy="402336"/>
          </a:xfrm>
          <a:prstGeom prst="rect">
            <a:avLst/>
          </a:prstGeom>
          <a:noFill/>
          <a:ln/>
        </p:spPr>
        <p:txBody>
          <a:bodyPr wrap="square" rtlCol="0" anchor="ctr"/>
          <a:lstStyle/>
          <a:p>
            <a:pPr indent="0" marL="0">
              <a:buNone/>
            </a:pPr>
            <a:r>
              <a:rPr lang="en-US" sz="850" dirty="0">
                <a:solidFill>
                  <a:srgbClr val="F0F4F8"/>
                </a:solidFill>
                <a:latin typeface="Calibri" pitchFamily="34" charset="0"/>
                <a:ea typeface="Calibri" pitchFamily="34" charset="-122"/>
                <a:cs typeface="Calibri" pitchFamily="34" charset="-120"/>
              </a:rPr>
              <a:t>#6  Denial of Service</a:t>
            </a:r>
            <a:endParaRPr lang="en-US" sz="850" dirty="0"/>
          </a:p>
        </p:txBody>
      </p:sp>
      <p:sp>
        <p:nvSpPr>
          <p:cNvPr id="42" name="Text 40"/>
          <p:cNvSpPr/>
          <p:nvPr/>
        </p:nvSpPr>
        <p:spPr>
          <a:xfrm>
            <a:off x="2514600" y="3072384"/>
            <a:ext cx="1188720" cy="402336"/>
          </a:xfrm>
          <a:prstGeom prst="rect">
            <a:avLst/>
          </a:prstGeom>
          <a:noFill/>
          <a:ln/>
        </p:spPr>
        <p:txBody>
          <a:bodyPr wrap="square" rtlCol="0" anchor="ctr"/>
          <a:lstStyle/>
          <a:p>
            <a:pPr indent="0" marL="0">
              <a:buNone/>
            </a:pPr>
            <a:r>
              <a:rPr lang="en-US" sz="850" b="1" dirty="0">
                <a:solidFill>
                  <a:srgbClr val="E84855"/>
                </a:solidFill>
                <a:latin typeface="Calibri" pitchFamily="34" charset="0"/>
                <a:ea typeface="Calibri" pitchFamily="34" charset="-122"/>
                <a:cs typeface="Calibri" pitchFamily="34" charset="-120"/>
              </a:rPr>
              <a:t>Misuse</a:t>
            </a:r>
            <a:endParaRPr lang="en-US" sz="850" dirty="0"/>
          </a:p>
        </p:txBody>
      </p:sp>
      <p:sp>
        <p:nvSpPr>
          <p:cNvPr id="43" name="Text 41"/>
          <p:cNvSpPr/>
          <p:nvPr/>
        </p:nvSpPr>
        <p:spPr>
          <a:xfrm>
            <a:off x="3749040" y="3072384"/>
            <a:ext cx="2377440" cy="402336"/>
          </a:xfrm>
          <a:prstGeom prst="rect">
            <a:avLst/>
          </a:prstGeom>
          <a:noFill/>
          <a:ln/>
        </p:spPr>
        <p:txBody>
          <a:bodyPr wrap="square" rtlCol="0" anchor="ctr"/>
          <a:lstStyle/>
          <a:p>
            <a:pPr indent="0" marL="0">
              <a:buNone/>
            </a:pPr>
            <a:r>
              <a:rPr lang="en-US" sz="850" dirty="0">
                <a:solidFill>
                  <a:srgbClr val="8FA8BF"/>
                </a:solidFill>
                <a:latin typeface="Calibri" pitchFamily="34" charset="0"/>
                <a:ea typeface="Calibri" pitchFamily="34" charset="-122"/>
                <a:cs typeface="Calibri" pitchFamily="34" charset="-120"/>
              </a:rPr>
              <a:t>API Gateway / ORDER-BILLING</a:t>
            </a:r>
            <a:endParaRPr lang="en-US" sz="850" dirty="0"/>
          </a:p>
        </p:txBody>
      </p:sp>
      <p:sp>
        <p:nvSpPr>
          <p:cNvPr id="44" name="Text 42"/>
          <p:cNvSpPr/>
          <p:nvPr/>
        </p:nvSpPr>
        <p:spPr>
          <a:xfrm>
            <a:off x="6172200" y="3072384"/>
            <a:ext cx="2743200" cy="402336"/>
          </a:xfrm>
          <a:prstGeom prst="rect">
            <a:avLst/>
          </a:prstGeom>
          <a:noFill/>
          <a:ln/>
        </p:spPr>
        <p:txBody>
          <a:bodyPr wrap="square" rtlCol="0" anchor="ctr"/>
          <a:lstStyle/>
          <a:p>
            <a:pPr indent="0" marL="0">
              <a:buNone/>
            </a:pPr>
            <a:r>
              <a:rPr lang="en-US" sz="850" dirty="0">
                <a:solidFill>
                  <a:srgbClr val="3BB273"/>
                </a:solidFill>
                <a:latin typeface="Calibri" pitchFamily="34" charset="0"/>
                <a:ea typeface="Calibri" pitchFamily="34" charset="-122"/>
                <a:cs typeface="Calibri" pitchFamily="34" charset="-120"/>
              </a:rPr>
              <a:t>Rate limiting + reserved concurrency</a:t>
            </a:r>
            <a:endParaRPr lang="en-US" sz="850" dirty="0"/>
          </a:p>
        </p:txBody>
      </p:sp>
      <p:sp>
        <p:nvSpPr>
          <p:cNvPr id="45" name="Shape 43"/>
          <p:cNvSpPr/>
          <p:nvPr/>
        </p:nvSpPr>
        <p:spPr>
          <a:xfrm>
            <a:off x="228600" y="3511296"/>
            <a:ext cx="8686800" cy="402336"/>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46" name="Shape 44"/>
          <p:cNvSpPr/>
          <p:nvPr/>
        </p:nvSpPr>
        <p:spPr>
          <a:xfrm>
            <a:off x="228600" y="3511296"/>
            <a:ext cx="54864" cy="402336"/>
          </a:xfrm>
          <a:prstGeom prst="rect">
            <a:avLst/>
          </a:prstGeom>
          <a:solidFill>
            <a:srgbClr val="F4B942"/>
          </a:solidFill>
          <a:ln w="12700">
            <a:solidFill>
              <a:srgbClr val="F4B942"/>
            </a:solidFill>
            <a:prstDash val="solid"/>
          </a:ln>
        </p:spPr>
      </p:sp>
      <p:sp>
        <p:nvSpPr>
          <p:cNvPr id="47" name="Text 45"/>
          <p:cNvSpPr/>
          <p:nvPr/>
        </p:nvSpPr>
        <p:spPr>
          <a:xfrm>
            <a:off x="329184" y="3511296"/>
            <a:ext cx="2139696" cy="402336"/>
          </a:xfrm>
          <a:prstGeom prst="rect">
            <a:avLst/>
          </a:prstGeom>
          <a:noFill/>
          <a:ln/>
        </p:spPr>
        <p:txBody>
          <a:bodyPr wrap="square" rtlCol="0" anchor="ctr"/>
          <a:lstStyle/>
          <a:p>
            <a:pPr indent="0" marL="0">
              <a:buNone/>
            </a:pPr>
            <a:r>
              <a:rPr lang="en-US" sz="850" dirty="0">
                <a:solidFill>
                  <a:srgbClr val="F0F4F8"/>
                </a:solidFill>
                <a:latin typeface="Calibri" pitchFamily="34" charset="0"/>
                <a:ea typeface="Calibri" pitchFamily="34" charset="-122"/>
                <a:cs typeface="Calibri" pitchFamily="34" charset="-120"/>
              </a:rPr>
              <a:t>#7  Over-Privileged Function</a:t>
            </a:r>
            <a:endParaRPr lang="en-US" sz="850" dirty="0"/>
          </a:p>
        </p:txBody>
      </p:sp>
      <p:sp>
        <p:nvSpPr>
          <p:cNvPr id="48" name="Text 46"/>
          <p:cNvSpPr/>
          <p:nvPr/>
        </p:nvSpPr>
        <p:spPr>
          <a:xfrm>
            <a:off x="2514600" y="3511296"/>
            <a:ext cx="1188720" cy="402336"/>
          </a:xfrm>
          <a:prstGeom prst="rect">
            <a:avLst/>
          </a:prstGeom>
          <a:noFill/>
          <a:ln/>
        </p:spPr>
        <p:txBody>
          <a:bodyPr wrap="square" rtlCol="0" anchor="ctr"/>
          <a:lstStyle/>
          <a:p>
            <a:pPr indent="0" marL="0">
              <a:buNone/>
            </a:pPr>
            <a:r>
              <a:rPr lang="en-US" sz="850" b="1" dirty="0">
                <a:solidFill>
                  <a:srgbClr val="F4B942"/>
                </a:solidFill>
                <a:latin typeface="Calibri" pitchFamily="34" charset="0"/>
                <a:ea typeface="Calibri" pitchFamily="34" charset="-122"/>
                <a:cs typeface="Calibri" pitchFamily="34" charset="-120"/>
              </a:rPr>
              <a:t>Misconfig</a:t>
            </a:r>
            <a:endParaRPr lang="en-US" sz="850" dirty="0"/>
          </a:p>
        </p:txBody>
      </p:sp>
      <p:sp>
        <p:nvSpPr>
          <p:cNvPr id="49" name="Text 47"/>
          <p:cNvSpPr/>
          <p:nvPr/>
        </p:nvSpPr>
        <p:spPr>
          <a:xfrm>
            <a:off x="3749040" y="3511296"/>
            <a:ext cx="2377440" cy="402336"/>
          </a:xfrm>
          <a:prstGeom prst="rect">
            <a:avLst/>
          </a:prstGeom>
          <a:noFill/>
          <a:ln/>
        </p:spPr>
        <p:txBody>
          <a:bodyPr wrap="square" rtlCol="0" anchor="ctr"/>
          <a:lstStyle/>
          <a:p>
            <a:pPr indent="0" marL="0">
              <a:buNone/>
            </a:pPr>
            <a:r>
              <a:rPr lang="en-US" sz="850" dirty="0">
                <a:solidFill>
                  <a:srgbClr val="8FA8BF"/>
                </a:solidFill>
                <a:latin typeface="Calibri" pitchFamily="34" charset="0"/>
                <a:ea typeface="Calibri" pitchFamily="34" charset="-122"/>
                <a:cs typeface="Calibri" pitchFamily="34" charset="-120"/>
              </a:rPr>
              <a:t>SEND-RECEIPT-EMAIL IAM Role</a:t>
            </a:r>
            <a:endParaRPr lang="en-US" sz="850" dirty="0"/>
          </a:p>
        </p:txBody>
      </p:sp>
      <p:sp>
        <p:nvSpPr>
          <p:cNvPr id="50" name="Text 48"/>
          <p:cNvSpPr/>
          <p:nvPr/>
        </p:nvSpPr>
        <p:spPr>
          <a:xfrm>
            <a:off x="6172200" y="3511296"/>
            <a:ext cx="2743200" cy="402336"/>
          </a:xfrm>
          <a:prstGeom prst="rect">
            <a:avLst/>
          </a:prstGeom>
          <a:noFill/>
          <a:ln/>
        </p:spPr>
        <p:txBody>
          <a:bodyPr wrap="square" rtlCol="0" anchor="ctr"/>
          <a:lstStyle/>
          <a:p>
            <a:pPr indent="0" marL="0">
              <a:buNone/>
            </a:pPr>
            <a:r>
              <a:rPr lang="en-US" sz="850" dirty="0">
                <a:solidFill>
                  <a:srgbClr val="3BB273"/>
                </a:solidFill>
                <a:latin typeface="Calibri" pitchFamily="34" charset="0"/>
                <a:ea typeface="Calibri" pitchFamily="34" charset="-122"/>
                <a:cs typeface="Calibri" pitchFamily="34" charset="-120"/>
              </a:rPr>
              <a:t>Remove DynamoDB policy, scope S3</a:t>
            </a:r>
            <a:endParaRPr lang="en-US" sz="850" dirty="0"/>
          </a:p>
        </p:txBody>
      </p:sp>
      <p:sp>
        <p:nvSpPr>
          <p:cNvPr id="51" name="Shape 49"/>
          <p:cNvSpPr/>
          <p:nvPr/>
        </p:nvSpPr>
        <p:spPr>
          <a:xfrm>
            <a:off x="228600" y="3950208"/>
            <a:ext cx="8686800" cy="402336"/>
          </a:xfrm>
          <a:prstGeom prst="rect">
            <a:avLst/>
          </a:prstGeom>
          <a:solidFill>
            <a:srgbClr val="1B2A3B"/>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52" name="Shape 50"/>
          <p:cNvSpPr/>
          <p:nvPr/>
        </p:nvSpPr>
        <p:spPr>
          <a:xfrm>
            <a:off x="228600" y="3950208"/>
            <a:ext cx="54864" cy="402336"/>
          </a:xfrm>
          <a:prstGeom prst="rect">
            <a:avLst/>
          </a:prstGeom>
          <a:solidFill>
            <a:srgbClr val="E84855"/>
          </a:solidFill>
          <a:ln w="12700">
            <a:solidFill>
              <a:srgbClr val="E84855"/>
            </a:solidFill>
            <a:prstDash val="solid"/>
          </a:ln>
        </p:spPr>
      </p:sp>
      <p:sp>
        <p:nvSpPr>
          <p:cNvPr id="53" name="Text 51"/>
          <p:cNvSpPr/>
          <p:nvPr/>
        </p:nvSpPr>
        <p:spPr>
          <a:xfrm>
            <a:off x="329184" y="3950208"/>
            <a:ext cx="2139696" cy="402336"/>
          </a:xfrm>
          <a:prstGeom prst="rect">
            <a:avLst/>
          </a:prstGeom>
          <a:noFill/>
          <a:ln/>
        </p:spPr>
        <p:txBody>
          <a:bodyPr wrap="square" rtlCol="0" anchor="ctr"/>
          <a:lstStyle/>
          <a:p>
            <a:pPr indent="0" marL="0">
              <a:buNone/>
            </a:pPr>
            <a:r>
              <a:rPr lang="en-US" sz="850" dirty="0">
                <a:solidFill>
                  <a:srgbClr val="F0F4F8"/>
                </a:solidFill>
                <a:latin typeface="Calibri" pitchFamily="34" charset="0"/>
                <a:ea typeface="Calibri" pitchFamily="34" charset="-122"/>
                <a:cs typeface="Calibri" pitchFamily="34" charset="-120"/>
              </a:rPr>
              <a:t>#8  Logic Vulnerability</a:t>
            </a:r>
            <a:endParaRPr lang="en-US" sz="850" dirty="0"/>
          </a:p>
        </p:txBody>
      </p:sp>
      <p:sp>
        <p:nvSpPr>
          <p:cNvPr id="54" name="Text 52"/>
          <p:cNvSpPr/>
          <p:nvPr/>
        </p:nvSpPr>
        <p:spPr>
          <a:xfrm>
            <a:off x="2514600" y="3950208"/>
            <a:ext cx="1188720" cy="402336"/>
          </a:xfrm>
          <a:prstGeom prst="rect">
            <a:avLst/>
          </a:prstGeom>
          <a:noFill/>
          <a:ln/>
        </p:spPr>
        <p:txBody>
          <a:bodyPr wrap="square" rtlCol="0" anchor="ctr"/>
          <a:lstStyle/>
          <a:p>
            <a:pPr indent="0" marL="0">
              <a:buNone/>
            </a:pPr>
            <a:r>
              <a:rPr lang="en-US" sz="850" b="1" dirty="0">
                <a:solidFill>
                  <a:srgbClr val="E84855"/>
                </a:solidFill>
                <a:latin typeface="Calibri" pitchFamily="34" charset="0"/>
                <a:ea typeface="Calibri" pitchFamily="34" charset="-122"/>
                <a:cs typeface="Calibri" pitchFamily="34" charset="-120"/>
              </a:rPr>
              <a:t>Misuse</a:t>
            </a:r>
            <a:endParaRPr lang="en-US" sz="850" dirty="0"/>
          </a:p>
        </p:txBody>
      </p:sp>
      <p:sp>
        <p:nvSpPr>
          <p:cNvPr id="55" name="Text 53"/>
          <p:cNvSpPr/>
          <p:nvPr/>
        </p:nvSpPr>
        <p:spPr>
          <a:xfrm>
            <a:off x="3749040" y="3950208"/>
            <a:ext cx="2377440" cy="402336"/>
          </a:xfrm>
          <a:prstGeom prst="rect">
            <a:avLst/>
          </a:prstGeom>
          <a:noFill/>
          <a:ln/>
        </p:spPr>
        <p:txBody>
          <a:bodyPr wrap="square" rtlCol="0" anchor="ctr"/>
          <a:lstStyle/>
          <a:p>
            <a:pPr indent="0" marL="0">
              <a:buNone/>
            </a:pPr>
            <a:r>
              <a:rPr lang="en-US" sz="850" dirty="0">
                <a:solidFill>
                  <a:srgbClr val="8FA8BF"/>
                </a:solidFill>
                <a:latin typeface="Calibri" pitchFamily="34" charset="0"/>
                <a:ea typeface="Calibri" pitchFamily="34" charset="-122"/>
                <a:cs typeface="Calibri" pitchFamily="34" charset="-120"/>
              </a:rPr>
              <a:t>ORDER-BILLING + ORDER-UPDATE</a:t>
            </a:r>
            <a:endParaRPr lang="en-US" sz="850" dirty="0"/>
          </a:p>
        </p:txBody>
      </p:sp>
      <p:sp>
        <p:nvSpPr>
          <p:cNvPr id="56" name="Text 54"/>
          <p:cNvSpPr/>
          <p:nvPr/>
        </p:nvSpPr>
        <p:spPr>
          <a:xfrm>
            <a:off x="6172200" y="3950208"/>
            <a:ext cx="2743200" cy="402336"/>
          </a:xfrm>
          <a:prstGeom prst="rect">
            <a:avLst/>
          </a:prstGeom>
          <a:noFill/>
          <a:ln/>
        </p:spPr>
        <p:txBody>
          <a:bodyPr wrap="square" rtlCol="0" anchor="ctr"/>
          <a:lstStyle/>
          <a:p>
            <a:pPr indent="0" marL="0">
              <a:buNone/>
            </a:pPr>
            <a:r>
              <a:rPr lang="en-US" sz="850" dirty="0">
                <a:solidFill>
                  <a:srgbClr val="3BB273"/>
                </a:solidFill>
                <a:latin typeface="Calibri" pitchFamily="34" charset="0"/>
                <a:ea typeface="Calibri" pitchFamily="34" charset="-122"/>
                <a:cs typeface="Calibri" pitchFamily="34" charset="-120"/>
              </a:rPr>
              <a:t>Conditional writes + status locking</a:t>
            </a:r>
            <a:endParaRPr lang="en-US" sz="850" dirty="0"/>
          </a:p>
        </p:txBody>
      </p:sp>
      <p:sp>
        <p:nvSpPr>
          <p:cNvPr id="57" name="Shape 55"/>
          <p:cNvSpPr/>
          <p:nvPr/>
        </p:nvSpPr>
        <p:spPr>
          <a:xfrm>
            <a:off x="228600" y="4389120"/>
            <a:ext cx="8686800" cy="402336"/>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58" name="Shape 56"/>
          <p:cNvSpPr/>
          <p:nvPr/>
        </p:nvSpPr>
        <p:spPr>
          <a:xfrm>
            <a:off x="228600" y="4389120"/>
            <a:ext cx="54864" cy="402336"/>
          </a:xfrm>
          <a:prstGeom prst="rect">
            <a:avLst/>
          </a:prstGeom>
          <a:solidFill>
            <a:srgbClr val="F4B942"/>
          </a:solidFill>
          <a:ln w="12700">
            <a:solidFill>
              <a:srgbClr val="F4B942"/>
            </a:solidFill>
            <a:prstDash val="solid"/>
          </a:ln>
        </p:spPr>
      </p:sp>
      <p:sp>
        <p:nvSpPr>
          <p:cNvPr id="59" name="Text 57"/>
          <p:cNvSpPr/>
          <p:nvPr/>
        </p:nvSpPr>
        <p:spPr>
          <a:xfrm>
            <a:off x="329184" y="4389120"/>
            <a:ext cx="2139696" cy="402336"/>
          </a:xfrm>
          <a:prstGeom prst="rect">
            <a:avLst/>
          </a:prstGeom>
          <a:noFill/>
          <a:ln/>
        </p:spPr>
        <p:txBody>
          <a:bodyPr wrap="square" rtlCol="0" anchor="ctr"/>
          <a:lstStyle/>
          <a:p>
            <a:pPr indent="0" marL="0">
              <a:buNone/>
            </a:pPr>
            <a:r>
              <a:rPr lang="en-US" sz="850" dirty="0">
                <a:solidFill>
                  <a:srgbClr val="F0F4F8"/>
                </a:solidFill>
                <a:latin typeface="Calibri" pitchFamily="34" charset="0"/>
                <a:ea typeface="Calibri" pitchFamily="34" charset="-122"/>
                <a:cs typeface="Calibri" pitchFamily="34" charset="-120"/>
              </a:rPr>
              <a:t>#10  Unhandled Exceptions</a:t>
            </a:r>
            <a:endParaRPr lang="en-US" sz="850" dirty="0"/>
          </a:p>
        </p:txBody>
      </p:sp>
      <p:sp>
        <p:nvSpPr>
          <p:cNvPr id="60" name="Text 58"/>
          <p:cNvSpPr/>
          <p:nvPr/>
        </p:nvSpPr>
        <p:spPr>
          <a:xfrm>
            <a:off x="2514600" y="4389120"/>
            <a:ext cx="1188720" cy="402336"/>
          </a:xfrm>
          <a:prstGeom prst="rect">
            <a:avLst/>
          </a:prstGeom>
          <a:noFill/>
          <a:ln/>
        </p:spPr>
        <p:txBody>
          <a:bodyPr wrap="square" rtlCol="0" anchor="ctr"/>
          <a:lstStyle/>
          <a:p>
            <a:pPr indent="0" marL="0">
              <a:buNone/>
            </a:pPr>
            <a:r>
              <a:rPr lang="en-US" sz="850" b="1" dirty="0">
                <a:solidFill>
                  <a:srgbClr val="F4B942"/>
                </a:solidFill>
                <a:latin typeface="Calibri" pitchFamily="34" charset="0"/>
                <a:ea typeface="Calibri" pitchFamily="34" charset="-122"/>
                <a:cs typeface="Calibri" pitchFamily="34" charset="-120"/>
              </a:rPr>
              <a:t>Misconfig</a:t>
            </a:r>
            <a:endParaRPr lang="en-US" sz="850" dirty="0"/>
          </a:p>
        </p:txBody>
      </p:sp>
      <p:sp>
        <p:nvSpPr>
          <p:cNvPr id="61" name="Text 59"/>
          <p:cNvSpPr/>
          <p:nvPr/>
        </p:nvSpPr>
        <p:spPr>
          <a:xfrm>
            <a:off x="3749040" y="4389120"/>
            <a:ext cx="2377440" cy="402336"/>
          </a:xfrm>
          <a:prstGeom prst="rect">
            <a:avLst/>
          </a:prstGeom>
          <a:noFill/>
          <a:ln/>
        </p:spPr>
        <p:txBody>
          <a:bodyPr wrap="square" rtlCol="0" anchor="ctr"/>
          <a:lstStyle/>
          <a:p>
            <a:pPr indent="0" marL="0">
              <a:buNone/>
            </a:pPr>
            <a:r>
              <a:rPr lang="en-US" sz="850" dirty="0">
                <a:solidFill>
                  <a:srgbClr val="8FA8BF"/>
                </a:solidFill>
                <a:latin typeface="Calibri" pitchFamily="34" charset="0"/>
                <a:ea typeface="Calibri" pitchFamily="34" charset="-122"/>
                <a:cs typeface="Calibri" pitchFamily="34" charset="-120"/>
              </a:rPr>
              <a:t>ORDER-GET / ORDER-BILLING</a:t>
            </a:r>
            <a:endParaRPr lang="en-US" sz="850" dirty="0"/>
          </a:p>
        </p:txBody>
      </p:sp>
      <p:sp>
        <p:nvSpPr>
          <p:cNvPr id="62" name="Text 60"/>
          <p:cNvSpPr/>
          <p:nvPr/>
        </p:nvSpPr>
        <p:spPr>
          <a:xfrm>
            <a:off x="6172200" y="4389120"/>
            <a:ext cx="2743200" cy="402336"/>
          </a:xfrm>
          <a:prstGeom prst="rect">
            <a:avLst/>
          </a:prstGeom>
          <a:noFill/>
          <a:ln/>
        </p:spPr>
        <p:txBody>
          <a:bodyPr wrap="square" rtlCol="0" anchor="ctr"/>
          <a:lstStyle/>
          <a:p>
            <a:pPr indent="0" marL="0">
              <a:buNone/>
            </a:pPr>
            <a:r>
              <a:rPr lang="en-US" sz="850" dirty="0">
                <a:solidFill>
                  <a:srgbClr val="3BB273"/>
                </a:solidFill>
                <a:latin typeface="Calibri" pitchFamily="34" charset="0"/>
                <a:ea typeface="Calibri" pitchFamily="34" charset="-122"/>
                <a:cs typeface="Calibri" pitchFamily="34" charset="-120"/>
              </a:rPr>
              <a:t>Global try/catch + generic messages</a:t>
            </a:r>
            <a:endParaRPr lang="en-US" sz="850" dirty="0"/>
          </a:p>
        </p:txBody>
      </p:sp>
      <p:sp>
        <p:nvSpPr>
          <p:cNvPr id="63" name="Shape 61"/>
          <p:cNvSpPr/>
          <p:nvPr/>
        </p:nvSpPr>
        <p:spPr>
          <a:xfrm>
            <a:off x="0" y="5056632"/>
            <a:ext cx="9144000" cy="91440"/>
          </a:xfrm>
          <a:prstGeom prst="rect">
            <a:avLst/>
          </a:prstGeom>
          <a:solidFill>
            <a:srgbClr val="00C2CB"/>
          </a:solidFill>
          <a:ln w="12700">
            <a:solidFill>
              <a:srgbClr val="00C2CB"/>
            </a:solidFill>
            <a:prstDash val="solid"/>
          </a:ln>
        </p:spPr>
      </p:sp>
      <p:sp>
        <p:nvSpPr>
          <p:cNvPr id="64" name="Text 62"/>
          <p:cNvSpPr/>
          <p:nvPr/>
        </p:nvSpPr>
        <p:spPr>
          <a:xfrm>
            <a:off x="0" y="4855464"/>
            <a:ext cx="9144000" cy="219456"/>
          </a:xfrm>
          <a:prstGeom prst="rect">
            <a:avLst/>
          </a:prstGeom>
          <a:noFill/>
          <a:ln/>
        </p:spPr>
        <p:txBody>
          <a:bodyPr wrap="square" rtlCol="0" anchor="ctr"/>
          <a:lstStyle/>
          <a:p>
            <a:pPr algn="ctr" indent="0" marL="0">
              <a:buNone/>
            </a:pPr>
            <a:r>
              <a:rPr lang="en-US" sz="800" dirty="0">
                <a:solidFill>
                  <a:srgbClr val="8FA8BF"/>
                </a:solidFill>
                <a:latin typeface="Calibri" pitchFamily="34" charset="0"/>
                <a:ea typeface="Calibri" pitchFamily="34" charset="-122"/>
                <a:cs typeface="Calibri" pitchFamily="34" charset="-120"/>
              </a:rPr>
              <a:t>ICS-344 · KFUPM · Almatrook &amp; Almuhanna</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2CB"/>
          </a:solidFill>
          <a:ln w="12700">
            <a:solidFill>
              <a:srgbClr val="00C2CB"/>
            </a:solidFill>
            <a:prstDash val="solid"/>
          </a:ln>
        </p:spPr>
      </p:sp>
      <p:sp>
        <p:nvSpPr>
          <p:cNvPr id="3" name="Text 1"/>
          <p:cNvSpPr/>
          <p:nvPr/>
        </p:nvSpPr>
        <p:spPr>
          <a:xfrm>
            <a:off x="365760" y="128016"/>
            <a:ext cx="8412480" cy="457200"/>
          </a:xfrm>
          <a:prstGeom prst="rect">
            <a:avLst/>
          </a:prstGeom>
          <a:noFill/>
          <a:ln/>
        </p:spPr>
        <p:txBody>
          <a:bodyPr wrap="square" rtlCol="0" anchor="ctr"/>
          <a:lstStyle/>
          <a:p>
            <a:pPr indent="0" marL="0">
              <a:buNone/>
            </a:pPr>
            <a:r>
              <a:rPr lang="en-US" sz="2400" b="1" dirty="0">
                <a:solidFill>
                  <a:srgbClr val="F0F4F8"/>
                </a:solidFill>
                <a:latin typeface="Arial Black" pitchFamily="34" charset="0"/>
                <a:ea typeface="Arial Black" pitchFamily="34" charset="-122"/>
                <a:cs typeface="Arial Black" pitchFamily="34" charset="-120"/>
              </a:rPr>
              <a:t>Key Takeaways &amp; Lessons Learned</a:t>
            </a:r>
            <a:endParaRPr lang="en-US" sz="2400" dirty="0"/>
          </a:p>
        </p:txBody>
      </p:sp>
      <p:sp>
        <p:nvSpPr>
          <p:cNvPr id="4" name="Shape 2"/>
          <p:cNvSpPr/>
          <p:nvPr/>
        </p:nvSpPr>
        <p:spPr>
          <a:xfrm>
            <a:off x="228600" y="749808"/>
            <a:ext cx="2715768" cy="120700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5" name="Shape 3"/>
          <p:cNvSpPr/>
          <p:nvPr/>
        </p:nvSpPr>
        <p:spPr>
          <a:xfrm>
            <a:off x="228600" y="749808"/>
            <a:ext cx="2715768" cy="64008"/>
          </a:xfrm>
          <a:prstGeom prst="rect">
            <a:avLst/>
          </a:prstGeom>
          <a:solidFill>
            <a:srgbClr val="00C2CB"/>
          </a:solidFill>
          <a:ln w="12700">
            <a:solidFill>
              <a:srgbClr val="00C2CB"/>
            </a:solidFill>
            <a:prstDash val="solid"/>
          </a:ln>
        </p:spPr>
      </p:sp>
      <p:sp>
        <p:nvSpPr>
          <p:cNvPr id="6" name="Text 4"/>
          <p:cNvSpPr/>
          <p:nvPr/>
        </p:nvSpPr>
        <p:spPr>
          <a:xfrm>
            <a:off x="338328" y="841248"/>
            <a:ext cx="2496312" cy="292608"/>
          </a:xfrm>
          <a:prstGeom prst="rect">
            <a:avLst/>
          </a:prstGeom>
          <a:noFill/>
          <a:ln/>
        </p:spPr>
        <p:txBody>
          <a:bodyPr wrap="square" rtlCol="0" anchor="ctr"/>
          <a:lstStyle/>
          <a:p>
            <a:pPr indent="0" marL="0">
              <a:buNone/>
            </a:pPr>
            <a:r>
              <a:rPr lang="en-US" sz="1100" b="1" dirty="0">
                <a:solidFill>
                  <a:srgbClr val="00C2CB"/>
                </a:solidFill>
                <a:latin typeface="Calibri" pitchFamily="34" charset="0"/>
                <a:ea typeface="Calibri" pitchFamily="34" charset="-122"/>
                <a:cs typeface="Calibri" pitchFamily="34" charset="-120"/>
              </a:rPr>
              <a:t>⚡  Dependency Risk</a:t>
            </a:r>
            <a:endParaRPr lang="en-US" sz="1100" dirty="0"/>
          </a:p>
        </p:txBody>
      </p:sp>
      <p:sp>
        <p:nvSpPr>
          <p:cNvPr id="7" name="Text 5"/>
          <p:cNvSpPr/>
          <p:nvPr/>
        </p:nvSpPr>
        <p:spPr>
          <a:xfrm>
            <a:off x="338328" y="1133856"/>
            <a:ext cx="2496312" cy="777240"/>
          </a:xfrm>
          <a:prstGeom prst="rect">
            <a:avLst/>
          </a:prstGeom>
          <a:noFill/>
          <a:ln/>
        </p:spPr>
        <p:txBody>
          <a:bodyPr wrap="square" rtlCol="0" anchor="ctr"/>
          <a:lstStyle/>
          <a:p>
            <a:pPr indent="0" marL="0">
              <a:buNone/>
            </a:pPr>
            <a:r>
              <a:rPr lang="en-US" sz="950" dirty="0">
                <a:solidFill>
                  <a:srgbClr val="F0F4F8"/>
                </a:solidFill>
                <a:latin typeface="Calibri" pitchFamily="34" charset="0"/>
                <a:ea typeface="Calibri" pitchFamily="34" charset="-122"/>
                <a:cs typeface="Calibri" pitchFamily="34" charset="-120"/>
              </a:rPr>
              <a:t>A single vulnerable library (node-serialize) converts a JSON request into full RCE. Audit and pin all dependencies — every import is an attack surface.</a:t>
            </a:r>
            <a:endParaRPr lang="en-US" sz="950" dirty="0"/>
          </a:p>
        </p:txBody>
      </p:sp>
      <p:sp>
        <p:nvSpPr>
          <p:cNvPr id="8" name="Shape 6"/>
          <p:cNvSpPr/>
          <p:nvPr/>
        </p:nvSpPr>
        <p:spPr>
          <a:xfrm>
            <a:off x="3127248" y="749808"/>
            <a:ext cx="2715768" cy="120700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9" name="Shape 7"/>
          <p:cNvSpPr/>
          <p:nvPr/>
        </p:nvSpPr>
        <p:spPr>
          <a:xfrm>
            <a:off x="3127248" y="749808"/>
            <a:ext cx="2715768" cy="64008"/>
          </a:xfrm>
          <a:prstGeom prst="rect">
            <a:avLst/>
          </a:prstGeom>
          <a:solidFill>
            <a:srgbClr val="00C2CB"/>
          </a:solidFill>
          <a:ln w="12700">
            <a:solidFill>
              <a:srgbClr val="00C2CB"/>
            </a:solidFill>
            <a:prstDash val="solid"/>
          </a:ln>
        </p:spPr>
      </p:sp>
      <p:sp>
        <p:nvSpPr>
          <p:cNvPr id="10" name="Text 8"/>
          <p:cNvSpPr/>
          <p:nvPr/>
        </p:nvSpPr>
        <p:spPr>
          <a:xfrm>
            <a:off x="3236976" y="841248"/>
            <a:ext cx="2496312" cy="292608"/>
          </a:xfrm>
          <a:prstGeom prst="rect">
            <a:avLst/>
          </a:prstGeom>
          <a:noFill/>
          <a:ln/>
        </p:spPr>
        <p:txBody>
          <a:bodyPr wrap="square" rtlCol="0" anchor="ctr"/>
          <a:lstStyle/>
          <a:p>
            <a:pPr indent="0" marL="0">
              <a:buNone/>
            </a:pPr>
            <a:r>
              <a:rPr lang="en-US" sz="1100" b="1" dirty="0">
                <a:solidFill>
                  <a:srgbClr val="00C2CB"/>
                </a:solidFill>
                <a:latin typeface="Calibri" pitchFamily="34" charset="0"/>
                <a:ea typeface="Calibri" pitchFamily="34" charset="-122"/>
                <a:cs typeface="Calibri" pitchFamily="34" charset="-120"/>
              </a:rPr>
              <a:t>🔑  Authentication ≠ Authorization</a:t>
            </a:r>
            <a:endParaRPr lang="en-US" sz="1100" dirty="0"/>
          </a:p>
        </p:txBody>
      </p:sp>
      <p:sp>
        <p:nvSpPr>
          <p:cNvPr id="11" name="Text 9"/>
          <p:cNvSpPr/>
          <p:nvPr/>
        </p:nvSpPr>
        <p:spPr>
          <a:xfrm>
            <a:off x="3236976" y="1133856"/>
            <a:ext cx="2496312" cy="777240"/>
          </a:xfrm>
          <a:prstGeom prst="rect">
            <a:avLst/>
          </a:prstGeom>
          <a:noFill/>
          <a:ln/>
        </p:spPr>
        <p:txBody>
          <a:bodyPr wrap="square" rtlCol="0" anchor="ctr"/>
          <a:lstStyle/>
          <a:p>
            <a:pPr indent="0" marL="0">
              <a:buNone/>
            </a:pPr>
            <a:r>
              <a:rPr lang="en-US" sz="950" dirty="0">
                <a:solidFill>
                  <a:srgbClr val="F0F4F8"/>
                </a:solidFill>
                <a:latin typeface="Calibri" pitchFamily="34" charset="0"/>
                <a:ea typeface="Calibri" pitchFamily="34" charset="-122"/>
                <a:cs typeface="Calibri" pitchFamily="34" charset="-120"/>
              </a:rPr>
              <a:t>Verifying identity (JWT present) is not enough. Every sensitive action needs explicit authorization checks — role, ownership, and state validation.</a:t>
            </a:r>
            <a:endParaRPr lang="en-US" sz="950" dirty="0"/>
          </a:p>
        </p:txBody>
      </p:sp>
      <p:sp>
        <p:nvSpPr>
          <p:cNvPr id="12" name="Shape 10"/>
          <p:cNvSpPr/>
          <p:nvPr/>
        </p:nvSpPr>
        <p:spPr>
          <a:xfrm>
            <a:off x="6025896" y="749808"/>
            <a:ext cx="2715768" cy="120700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3" name="Shape 11"/>
          <p:cNvSpPr/>
          <p:nvPr/>
        </p:nvSpPr>
        <p:spPr>
          <a:xfrm>
            <a:off x="6025896" y="749808"/>
            <a:ext cx="2715768" cy="64008"/>
          </a:xfrm>
          <a:prstGeom prst="rect">
            <a:avLst/>
          </a:prstGeom>
          <a:solidFill>
            <a:srgbClr val="00C2CB"/>
          </a:solidFill>
          <a:ln w="12700">
            <a:solidFill>
              <a:srgbClr val="00C2CB"/>
            </a:solidFill>
            <a:prstDash val="solid"/>
          </a:ln>
        </p:spPr>
      </p:sp>
      <p:sp>
        <p:nvSpPr>
          <p:cNvPr id="14" name="Text 12"/>
          <p:cNvSpPr/>
          <p:nvPr/>
        </p:nvSpPr>
        <p:spPr>
          <a:xfrm>
            <a:off x="6135624" y="841248"/>
            <a:ext cx="2496312" cy="292608"/>
          </a:xfrm>
          <a:prstGeom prst="rect">
            <a:avLst/>
          </a:prstGeom>
          <a:noFill/>
          <a:ln/>
        </p:spPr>
        <p:txBody>
          <a:bodyPr wrap="square" rtlCol="0" anchor="ctr"/>
          <a:lstStyle/>
          <a:p>
            <a:pPr indent="0" marL="0">
              <a:buNone/>
            </a:pPr>
            <a:r>
              <a:rPr lang="en-US" sz="1100" b="1" dirty="0">
                <a:solidFill>
                  <a:srgbClr val="00C2CB"/>
                </a:solidFill>
                <a:latin typeface="Calibri" pitchFamily="34" charset="0"/>
                <a:ea typeface="Calibri" pitchFamily="34" charset="-122"/>
                <a:cs typeface="Calibri" pitchFamily="34" charset="-120"/>
              </a:rPr>
              <a:t>🛡️  Least Privilege is Non-Negotiable</a:t>
            </a:r>
            <a:endParaRPr lang="en-US" sz="1100" dirty="0"/>
          </a:p>
        </p:txBody>
      </p:sp>
      <p:sp>
        <p:nvSpPr>
          <p:cNvPr id="15" name="Text 13"/>
          <p:cNvSpPr/>
          <p:nvPr/>
        </p:nvSpPr>
        <p:spPr>
          <a:xfrm>
            <a:off x="6135624" y="1133856"/>
            <a:ext cx="2496312" cy="777240"/>
          </a:xfrm>
          <a:prstGeom prst="rect">
            <a:avLst/>
          </a:prstGeom>
          <a:noFill/>
          <a:ln/>
        </p:spPr>
        <p:txBody>
          <a:bodyPr wrap="square" rtlCol="0" anchor="ctr"/>
          <a:lstStyle/>
          <a:p>
            <a:pPr indent="0" marL="0">
              <a:buNone/>
            </a:pPr>
            <a:r>
              <a:rPr lang="en-US" sz="950" dirty="0">
                <a:solidFill>
                  <a:srgbClr val="F0F4F8"/>
                </a:solidFill>
                <a:latin typeface="Calibri" pitchFamily="34" charset="0"/>
                <a:ea typeface="Calibri" pitchFamily="34" charset="-122"/>
                <a:cs typeface="Calibri" pitchFamily="34" charset="-120"/>
              </a:rPr>
              <a:t>An over-privileged Lambda role means one compromised function = entire database breach. Always scope IAM to the minimum exact resources and actions.</a:t>
            </a:r>
            <a:endParaRPr lang="en-US" sz="950" dirty="0"/>
          </a:p>
        </p:txBody>
      </p:sp>
      <p:sp>
        <p:nvSpPr>
          <p:cNvPr id="16" name="Shape 14"/>
          <p:cNvSpPr/>
          <p:nvPr/>
        </p:nvSpPr>
        <p:spPr>
          <a:xfrm>
            <a:off x="228600" y="2066544"/>
            <a:ext cx="2715768" cy="120700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17" name="Shape 15"/>
          <p:cNvSpPr/>
          <p:nvPr/>
        </p:nvSpPr>
        <p:spPr>
          <a:xfrm>
            <a:off x="228600" y="2066544"/>
            <a:ext cx="2715768" cy="64008"/>
          </a:xfrm>
          <a:prstGeom prst="rect">
            <a:avLst/>
          </a:prstGeom>
          <a:solidFill>
            <a:srgbClr val="00C2CB"/>
          </a:solidFill>
          <a:ln w="12700">
            <a:solidFill>
              <a:srgbClr val="00C2CB"/>
            </a:solidFill>
            <a:prstDash val="solid"/>
          </a:ln>
        </p:spPr>
      </p:sp>
      <p:sp>
        <p:nvSpPr>
          <p:cNvPr id="18" name="Text 16"/>
          <p:cNvSpPr/>
          <p:nvPr/>
        </p:nvSpPr>
        <p:spPr>
          <a:xfrm>
            <a:off x="338328" y="2157984"/>
            <a:ext cx="2496312" cy="292608"/>
          </a:xfrm>
          <a:prstGeom prst="rect">
            <a:avLst/>
          </a:prstGeom>
          <a:noFill/>
          <a:ln/>
        </p:spPr>
        <p:txBody>
          <a:bodyPr wrap="square" rtlCol="0" anchor="ctr"/>
          <a:lstStyle/>
          <a:p>
            <a:pPr indent="0" marL="0">
              <a:buNone/>
            </a:pPr>
            <a:r>
              <a:rPr lang="en-US" sz="1100" b="1" dirty="0">
                <a:solidFill>
                  <a:srgbClr val="00C2CB"/>
                </a:solidFill>
                <a:latin typeface="Calibri" pitchFamily="34" charset="0"/>
                <a:ea typeface="Calibri" pitchFamily="34" charset="-122"/>
                <a:cs typeface="Calibri" pitchFamily="34" charset="-120"/>
              </a:rPr>
              <a:t>☁️  Cloud Config Matters</a:t>
            </a:r>
            <a:endParaRPr lang="en-US" sz="1100" dirty="0"/>
          </a:p>
        </p:txBody>
      </p:sp>
      <p:sp>
        <p:nvSpPr>
          <p:cNvPr id="19" name="Text 17"/>
          <p:cNvSpPr/>
          <p:nvPr/>
        </p:nvSpPr>
        <p:spPr>
          <a:xfrm>
            <a:off x="338328" y="2450592"/>
            <a:ext cx="2496312" cy="777240"/>
          </a:xfrm>
          <a:prstGeom prst="rect">
            <a:avLst/>
          </a:prstGeom>
          <a:noFill/>
          <a:ln/>
        </p:spPr>
        <p:txBody>
          <a:bodyPr wrap="square" rtlCol="0" anchor="ctr"/>
          <a:lstStyle/>
          <a:p>
            <a:pPr indent="0" marL="0">
              <a:buNone/>
            </a:pPr>
            <a:r>
              <a:rPr lang="en-US" sz="950" dirty="0">
                <a:solidFill>
                  <a:srgbClr val="F0F4F8"/>
                </a:solidFill>
                <a:latin typeface="Calibri" pitchFamily="34" charset="0"/>
                <a:ea typeface="Calibri" pitchFamily="34" charset="-122"/>
                <a:cs typeface="Calibri" pitchFamily="34" charset="-120"/>
              </a:rPr>
              <a:t>Misconfigured S3 buckets and missing rate limits are as dangerous as code bugs. Security is a shared responsibility across code, config, and IAM.</a:t>
            </a:r>
            <a:endParaRPr lang="en-US" sz="950" dirty="0"/>
          </a:p>
        </p:txBody>
      </p:sp>
      <p:sp>
        <p:nvSpPr>
          <p:cNvPr id="20" name="Shape 18"/>
          <p:cNvSpPr/>
          <p:nvPr/>
        </p:nvSpPr>
        <p:spPr>
          <a:xfrm>
            <a:off x="3127248" y="2066544"/>
            <a:ext cx="2715768" cy="120700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1" name="Shape 19"/>
          <p:cNvSpPr/>
          <p:nvPr/>
        </p:nvSpPr>
        <p:spPr>
          <a:xfrm>
            <a:off x="3127248" y="2066544"/>
            <a:ext cx="2715768" cy="64008"/>
          </a:xfrm>
          <a:prstGeom prst="rect">
            <a:avLst/>
          </a:prstGeom>
          <a:solidFill>
            <a:srgbClr val="00C2CB"/>
          </a:solidFill>
          <a:ln w="12700">
            <a:solidFill>
              <a:srgbClr val="00C2CB"/>
            </a:solidFill>
            <a:prstDash val="solid"/>
          </a:ln>
        </p:spPr>
      </p:sp>
      <p:sp>
        <p:nvSpPr>
          <p:cNvPr id="22" name="Text 20"/>
          <p:cNvSpPr/>
          <p:nvPr/>
        </p:nvSpPr>
        <p:spPr>
          <a:xfrm>
            <a:off x="3236976" y="2157984"/>
            <a:ext cx="2496312" cy="292608"/>
          </a:xfrm>
          <a:prstGeom prst="rect">
            <a:avLst/>
          </a:prstGeom>
          <a:noFill/>
          <a:ln/>
        </p:spPr>
        <p:txBody>
          <a:bodyPr wrap="square" rtlCol="0" anchor="ctr"/>
          <a:lstStyle/>
          <a:p>
            <a:pPr indent="0" marL="0">
              <a:buNone/>
            </a:pPr>
            <a:r>
              <a:rPr lang="en-US" sz="1100" b="1" dirty="0">
                <a:solidFill>
                  <a:srgbClr val="00C2CB"/>
                </a:solidFill>
                <a:latin typeface="Calibri" pitchFamily="34" charset="0"/>
                <a:ea typeface="Calibri" pitchFamily="34" charset="-122"/>
                <a:cs typeface="Calibri" pitchFamily="34" charset="-120"/>
              </a:rPr>
              <a:t>🔒  Defense in Depth</a:t>
            </a:r>
            <a:endParaRPr lang="en-US" sz="1100" dirty="0"/>
          </a:p>
        </p:txBody>
      </p:sp>
      <p:sp>
        <p:nvSpPr>
          <p:cNvPr id="23" name="Text 21"/>
          <p:cNvSpPr/>
          <p:nvPr/>
        </p:nvSpPr>
        <p:spPr>
          <a:xfrm>
            <a:off x="3236976" y="2450592"/>
            <a:ext cx="2496312" cy="777240"/>
          </a:xfrm>
          <a:prstGeom prst="rect">
            <a:avLst/>
          </a:prstGeom>
          <a:noFill/>
          <a:ln/>
        </p:spPr>
        <p:txBody>
          <a:bodyPr wrap="square" rtlCol="0" anchor="ctr"/>
          <a:lstStyle/>
          <a:p>
            <a:pPr indent="0" marL="0">
              <a:buNone/>
            </a:pPr>
            <a:r>
              <a:rPr lang="en-US" sz="950" dirty="0">
                <a:solidFill>
                  <a:srgbClr val="F0F4F8"/>
                </a:solidFill>
                <a:latin typeface="Calibri" pitchFamily="34" charset="0"/>
                <a:ea typeface="Calibri" pitchFamily="34" charset="-122"/>
                <a:cs typeface="Calibri" pitchFamily="34" charset="-120"/>
              </a:rPr>
              <a:t>Input validation, signature verification, error handling, and concurrency controls must all be applied — a single missing layer enables exploitation.</a:t>
            </a:r>
            <a:endParaRPr lang="en-US" sz="950" dirty="0"/>
          </a:p>
        </p:txBody>
      </p:sp>
      <p:sp>
        <p:nvSpPr>
          <p:cNvPr id="24" name="Shape 22"/>
          <p:cNvSpPr/>
          <p:nvPr/>
        </p:nvSpPr>
        <p:spPr>
          <a:xfrm>
            <a:off x="6025896" y="2066544"/>
            <a:ext cx="2715768" cy="1207008"/>
          </a:xfrm>
          <a:prstGeom prst="rect">
            <a:avLst/>
          </a:prstGeom>
          <a:solidFill>
            <a:srgbClr val="132233"/>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5" name="Shape 23"/>
          <p:cNvSpPr/>
          <p:nvPr/>
        </p:nvSpPr>
        <p:spPr>
          <a:xfrm>
            <a:off x="6025896" y="2066544"/>
            <a:ext cx="2715768" cy="64008"/>
          </a:xfrm>
          <a:prstGeom prst="rect">
            <a:avLst/>
          </a:prstGeom>
          <a:solidFill>
            <a:srgbClr val="00C2CB"/>
          </a:solidFill>
          <a:ln w="12700">
            <a:solidFill>
              <a:srgbClr val="00C2CB"/>
            </a:solidFill>
            <a:prstDash val="solid"/>
          </a:ln>
        </p:spPr>
      </p:sp>
      <p:sp>
        <p:nvSpPr>
          <p:cNvPr id="26" name="Text 24"/>
          <p:cNvSpPr/>
          <p:nvPr/>
        </p:nvSpPr>
        <p:spPr>
          <a:xfrm>
            <a:off x="6135624" y="2157984"/>
            <a:ext cx="2496312" cy="292608"/>
          </a:xfrm>
          <a:prstGeom prst="rect">
            <a:avLst/>
          </a:prstGeom>
          <a:noFill/>
          <a:ln/>
        </p:spPr>
        <p:txBody>
          <a:bodyPr wrap="square" rtlCol="0" anchor="ctr"/>
          <a:lstStyle/>
          <a:p>
            <a:pPr indent="0" marL="0">
              <a:buNone/>
            </a:pPr>
            <a:r>
              <a:rPr lang="en-US" sz="1100" b="1" dirty="0">
                <a:solidFill>
                  <a:srgbClr val="00C2CB"/>
                </a:solidFill>
                <a:latin typeface="Calibri" pitchFamily="34" charset="0"/>
                <a:ea typeface="Calibri" pitchFamily="34" charset="-122"/>
                <a:cs typeface="Calibri" pitchFamily="34" charset="-120"/>
              </a:rPr>
              <a:t>📋  Evidence-Driven Analysis</a:t>
            </a:r>
            <a:endParaRPr lang="en-US" sz="1100" dirty="0"/>
          </a:p>
        </p:txBody>
      </p:sp>
      <p:sp>
        <p:nvSpPr>
          <p:cNvPr id="27" name="Text 25"/>
          <p:cNvSpPr/>
          <p:nvPr/>
        </p:nvSpPr>
        <p:spPr>
          <a:xfrm>
            <a:off x="6135624" y="2450592"/>
            <a:ext cx="2496312" cy="777240"/>
          </a:xfrm>
          <a:prstGeom prst="rect">
            <a:avLst/>
          </a:prstGeom>
          <a:noFill/>
          <a:ln/>
        </p:spPr>
        <p:txBody>
          <a:bodyPr wrap="square" rtlCol="0" anchor="ctr"/>
          <a:lstStyle/>
          <a:p>
            <a:pPr indent="0" marL="0">
              <a:buNone/>
            </a:pPr>
            <a:r>
              <a:rPr lang="en-US" sz="950" dirty="0">
                <a:solidFill>
                  <a:srgbClr val="F0F4F8"/>
                </a:solidFill>
                <a:latin typeface="Calibri" pitchFamily="34" charset="0"/>
                <a:ea typeface="Calibri" pitchFamily="34" charset="-122"/>
                <a:cs typeface="Calibri" pitchFamily="34" charset="-120"/>
              </a:rPr>
              <a:t>CloudWatch logs, IAM Policy Simulator, and CloudTrail are essential tools for proving vulnerabilities and verifying fixes in serverless environments.</a:t>
            </a:r>
            <a:endParaRPr lang="en-US" sz="950" dirty="0"/>
          </a:p>
        </p:txBody>
      </p:sp>
      <p:sp>
        <p:nvSpPr>
          <p:cNvPr id="28" name="Shape 26"/>
          <p:cNvSpPr/>
          <p:nvPr/>
        </p:nvSpPr>
        <p:spPr>
          <a:xfrm>
            <a:off x="228600" y="3410712"/>
            <a:ext cx="8686800" cy="548640"/>
          </a:xfrm>
          <a:prstGeom prst="rect">
            <a:avLst/>
          </a:prstGeom>
          <a:solidFill>
            <a:srgbClr val="12263A"/>
          </a:solidFill>
          <a:ln w="6350">
            <a:solidFill>
              <a:srgbClr val="00C2CB"/>
            </a:solidFill>
            <a:prstDash val="solid"/>
          </a:ln>
          <a:effectLst>
            <a:outerShdw sx="100000" sy="100000" kx="0" ky="0" algn="bl" rotWithShape="0" blurRad="101600" dist="38100" dir="8100000">
              <a:srgbClr val="000000">
                <a:alpha val="30000"/>
              </a:srgbClr>
            </a:outerShdw>
          </a:effectLst>
        </p:spPr>
      </p:sp>
      <p:sp>
        <p:nvSpPr>
          <p:cNvPr id="29" name="Text 27"/>
          <p:cNvSpPr/>
          <p:nvPr/>
        </p:nvSpPr>
        <p:spPr>
          <a:xfrm>
            <a:off x="228600" y="3410712"/>
            <a:ext cx="8686800" cy="548640"/>
          </a:xfrm>
          <a:prstGeom prst="rect">
            <a:avLst/>
          </a:prstGeom>
          <a:noFill/>
          <a:ln/>
        </p:spPr>
        <p:txBody>
          <a:bodyPr wrap="square" rtlCol="0" anchor="ctr"/>
          <a:lstStyle/>
          <a:p>
            <a:pPr algn="ctr" indent="0" marL="0">
              <a:buNone/>
            </a:pPr>
            <a:r>
              <a:rPr lang="en-US" sz="1100" i="1" dirty="0">
                <a:solidFill>
                  <a:srgbClr val="F4B942"/>
                </a:solidFill>
                <a:latin typeface="Calibri" pitchFamily="34" charset="0"/>
                <a:ea typeface="Calibri" pitchFamily="34" charset="-122"/>
                <a:cs typeface="Calibri" pitchFamily="34" charset="-120"/>
              </a:rPr>
              <a:t>"In security, what you don't restrict becomes a weapon. Validate everything, trust nothing, privilege nothing beyond necessity."</a:t>
            </a:r>
            <a:endParaRPr lang="en-US" sz="1100" dirty="0"/>
          </a:p>
        </p:txBody>
      </p:sp>
      <p:sp>
        <p:nvSpPr>
          <p:cNvPr id="30" name="Shape 28"/>
          <p:cNvSpPr/>
          <p:nvPr/>
        </p:nvSpPr>
        <p:spPr>
          <a:xfrm>
            <a:off x="0" y="5056632"/>
            <a:ext cx="9144000" cy="91440"/>
          </a:xfrm>
          <a:prstGeom prst="rect">
            <a:avLst/>
          </a:prstGeom>
          <a:solidFill>
            <a:srgbClr val="00C2CB"/>
          </a:solidFill>
          <a:ln w="12700">
            <a:solidFill>
              <a:srgbClr val="00C2CB"/>
            </a:solidFill>
            <a:prstDash val="solid"/>
          </a:ln>
        </p:spPr>
      </p:sp>
      <p:sp>
        <p:nvSpPr>
          <p:cNvPr id="31" name="Text 29"/>
          <p:cNvSpPr/>
          <p:nvPr/>
        </p:nvSpPr>
        <p:spPr>
          <a:xfrm>
            <a:off x="0" y="4855464"/>
            <a:ext cx="9144000" cy="219456"/>
          </a:xfrm>
          <a:prstGeom prst="rect">
            <a:avLst/>
          </a:prstGeom>
          <a:noFill/>
          <a:ln/>
        </p:spPr>
        <p:txBody>
          <a:bodyPr wrap="square" rtlCol="0" anchor="ctr"/>
          <a:lstStyle/>
          <a:p>
            <a:pPr algn="ctr" indent="0" marL="0">
              <a:buNone/>
            </a:pPr>
            <a:r>
              <a:rPr lang="en-US" sz="800" dirty="0">
                <a:solidFill>
                  <a:srgbClr val="8FA8BF"/>
                </a:solidFill>
                <a:latin typeface="Calibri" pitchFamily="34" charset="0"/>
                <a:ea typeface="Calibri" pitchFamily="34" charset="-122"/>
                <a:cs typeface="Calibri" pitchFamily="34" charset="-120"/>
              </a:rPr>
              <a:t>ICS-344 · KFUPM · Ali Almatrook (202267500) · Ibrahim Almuhanna (202178330)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ICS-344 DVSA Security Project</dc:title>
  <dc:subject>PptxGenJS Presentation</dc:subject>
  <dc:creator>PptxGenJS</dc:creator>
  <cp:lastModifiedBy>PptxGenJS</cp:lastModifiedBy>
  <cp:revision>1</cp:revision>
  <dcterms:created xsi:type="dcterms:W3CDTF">2026-05-04T19:33:05Z</dcterms:created>
  <dcterms:modified xsi:type="dcterms:W3CDTF">2026-05-04T19:33:05Z</dcterms:modified>
</cp:coreProperties>
</file>